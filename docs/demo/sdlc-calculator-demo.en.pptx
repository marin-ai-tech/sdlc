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three-person team builds a till calculator with AI agents. Everything shown was produced by an automated end-to-end test, so the outputs are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Separation rules: the author of the code does not approve its review or release; spec and review, plan and review need different people; at most three gates per person. An agent cannot edit the file.
sdlc roles check — Who holds which role.
sdlc roles migrate — An agent cannot write the roles 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an approved artifact changes, the approval goes stale and must be given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Alice installs sdlc for Claude Code and OpenCode; an agent makes the repository AI-ready.
sdlc init --tools claude,opencode --statusline — Alice installs sdlc for Claude Code and OpenCode, with the status line.
sdlc layout check — Is the project AI-ready? Not yet.
sdlc layout scaffold — The agent creates AGENTS.md, CLAUDE.md and the docs skeleton.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Does the till need its own calculator? The agent researches and writes a recommendation; nothing is decided yet.
sdlc explore calculator — The agent opens an exploration: does the till need its own calculator?
sdlc explore list — Explorations in the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Items carry an outcome, acceptance criteria and dependencies. Moving and dropping items is a product decision.
sdlc backlog add Basic arithmetic --epic E1 --kind feature --risk low --outcome add, subtract, multiply and divide --accept 2 + 3 = 5 --accept 10 / 4 = 2.5 --source-type exploration --source-ref openspec/explorations/calculator.md — First item, from the exploration.
sdlc backlog move B3 --before B2 — Priority is a person's decision: refused for the agent.
sdlc backlog list — The backlog with readiness and the epic bar.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`next` points at the ready item; the change starts with a draft intent. The track is suggested, but only a person may choose it.
sdlc next — No active change: next proposes the backlog item.
sdlc backlog start B1 --change basic-arithmetic — A change with a draft intent from the item.
sdlc status --change basic-arithmetic — The stepper: intent is current.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agent cannot approve. Bob is not the product owner. Alice approves the intent and the spec; Bob, the engineer, the plan.
sdlc approve intent --change basic-arithmetic — The agent cannot approve.
sdlc approve intent --change basic-arithmetic — Bob is not the product owner.
sdlc answer 1 --change basic-arithmetic --text No: the receipt shows the total only — Alice answers the open question of the intent herself: the agent cannot.
sdlc approve intent --change basic-arithmetic — Alice approves the intent.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OpenSpec does the spec work through its JSON CLI: changes, artifact instructions, validation and the delta merge on archive. /opsx:* commands keep working on the same folder.
sdlc openspec list — OpenSpec lists the change like any of its own.
sdlc openspec status --change basic-arithmetic — Artifact completion by the sdlc schema, computed by OpenSpec.
sdlc openspec show basic-arithmetic --json --deltas-only — The change as OpenSpec sees it: the ADDED requirement and its scenarios.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sdlc validate runs openspec validate --strict and adds checks OpenSpec lacks: delta targets exist, ADDED does not collide, overlaps between open changes.
sdlc validate --change basic-arithmetic — The first draft has a requirement without a scenario: strict validation refuses it.
sdlc validate --change basic-arithmetic — With the scenarios added, OpenSpec strict validation and the delta target checks pass.
sdlc openspec schema validate sdlc — The sdlc schema is a standard OpenSpec schema.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 writes the code on a branch. `verify` runs the real checks and records the evidence; every spec scenario needs a row.
sdlc verify --change basic-arithmetic — Real checks, recorded evidence.
sdlc verify --check --change basic-arithmetic — Every scenario has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pass and lens is covered or says what was checked. One finding is deferred to the registry. Bob wrote the code, so Carol approves.
sdlc roles who review --change basic-arithmetic --base main — Who may approve the review: not Bob, he wrote the code.
sdlc approve review --change basic-arithmetic — Bob is the author: refused.
sdlc approve review --change basic-arithmetic — Carol approves the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Signing modes: off (no signatures), warn (report), required (CI fails). A commit signed by Bob with Alice's email is reported as wrong-signer.
sdlc approve release --change basic-arithmetic — Alice authorizes the release.
sdlc approvals verify — Signed approvals check (warn mode): Alice and Carol sign; Bob's plan approval is unsigned, reported but not blocking.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sdlc archive re-checks the gates, then OpenSpec merges the delta into openspec/specs. The requirement now lives in the spec; B1 closes.
sdlc archive basic-arithmetic --yes — The delta merges into the living spec; B1 closes.
sdlc openspec list --specs — The calculator capability is now a living spec.
sdlc openspec show calculator --type spec — The living spec holds the requirement the change added.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refusal in the demo, with the reason the CLI gave. Decisions stay with people and are recorded.
sdlc adopt --apply — Applying the draft is a person's decision: refused for the agent.
sdlc roles migrate — An agent cannot write the roles file.
sdlc backlog move B3 --before B2 — Priority is a person's decision: refused for the agent.
sdlc track set lite --change basic-arithmetic — An agent cannot pick the lite track.
sdlc approve intent --change basic-arithmetic — The agent cannot approve.
sdlc approve intent --change basic-arithmetic — Bob is not the product owner.
sdlc validate --change basic-arithmetic — The first draft has a requirement without a scenario: strict validation refuses it.
sdlc approve review --change basic-arithmetic — Bob is the author: refused.
sdlc tests unlock --change fix-rounding — Unlocking is a person's decision.
sdlc team accept tester — What a role says is a person's decision: refused for the agent.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Bug fixes go on the lite track with tests locked first. Alice rejects voice input with a reason and waives the release step for an internal fix.
sdlc tests lock --change fix-rounding — Tests are locked: the failing test is the proof.
sdlc reject intent --change voice-input --note Tills are in noisy shops — Alice rejects it with a reason.
sdlc waive release --change fix-rounding --note Internal library, no release step — A recorded waiver.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 epic and its tickets from BMAD-METHOD become backlog items with their dependencies.
sdlc import bmad _bmad-output/epic-scientific --to-backlog — Epic and tickets from BMAD become backlog items.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scripts/examples/dashboard-watch.mjs watches openspec/ and rebuilds reports/dashboard.html; examples run it as a Windows task, a systemd or launchd service, or a CI step.
sdlc status — Every active change.
sdlc audit — Lead times and first-pass rate.
sdlc log --limit 15 — Who did what, with the sdlc version and license.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decision is offered over MCP. The registry lives in openspec/sdlc.yaml with secrets as ${VAR} references; the hook allows each server only at its stages. Chapter 10 of the docs has the user cases.
sdlc mcp check — The team's MCP servers: reachable, tools listed, file writers flagged.
sdlc verify --change fix-rounding — Bob verifies himself: the CLI calls the CI server over MCP and keeps the result for the agent.
sdlc inbox list --json — The agent finds the result in its inbox.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demo is an acceptance test: it fails if a command is missing from the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Approvals come from people in roles.yaml, bound to content, optionally signed. Nobody pushes through their own work: authors do not approve their review or release. Everything is files in the repository: backlog, specs, evidence, decisions.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92024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a calculator with sdlc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971800"/>
            <a:ext cx="90196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command of the SDLC harness, on one small real project. People decide,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do the work.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· product owner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32988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32988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· engineer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08776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08776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· reviewer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9084564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084564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team and who may approve what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live in openspec/roles.yaml, versioned in git. The file names people, their emails and signing keys, and the separation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506474" y="1783080"/>
            <a:ext cx="548640" cy="548640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506474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Walker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product-owner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release-manager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" y="335584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335584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maintainer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332988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82262" y="1783080"/>
            <a:ext cx="548640" cy="548640"/>
          </a:xfrm>
          <a:prstGeom prst="ellipse">
            <a:avLst/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82262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3424428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515868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515868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515868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515868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tech-lead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515868" y="335584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515868" y="335584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code-owner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08776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58050" y="1783080"/>
            <a:ext cx="548640" cy="548640"/>
          </a:xfrm>
          <a:prstGeom prst="ellipse">
            <a:avLst/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25805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6300216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Hughes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391656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91656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91656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391656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code-owner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9084564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133838" y="1783080"/>
            <a:ext cx="548640" cy="54864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0133838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9176004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9267444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267444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roles: never approves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200" y="3931920"/>
            <a:ext cx="5500116" cy="1783080"/>
          </a:xfrm>
          <a:prstGeom prst="roundRect">
            <a:avLst>
              <a:gd name="adj" fmla="val 512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4360" y="4069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94360" y="4069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4814316" y="4069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594360" y="4462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check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594360" y="4754880"/>
            <a:ext cx="52257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   Name          Roles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alice  Alice Walker  product-owner, release-manager, maintainer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   Bob Turner    engineer, tech-lead, code-owner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carol  Carol Hughes  engineer, code-owner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457200" y="578815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holds which role.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231636" y="3931920"/>
            <a:ext cx="5500116" cy="1783080"/>
          </a:xfrm>
          <a:prstGeom prst="roundRect">
            <a:avLst>
              <a:gd name="adj" fmla="val 512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368796" y="4069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68796" y="4069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10588752" y="4069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6368796" y="4462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migrate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6368796" y="4754880"/>
            <a:ext cx="52257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Only a person may migrate roles.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 own terminal, not in the agent chat (a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`!` command there runs in the agent's shell): sdlc roles migrate</a:t>
            </a:r>
            <a:endParaRPr lang="en-US" sz="1000" dirty="0"/>
          </a:p>
        </p:txBody>
      </p:sp>
      <p:sp>
        <p:nvSpPr>
          <p:cNvPr id="51" name="Text 49"/>
          <p:cNvSpPr txBox="1"/>
          <p:nvPr/>
        </p:nvSpPr>
        <p:spPr>
          <a:xfrm>
            <a:off x="6231636" y="578815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cannot write the roles file.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path of a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idea is explored, lands in the backlog, becomes a change and passes gates. Each gate is approved by a person, bound to the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content.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69264" y="2464308"/>
            <a:ext cx="10250424" cy="27432"/>
          </a:xfrm>
          <a:prstGeom prst="rect">
            <a:avLst/>
          </a:prstGeom>
          <a:solidFill>
            <a:srgbClr val="C5CAD3"/>
          </a:solidFill>
          <a:ln w="12700">
            <a:solidFill>
              <a:srgbClr val="C5CA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99796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779016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779016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538732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917952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917952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677668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056888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056888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816604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195824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195824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955540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334760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334760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094476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473696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473696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233412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8612632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612632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8372348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9751568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751568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9511284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10890504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0890504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10650220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57784" y="3611880"/>
            <a:ext cx="1961896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57784" y="3749040"/>
            <a:ext cx="1961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557784" y="4114800"/>
            <a:ext cx="19618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the idea, then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it as backlog items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an outcome and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acceptance criteria.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835656" y="3611880"/>
            <a:ext cx="6517640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2835656" y="3749040"/>
            <a:ext cx="651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 approved by people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2835656" y="4114800"/>
            <a:ext cx="6517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write intent, spec, plan, code, evidence and review; a person with the right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approves each.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9669272" y="3611880"/>
            <a:ext cx="1961896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9669272" y="3749040"/>
            <a:ext cx="1961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9669272" y="4114800"/>
            <a:ext cx="19618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release manager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authorises; the delta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merges into the living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spec.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457200" y="5532120"/>
            <a:ext cx="11274552" cy="685800"/>
          </a:xfrm>
          <a:prstGeom prst="roundRect">
            <a:avLst>
              <a:gd name="adj" fmla="val 1333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85800" y="5532120"/>
            <a:ext cx="108173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layer: OpenSpec (changes, delta specs, validation, living specs). sdlc adds the people, gates, evidence and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around it.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Setup: one command, two tools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installs sdlc for Claude Code and OpenCode; an agent makes the repository AI-ready.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init --tools claude,opencode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--statusline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harness initialized in till-calculator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OpenSpec: created openspec/ (via openspec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init), default schema: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config: created openspec/sdlc.yaml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(enforcement: warn)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verify.commands detected: npm test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(package.json scripts.test)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policy: created REVIEW.md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tools: Claude Code, OpenCode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 0.19.0, license: community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sdlc-Additional-Permissions-1.0)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git hook .git/hooks/prepare-commit-msg: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installs sdlc for Claude Code and OpenCode,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status line.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layout check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Role | Status | Path | Purpose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agents-guide | missing | - | Main guide for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coding agents (read by OpenCode; imported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by CLAUDE.md).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claude-guide | missing | - | Thin Claude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Code entry point: imports AGENTS.md, adds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Claude-only notes.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readme | canonical | README.md | What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project is and how a person starts with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it.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review-policy | canonical | REVIEW.md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passes and severities used by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/sdlc:review.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architecture | missing | - | System map: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modules, boundaries, data flows, external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project AI-ready? Not yet.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layout scaffold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Created: AGENTS.md, CLAUDE.md,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docs/architecture.md, docs/conventions.md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, docs/glossary.md, docs/runbook.md,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docs/security.md, docs/decisions/0001-rec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ord-architecture-decisions.md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Kept: README.md, REVIEW.md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creates AGENTS.md, CLAUDE.md and the docs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427728" y="60533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427728" y="60533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002784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002784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64388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64388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adapt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747256" y="6053328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747256" y="6053328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convert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982712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982712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8623808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623808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Explore before committing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till need its own calculator? The agent researches and writes a recommendation; nothing is decided yet.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explore calculator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 exploration openspec/explorations/calculator.md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opens an exploration: does the till need its own calculator?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1636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explore list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368796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calculator  openspec/explorations/calculator.md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231636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Explorations in the project.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backlog: agents propose, people prioritise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 carry an outcome, acceptance criteria and dependencies. Moving and dropping items is a product decision.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add Basic arithmetic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--epic E1 --kind feature --risk low …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 Basic 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item, from the exploration.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move B3 --before B2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Backlog priority is a product decision. Ask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 person to run this command.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 own terminal,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not in the agent chat (a `!` command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there runs in the agent's shell):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backlog move B3 --before B2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is a person's decision: refused for the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list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E1 Calculator MVP  ░░░░░░░░░░  0/3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Status  Ready  Title             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  open    ✓      Basic arithmetic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B3  open    -      Memory M+ / MR  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B2  open    -      Percent         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Unassigned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Status   Ready  Title              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B4  dropped  -      Scientific notation  -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backlog with readiness and the epic bar.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add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607816" y="6053328"/>
            <a:ext cx="13421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607816" y="6053328"/>
            <a:ext cx="1342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edit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041392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041392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add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078728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078728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move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7182104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182104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edit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828548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28548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drop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938885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38885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next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item to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`next` points at the ready item; the change starts with a draft intent. The track is suggested, but only a person may choose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next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B1: Start backlog item B1: 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arithmetic.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start B1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active change: next proposes the backlog item.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start B1 --change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Started B1 as basic-arithmetic.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intent (intent.md) for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 intent gate. (/sdlc:intent)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change with a draft intent from the item.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status --change 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 [feature · risk low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full track · schema sdlc]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stage     Plan (intent)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source    backlog B1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artifacts intent ✓  proposal ○  specs ·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design ·  plan ·  tasks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● ─ spec ○ ─ plan ○ ─ build ○ 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verify ○ ─ review ○ ─ archive ○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tasks     none yet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intent   … pending            awaiting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approval (product-owner; 0 of 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spec     · blocked           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artifacts: proposal, specs, design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plan     · blocked           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stepper: intent is current.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14553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14553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48912" y="6053328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248912" y="6053328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takeover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088128" y="6053328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088128" y="6053328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release-control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Gates: the right person, or no one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cannot approve. Bob is not the product owner. Alice approves the intent and the spec; Bob, the engineer, the plan.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92709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--change 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`sdlc approve` records a human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decision and cannot run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inside an agent session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(claude-code).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own terminal, not in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agent chat (a `!` command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there runs in the agent's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shell): sdlc approve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--change basic-arithmetic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cannot approve.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44418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81578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481578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481578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--change 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481578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Turner does not hold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product-owner; ask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Ask one of: Alice Walker.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3344418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is not the product owner.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231636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368796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368796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770153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368796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answer 1 --change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--text No…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368796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 to question 1 of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intent.md recorded by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 &lt;alice@calc.example&gt;.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6231636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answers the open question of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intent herself: the agent cannot.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118854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256014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256014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9256014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--change basic-arithmetic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9256014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intent gate: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as product-owner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(3f005a0f65e9)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commit message (its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trailer ties the commit 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this approval):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 git commit -m "chore(basic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-arithmetic): approve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gate" -m "SDLC-Approv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al: basic-arithmetic:intent: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3f005a0f65e9"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proposal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9118854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approves the intent.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2240280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240280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1345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01345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rework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720592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720592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OpenSpec underneath: the change is an OpenSpec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 does not fork OpenSpec. The change lives in openspec/changes and OpenSpec reads it as its own: list, status, deltas.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list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basic-arithmetic     0/2 tasks     just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now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 lists the change like any of its own.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status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Change: 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Schema: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 root: till-calculator\openspec\chang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es\basic-arithmetic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Progress: 6/6 artifacts complete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proposal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specs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design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plan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tasks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 planning artifacts complete!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openspec instructions apply --change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"basic-arithmetic" --json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Loading change status...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completion by the sdlc schema, computed by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show basic-arithmetic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--json --deltas-only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"id": "basic-arithmetic",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"title": "basic-arithmetic",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"deltaCount": 1,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"deltas":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"spec": "calculator",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"operation": "ADDED",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"description": "Add requirement: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calculator SHALL add, subtract, multiply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and divide two numbers.",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"requirement":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"text": "The calculator SHALL add,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subtract, multiply and divide two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numbers.",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"scenarios":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change as OpenSpec sees it: the ADDED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and its scenarios.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Delta specs and strict validation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change as deltas (ADDED, MODIFIED, REMOVED). A requirement without a scenario is refused before anyone approves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spec.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validate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error [openspec] calculator/spec.md: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ADDED "Basic operations" must include at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least one scenario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draft has a requirement without a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scenario: strict validation refuses it.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validate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scenarios added, OpenSpec strict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and the delta target checks pass.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schema validate sdlc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Schema 'sdlc' is valid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Note: Schema commands are experimental 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may change.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sdlc schema is a standard OpenSpec schema.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519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and verify with evidence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writes the code on a branch. `verify` runs the real checks and records the evidence; every spec scenario needs a row.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60920" y="480060"/>
            <a:ext cx="4261104" cy="27432"/>
          </a:xfrm>
          <a:prstGeom prst="rect">
            <a:avLst/>
          </a:prstGeom>
          <a:solidFill>
            <a:srgbClr val="C5CAD3"/>
          </a:solidFill>
          <a:ln w="12700">
            <a:solidFill>
              <a:srgbClr val="C5CA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251192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24192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7724648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597648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8198104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71104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8671560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544560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9145016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18016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9618472" y="384048"/>
            <a:ext cx="219456" cy="219456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491472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0091928" y="384048"/>
            <a:ext cx="219456" cy="219456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964928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0565384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438384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1038840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911840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11512296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1385296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57200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--change basic-arithmetic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594360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 (0.9s)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Verification passed - evidence recorded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openspec\changes\basic-arithmetic\verification.md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Run the multi-pass review (bugs, security, compliance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with spec and plan) and record findings in review.md.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(/sdlc:review)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running test: npm test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checks, recorded evidence.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231636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--check --change basic-arithmetic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6368796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every spec scenario (2) has a row under "Behavioral verification".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6231636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scenario has evidence.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Review: lenses, a deferred finding, and not your own code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pass and lens is covered or says what was checked. One finding is deferred to the registry. Bob wrote the code, so Carol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who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--base main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 · basic-arithmetic — may approve: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Carol Hughes (carol)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 (alice): missing_role 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 does not hold code-owner;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ask Bob Turner, Carol Hughes.;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distinct_approvers — Alice Walker already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the paired gate spec/review.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(bob): author_cannot_approve 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authored code in this change.;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distinct_approvers — Bob Turner already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the paired gate plan/review.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may approve the review: not Bob, he wrote the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Turner authored code in this change.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already approved the paired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 plan/review.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Ask one of: Carol Hughes.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is the author: refused.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review gate: Carol Hughes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&lt;carol@calc.example&gt;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code-owner (712099877b9e)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commit message (its trailer ties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 commit to this approval):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 git commit -m "chore(basic-arithmetic):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 the review gate" -m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"SDLC-Approval: basic-arithmetic:review:7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12099877b9e"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All gates are satisfied: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archive the change to merge its delta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specs into openspec/specs/.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(/sdlc:archive)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approves the review.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add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852672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852672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list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Release and signed approvals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authorises the release. Every approval is checked against the commit that brought it: signed by the person who approved.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3749040"/>
          </a:xfrm>
          <a:prstGeom prst="roundRect">
            <a:avLst>
              <a:gd name="adj" fmla="val 2439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release --change 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522579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release gate: Alice Walker &lt;alice@calc.example&gt;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release-manager (712099877b9e)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commit message (its trailer ties the commit to this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approval):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 git commit -m "chore(basic-arithmetic): approve the release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gate" -m "SDLC-Approval: basic-arithmetic:release:712099877b9e"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All gates are satisfied: archive the change to merge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its delta specs into openspec/specs/. (/sdlc:archive)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authorizes the release.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1636" y="1645920"/>
            <a:ext cx="5500116" cy="3749040"/>
          </a:xfrm>
          <a:prstGeom prst="roundRect">
            <a:avLst>
              <a:gd name="adj" fmla="val 2439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approvals verify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368796" y="2468880"/>
            <a:ext cx="522579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basic-arithmetic/intent alice valid 2bb8417b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basic-arithmetic/spec alice valid bb21d651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basic-arithmetic/plan bob wrong-signer bb21d651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basic-arithmetic/review carol valid b1bf9ce3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basic-arithmetic/release alice valid eb6c00f8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openspec/roles.yaml alice@calc.example bootstrap 4ba7fa97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approvals checked, 1 invalid (warn: not blocking)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Sign commits: git config gpg.format ssh; git config user.signingkey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&lt;key&gt;; git commit -S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231636" y="54681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approvals check (warn mode): Alice and Carol sign; Bob's plan approval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unsigned, reported but not blocking.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240280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240280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changelog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145536" y="6053328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145536" y="6053328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check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Archive: the delta becomes the living spec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 archive re-checks the gates, then OpenSpec merges the delta into openspec/specs. The requirement now lives in the spec;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 closes.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archive basic-arithmetic --yes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archived basic-arithmetic →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openspec\changes\archive\2026-10-13-basic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specs: +1 added, ~0 modified, -0 removed,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 renamed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Start backlog item B3: Memory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M+ / MR. (sdlc backlog start B3)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delta merges into the living spec; B1 closes.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list --specs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calculator     requirements 1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calculator capability is now a living spec.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show calculator --type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calculator Specification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Purpose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Exact results for the four basic 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operations.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Requirements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 Requirement: Basic operations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calculator SHALL add, subtract,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multiply and divide two numbers.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#### Scenario: Add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**WHEN** the cashier adds 2 and 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**THEN** the result is 5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#### Scenario: Divide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**WHEN** the cashier divides 10 by 4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**THEN** the result is 2.5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living spec holds the requirement the change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88137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88137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list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Safety nets: what agents cannot do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refusal in the demo, with the reason the CLI gave. Decisions stay with people and are recorded.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719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68680" y="1728216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17282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2057400" y="1719072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adopt --apply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029968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person may apply the adoption draft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31636" y="1645920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41364" y="1719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643116" y="1728216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643116" y="17282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831836" y="1719072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roles migrate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643116" y="2029968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person may migrate roles.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432304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6928" y="2505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68680" y="251460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8680" y="25146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2057400" y="2505456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backlog move B3 --before B2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68680" y="2816352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priority is a product decision. Ask a person to run this comm…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231636" y="2432304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41364" y="2505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643116" y="251460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643116" y="25146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7831836" y="2505456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track set lite --change basic-arithmetic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6643116" y="2816352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session (claude-code) cannot set the track.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3218688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66928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868680" y="3300984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68680" y="33009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2057400" y="3291840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intent --change basic-arithmetic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868680" y="3602736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approve` records a human decision and cannot run inside an agen…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231636" y="3218688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341364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643116" y="3300984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643116" y="33009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7831836" y="3291840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intent --change basic-arithmetic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6643116" y="3602736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 does not hold product-owner; ask Alice Walker.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57200" y="4005072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66928" y="4078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868680" y="4087368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68680" y="40873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2057400" y="4078224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validate --change basic-arithmetic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868680" y="4389120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basic-arithmetic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6231636" y="4005072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41364" y="4078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6643116" y="4087368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643116" y="40873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7831836" y="4078224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review --change basic-arithmetic</a:t>
            </a:r>
            <a:endParaRPr lang="en-US" sz="1100" dirty="0"/>
          </a:p>
        </p:txBody>
      </p:sp>
      <p:sp>
        <p:nvSpPr>
          <p:cNvPr id="51" name="Text 49"/>
          <p:cNvSpPr txBox="1"/>
          <p:nvPr/>
        </p:nvSpPr>
        <p:spPr>
          <a:xfrm>
            <a:off x="6643116" y="4389120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 authored code in this change. Bob Turner already approved …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457200" y="4791456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56692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54" name="Shape 52"/>
          <p:cNvSpPr/>
          <p:nvPr/>
        </p:nvSpPr>
        <p:spPr>
          <a:xfrm>
            <a:off x="868680" y="487375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868680" y="48737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56" name="Text 54"/>
          <p:cNvSpPr txBox="1"/>
          <p:nvPr/>
        </p:nvSpPr>
        <p:spPr>
          <a:xfrm>
            <a:off x="2057400" y="4864608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tests unlock --change fix-rounding</a:t>
            </a:r>
            <a:endParaRPr lang="en-US" sz="1100" dirty="0"/>
          </a:p>
        </p:txBody>
      </p:sp>
      <p:sp>
        <p:nvSpPr>
          <p:cNvPr id="57" name="Text 55"/>
          <p:cNvSpPr txBox="1"/>
          <p:nvPr/>
        </p:nvSpPr>
        <p:spPr>
          <a:xfrm>
            <a:off x="868680" y="5175504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tests unlock` records a human decision and cannot run inside an…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6231636" y="4791456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6341364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60" name="Shape 58"/>
          <p:cNvSpPr/>
          <p:nvPr/>
        </p:nvSpPr>
        <p:spPr>
          <a:xfrm>
            <a:off x="6643116" y="487375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6643116" y="48737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62" name="Text 60"/>
          <p:cNvSpPr txBox="1"/>
          <p:nvPr/>
        </p:nvSpPr>
        <p:spPr>
          <a:xfrm>
            <a:off x="7831836" y="4864608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team accept tester</a:t>
            </a:r>
            <a:endParaRPr lang="en-US" sz="1100" dirty="0"/>
          </a:p>
        </p:txBody>
      </p:sp>
      <p:sp>
        <p:nvSpPr>
          <p:cNvPr id="63" name="Text 61"/>
          <p:cNvSpPr txBox="1"/>
          <p:nvPr/>
        </p:nvSpPr>
        <p:spPr>
          <a:xfrm>
            <a:off x="6643116" y="5175504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team accept` records a human decision and cannot run inside an …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bug fix, a rejected idea, a waiver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 fixes go on the lite track with tests locked first. Alice rejects voice input with a reason and waives the release step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an internal fix.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tests lock --change fix-rounding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tests locked for fix-rounding: edits 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test files (enforcement.test_paths) are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blocked until a person runs `sdlc tests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unlock --change fix-rounding`.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are locked: the failing test is the proof.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reject intent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voice-input --note Tills are in noisy …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intent gate rejected by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&lt;alice@calc.example&gt;: Tills are in noisy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shops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The intent gate was rejected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by Alice Walker &lt;alice@calc.example&gt;: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Tills are in noisy shops. Revise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artifact(s), then ask for approval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again. (/sdlc:intent)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rejects it with a reason.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waive release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fix-rounding --note Internal library, …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 release gate waived by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&lt;alice@calc.example&gt;: Internal library,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 release step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plan (plan.md) for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plan gate. (/sdlc:plan)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recorded waiver.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74929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74929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295648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295648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close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332984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332984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done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BMAD planning comes in as backlog items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epic and its tickets from BMAD-METHOD become backlog items with their dependencies.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11274552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11000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import bmad _bmad-output/epic-scientific --to-backlog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1100023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Imported 1 epics and 2 backlog items.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Epic and tickets from BMAD become backlog items.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whole picture, always current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Status, a report with diagrams, an offline dashboard, metrics and a log. A background script keeps the dashboard page fresh.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status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        STAGE     NEXT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fix-rounding  build     agent: /sdlc:plan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Write plan (plan.md) for the plan gate.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voice-input   plan      agent: /sdlc:intent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The intent gate was rejected by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 &lt;alice@calc.example&gt;: Tills are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noisy shops. Revise the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artifact(s), then ask for approval again.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active change.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audit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metrics across 3 change(s) (1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archived) · sdlc 0.19.0, license: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community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sdlc-Additional-Permissions-1.0)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median hours: intent→spec 0 · spec→plan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plan→verified 0 · verified→review 0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total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verification first-pass rate: 1;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rejections 1; waivers 1 (+0 by policy)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agent commits: 0 of 12 (SDLC-Agent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trailer)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median wait for a person (seconds):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3 · spec 1 · plan 14 · review 3;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rework reasons: missing-requirement 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people's participation (3 changes),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times and first-pass rate.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log --limit 15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(last 15 of 46 entries; --limit to see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more)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2026-10-13T12:39:06.473Z  gate.review.await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ing       basic-arithmetic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sha256:712099877b9e02aad7ba9df255d39cfea8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913e1c7bd04eae8189166e4031f9d1 [sdlc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0.19.0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2026-10-13T12:39:09.723Z  gate.review.appro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ved       basic-arithmetic Carol Hughes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&lt;carol@calc.example&gt; - role code-owner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[sdlc 0.19.0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2026-10-13T12:39:16.238Z  gate.release.appr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oved      basic-arithmetic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 - role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release-manager [sdlc 0.19.0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did what, with the sdlc version and license.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559808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559808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statusline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531104" y="60533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531104" y="60533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10616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10616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build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209536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209536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init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982712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982712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uninstall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Other AI systems, over MCP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systems read the process over MCP; sdlc calls their servers itself. CI status becomes gate evidence, and results wait in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inbox.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mcp check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github (stdio): available, 3 tool(s)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list_issues, add_issue_comment,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update_issue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ci (stdio): available, 1 tool(s)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pipeline_status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kb (stdio): available, 1 tool(s)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search_docs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team's MCP servers: reachable, tools listed,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writers flagged.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--change fix-rounding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 (1.0s)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ci-green (ci/pipeline_status, 0.5s)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Verification passed - evidence recorded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openspec\changes\fix-rounding\verificatio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plan (plan.md) for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plan gate. (/sdlc:plan)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running test: npm test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ci-green: ci/pipeline_status (MCP)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verifies himself: the CLI calls the CI server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MCP and keeps the result for the agent.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inbox list --json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"items":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"id": "20261013T124009491Z-ci-green-9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29a3f",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"change": "fix-rounding",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"check": "ci-green",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"server": "ci",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"tool": "pipeline_status",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"ok": true,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"result":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"status": "success",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"ref": "2e1baac9ee53f63c0b027747d99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6d5979c6ebe47",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"token": "absent"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finds the result in its inbox.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done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211576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211576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list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48912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248912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flush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352288" y="6053328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352288" y="6053328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summary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587744" y="6053328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587744" y="6053328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intake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757160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757160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866241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66241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pull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command, one scenario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demo is an acceptance test: it fails if a command is missing from the story.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111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332988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32988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78</a:t>
            </a:r>
            <a:endParaRPr lang="en-US" sz="6000" dirty="0"/>
          </a:p>
        </p:txBody>
      </p:sp>
      <p:sp>
        <p:nvSpPr>
          <p:cNvPr id="9" name="Text 7"/>
          <p:cNvSpPr txBox="1"/>
          <p:nvPr/>
        </p:nvSpPr>
        <p:spPr>
          <a:xfrm>
            <a:off x="3332988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78 commands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208776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08776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6000" dirty="0"/>
          </a:p>
        </p:txBody>
      </p:sp>
      <p:sp>
        <p:nvSpPr>
          <p:cNvPr id="12" name="Text 10"/>
          <p:cNvSpPr txBox="1"/>
          <p:nvPr/>
        </p:nvSpPr>
        <p:spPr>
          <a:xfrm>
            <a:off x="6208776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refusals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9084564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84564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6000" dirty="0"/>
          </a:p>
        </p:txBody>
      </p:sp>
      <p:sp>
        <p:nvSpPr>
          <p:cNvPr id="15" name="Text 13"/>
          <p:cNvSpPr txBox="1"/>
          <p:nvPr/>
        </p:nvSpPr>
        <p:spPr>
          <a:xfrm>
            <a:off x="9084564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(and agents)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57200" y="374904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74904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098296" y="374904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98296" y="374904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check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135632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135632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who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40888" y="3749040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040888" y="3749040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migrate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10304" y="3749040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210304" y="3749040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init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983480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983480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sync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888736" y="374904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888736" y="374904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accept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926072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926072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list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831328" y="3749040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831328" y="3749040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check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802624" y="3749040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802624" y="3749040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add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10170160" y="3749040"/>
            <a:ext cx="13421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10170160" y="3749040"/>
            <a:ext cx="1342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edit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200" y="4096512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57200" y="4096512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add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1494536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1494536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edit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2597912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2597912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list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3701288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3701288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next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4804664" y="4096512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4804664" y="4096512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start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5974080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5974080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move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7077456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7077456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drop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8180832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8180832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done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9284208" y="4096512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9284208" y="4096512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import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10519664" y="4096512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10519664" y="4096512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add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457200" y="4443984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457200" y="4443984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list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1428496" y="4443984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1428496" y="4443984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close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2465832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2465832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check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3569208" y="4443984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3569208" y="4443984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scaffold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4870704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4870704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adapt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5974080" y="4443984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5974080" y="4443984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convert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7209536" y="4443984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7209536" y="4443984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7784592" y="4443984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7784592" y="4443984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8491728" y="4443984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8491728" y="4443984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uninstall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9396984" y="4443984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9396984" y="4443984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9906000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9906000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list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457200" y="4791456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457200" y="4791456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bmad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1494536" y="4791456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1494536" y="4791456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2201672" y="4791456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2201672" y="4791456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</a:t>
            </a:r>
            <a:endParaRPr lang="en-US" sz="1000" dirty="0"/>
          </a:p>
        </p:txBody>
      </p:sp>
      <p:sp>
        <p:nvSpPr>
          <p:cNvPr id="86" name="Shape 84"/>
          <p:cNvSpPr/>
          <p:nvPr/>
        </p:nvSpPr>
        <p:spPr>
          <a:xfrm>
            <a:off x="2974848" y="4791456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2974848" y="4791456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1000" dirty="0"/>
          </a:p>
        </p:txBody>
      </p:sp>
      <p:sp>
        <p:nvSpPr>
          <p:cNvPr id="88" name="Shape 86"/>
          <p:cNvSpPr/>
          <p:nvPr/>
        </p:nvSpPr>
        <p:spPr>
          <a:xfrm>
            <a:off x="3549904" y="4791456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3549904" y="4791456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</a:t>
            </a:r>
            <a:endParaRPr lang="en-US" sz="1000" dirty="0"/>
          </a:p>
        </p:txBody>
      </p:sp>
      <p:sp>
        <p:nvSpPr>
          <p:cNvPr id="90" name="Shape 88"/>
          <p:cNvSpPr/>
          <p:nvPr/>
        </p:nvSpPr>
        <p:spPr>
          <a:xfrm>
            <a:off x="4191000" y="4791456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4191000" y="4791456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statusline</a:t>
            </a:r>
            <a:endParaRPr lang="en-US" sz="1000" dirty="0"/>
          </a:p>
        </p:txBody>
      </p:sp>
      <p:sp>
        <p:nvSpPr>
          <p:cNvPr id="92" name="Shape 90"/>
          <p:cNvSpPr/>
          <p:nvPr/>
        </p:nvSpPr>
        <p:spPr>
          <a:xfrm>
            <a:off x="5162296" y="4791456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5162296" y="4791456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pull</a:t>
            </a:r>
            <a:endParaRPr lang="en-US" sz="1000" dirty="0"/>
          </a:p>
        </p:txBody>
      </p:sp>
      <p:sp>
        <p:nvSpPr>
          <p:cNvPr id="94" name="Shape 92"/>
          <p:cNvSpPr/>
          <p:nvPr/>
        </p:nvSpPr>
        <p:spPr>
          <a:xfrm>
            <a:off x="6265672" y="4791456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6265672" y="4791456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</a:t>
            </a:r>
            <a:endParaRPr lang="en-US" sz="1000" dirty="0"/>
          </a:p>
        </p:txBody>
      </p:sp>
      <p:sp>
        <p:nvSpPr>
          <p:cNvPr id="96" name="Shape 94"/>
          <p:cNvSpPr/>
          <p:nvPr/>
        </p:nvSpPr>
        <p:spPr>
          <a:xfrm>
            <a:off x="7170928" y="4791456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7170928" y="4791456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check</a:t>
            </a:r>
            <a:endParaRPr lang="en-US" sz="1000" dirty="0"/>
          </a:p>
        </p:txBody>
      </p:sp>
      <p:sp>
        <p:nvSpPr>
          <p:cNvPr id="98" name="Shape 96"/>
          <p:cNvSpPr/>
          <p:nvPr/>
        </p:nvSpPr>
        <p:spPr>
          <a:xfrm>
            <a:off x="8076184" y="4791456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8076184" y="4791456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list</a:t>
            </a:r>
            <a:endParaRPr lang="en-US" sz="1000" dirty="0"/>
          </a:p>
        </p:txBody>
      </p:sp>
      <p:sp>
        <p:nvSpPr>
          <p:cNvPr id="100" name="Shape 98"/>
          <p:cNvSpPr/>
          <p:nvPr/>
        </p:nvSpPr>
        <p:spPr>
          <a:xfrm>
            <a:off x="9047480" y="4791456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9047480" y="4791456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done</a:t>
            </a:r>
            <a:endParaRPr lang="en-US" sz="1000" dirty="0"/>
          </a:p>
        </p:txBody>
      </p:sp>
      <p:sp>
        <p:nvSpPr>
          <p:cNvPr id="102" name="Shape 100"/>
          <p:cNvSpPr/>
          <p:nvPr/>
        </p:nvSpPr>
        <p:spPr>
          <a:xfrm>
            <a:off x="10018776" y="4791456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10018776" y="4791456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list</a:t>
            </a:r>
            <a:endParaRPr lang="en-US" sz="1000" dirty="0"/>
          </a:p>
        </p:txBody>
      </p:sp>
      <p:sp>
        <p:nvSpPr>
          <p:cNvPr id="104" name="Shape 102"/>
          <p:cNvSpPr/>
          <p:nvPr/>
        </p:nvSpPr>
        <p:spPr>
          <a:xfrm>
            <a:off x="457200" y="51389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5" name="Text 103"/>
          <p:cNvSpPr txBox="1"/>
          <p:nvPr/>
        </p:nvSpPr>
        <p:spPr>
          <a:xfrm>
            <a:off x="457200" y="51389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flush</a:t>
            </a:r>
            <a:endParaRPr lang="en-US" sz="1000" dirty="0"/>
          </a:p>
        </p:txBody>
      </p:sp>
      <p:sp>
        <p:nvSpPr>
          <p:cNvPr id="106" name="Shape 104"/>
          <p:cNvSpPr/>
          <p:nvPr/>
        </p:nvSpPr>
        <p:spPr>
          <a:xfrm>
            <a:off x="1560576" y="5138928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7" name="Text 105"/>
          <p:cNvSpPr txBox="1"/>
          <p:nvPr/>
        </p:nvSpPr>
        <p:spPr>
          <a:xfrm>
            <a:off x="1560576" y="5138928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summary</a:t>
            </a:r>
            <a:endParaRPr lang="en-US" sz="1000" dirty="0"/>
          </a:p>
        </p:txBody>
      </p:sp>
      <p:sp>
        <p:nvSpPr>
          <p:cNvPr id="108" name="Shape 106"/>
          <p:cNvSpPr/>
          <p:nvPr/>
        </p:nvSpPr>
        <p:spPr>
          <a:xfrm>
            <a:off x="2796032" y="5138928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9" name="Text 107"/>
          <p:cNvSpPr txBox="1"/>
          <p:nvPr/>
        </p:nvSpPr>
        <p:spPr>
          <a:xfrm>
            <a:off x="2796032" y="5138928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intake</a:t>
            </a:r>
            <a:endParaRPr lang="en-US" sz="1000" dirty="0"/>
          </a:p>
        </p:txBody>
      </p:sp>
      <p:sp>
        <p:nvSpPr>
          <p:cNvPr id="110" name="Shape 108"/>
          <p:cNvSpPr/>
          <p:nvPr/>
        </p:nvSpPr>
        <p:spPr>
          <a:xfrm>
            <a:off x="3965448" y="5138928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3965448" y="5138928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check</a:t>
            </a:r>
            <a:endParaRPr lang="en-US" sz="1000" dirty="0"/>
          </a:p>
        </p:txBody>
      </p:sp>
      <p:sp>
        <p:nvSpPr>
          <p:cNvPr id="112" name="Shape 110"/>
          <p:cNvSpPr/>
          <p:nvPr/>
        </p:nvSpPr>
        <p:spPr>
          <a:xfrm>
            <a:off x="5134864" y="51389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3" name="Text 111"/>
          <p:cNvSpPr txBox="1"/>
          <p:nvPr/>
        </p:nvSpPr>
        <p:spPr>
          <a:xfrm>
            <a:off x="5134864" y="51389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114" name="Shape 112"/>
          <p:cNvSpPr/>
          <p:nvPr/>
        </p:nvSpPr>
        <p:spPr>
          <a:xfrm>
            <a:off x="6040120" y="51389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5" name="Text 113"/>
          <p:cNvSpPr txBox="1"/>
          <p:nvPr/>
        </p:nvSpPr>
        <p:spPr>
          <a:xfrm>
            <a:off x="6040120" y="51389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000" dirty="0"/>
          </a:p>
        </p:txBody>
      </p:sp>
      <p:sp>
        <p:nvSpPr>
          <p:cNvPr id="116" name="Shape 114"/>
          <p:cNvSpPr/>
          <p:nvPr/>
        </p:nvSpPr>
        <p:spPr>
          <a:xfrm>
            <a:off x="6615176" y="51389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7" name="Text 115"/>
          <p:cNvSpPr txBox="1"/>
          <p:nvPr/>
        </p:nvSpPr>
        <p:spPr>
          <a:xfrm>
            <a:off x="6615176" y="51389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000" dirty="0"/>
          </a:p>
        </p:txBody>
      </p:sp>
      <p:sp>
        <p:nvSpPr>
          <p:cNvPr id="118" name="Shape 116"/>
          <p:cNvSpPr/>
          <p:nvPr/>
        </p:nvSpPr>
        <p:spPr>
          <a:xfrm>
            <a:off x="7718552" y="51389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9" name="Text 117"/>
          <p:cNvSpPr txBox="1"/>
          <p:nvPr/>
        </p:nvSpPr>
        <p:spPr>
          <a:xfrm>
            <a:off x="7718552" y="51389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000" dirty="0"/>
          </a:p>
        </p:txBody>
      </p:sp>
      <p:sp>
        <p:nvSpPr>
          <p:cNvPr id="120" name="Shape 118"/>
          <p:cNvSpPr/>
          <p:nvPr/>
        </p:nvSpPr>
        <p:spPr>
          <a:xfrm>
            <a:off x="8491728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1" name="Text 119"/>
          <p:cNvSpPr txBox="1"/>
          <p:nvPr/>
        </p:nvSpPr>
        <p:spPr>
          <a:xfrm>
            <a:off x="8491728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</a:t>
            </a:r>
            <a:endParaRPr lang="en-US" sz="1000" dirty="0"/>
          </a:p>
        </p:txBody>
      </p:sp>
      <p:sp>
        <p:nvSpPr>
          <p:cNvPr id="122" name="Shape 120"/>
          <p:cNvSpPr/>
          <p:nvPr/>
        </p:nvSpPr>
        <p:spPr>
          <a:xfrm>
            <a:off x="9198864" y="51389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3" name="Text 121"/>
          <p:cNvSpPr txBox="1"/>
          <p:nvPr/>
        </p:nvSpPr>
        <p:spPr>
          <a:xfrm>
            <a:off x="9198864" y="51389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waive</a:t>
            </a:r>
            <a:endParaRPr lang="en-US" sz="1000" dirty="0"/>
          </a:p>
        </p:txBody>
      </p:sp>
      <p:sp>
        <p:nvSpPr>
          <p:cNvPr id="124" name="Shape 122"/>
          <p:cNvSpPr/>
          <p:nvPr/>
        </p:nvSpPr>
        <p:spPr>
          <a:xfrm>
            <a:off x="9839960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5" name="Text 123"/>
          <p:cNvSpPr txBox="1"/>
          <p:nvPr/>
        </p:nvSpPr>
        <p:spPr>
          <a:xfrm>
            <a:off x="9839960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000" dirty="0"/>
          </a:p>
        </p:txBody>
      </p:sp>
      <p:sp>
        <p:nvSpPr>
          <p:cNvPr id="126" name="Shape 124"/>
          <p:cNvSpPr/>
          <p:nvPr/>
        </p:nvSpPr>
        <p:spPr>
          <a:xfrm>
            <a:off x="10547096" y="5138928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7" name="Text 125"/>
          <p:cNvSpPr txBox="1"/>
          <p:nvPr/>
        </p:nvSpPr>
        <p:spPr>
          <a:xfrm>
            <a:off x="10547096" y="5138928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takeover</a:t>
            </a:r>
            <a:endParaRPr lang="en-US" sz="1000" dirty="0"/>
          </a:p>
        </p:txBody>
      </p:sp>
      <p:sp>
        <p:nvSpPr>
          <p:cNvPr id="128" name="Shape 126"/>
          <p:cNvSpPr/>
          <p:nvPr/>
        </p:nvSpPr>
        <p:spPr>
          <a:xfrm>
            <a:off x="457200" y="5486400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9" name="Text 127"/>
          <p:cNvSpPr txBox="1"/>
          <p:nvPr/>
        </p:nvSpPr>
        <p:spPr>
          <a:xfrm>
            <a:off x="457200" y="5486400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release-control</a:t>
            </a:r>
            <a:endParaRPr lang="en-US" sz="1000" dirty="0"/>
          </a:p>
        </p:txBody>
      </p:sp>
      <p:sp>
        <p:nvSpPr>
          <p:cNvPr id="130" name="Shape 128"/>
          <p:cNvSpPr/>
          <p:nvPr/>
        </p:nvSpPr>
        <p:spPr>
          <a:xfrm>
            <a:off x="1758696" y="5486400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1" name="Text 129"/>
          <p:cNvSpPr txBox="1"/>
          <p:nvPr/>
        </p:nvSpPr>
        <p:spPr>
          <a:xfrm>
            <a:off x="1758696" y="5486400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rework</a:t>
            </a:r>
            <a:endParaRPr lang="en-US" sz="1000" dirty="0"/>
          </a:p>
        </p:txBody>
      </p:sp>
      <p:sp>
        <p:nvSpPr>
          <p:cNvPr id="132" name="Shape 130"/>
          <p:cNvSpPr/>
          <p:nvPr/>
        </p:nvSpPr>
        <p:spPr>
          <a:xfrm>
            <a:off x="2465832" y="5486400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3" name="Text 131"/>
          <p:cNvSpPr txBox="1"/>
          <p:nvPr/>
        </p:nvSpPr>
        <p:spPr>
          <a:xfrm>
            <a:off x="2465832" y="5486400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verify</a:t>
            </a:r>
            <a:endParaRPr lang="en-US" sz="1000" dirty="0"/>
          </a:p>
        </p:txBody>
      </p:sp>
      <p:sp>
        <p:nvSpPr>
          <p:cNvPr id="134" name="Shape 132"/>
          <p:cNvSpPr/>
          <p:nvPr/>
        </p:nvSpPr>
        <p:spPr>
          <a:xfrm>
            <a:off x="3833368" y="548640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5" name="Text 133"/>
          <p:cNvSpPr txBox="1"/>
          <p:nvPr/>
        </p:nvSpPr>
        <p:spPr>
          <a:xfrm>
            <a:off x="3833368" y="548640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</p:txBody>
      </p:sp>
      <p:sp>
        <p:nvSpPr>
          <p:cNvPr id="136" name="Shape 134"/>
          <p:cNvSpPr/>
          <p:nvPr/>
        </p:nvSpPr>
        <p:spPr>
          <a:xfrm>
            <a:off x="4474464" y="548640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7" name="Text 135"/>
          <p:cNvSpPr txBox="1"/>
          <p:nvPr/>
        </p:nvSpPr>
        <p:spPr>
          <a:xfrm>
            <a:off x="4474464" y="548640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export</a:t>
            </a:r>
            <a:endParaRPr lang="en-US" sz="1000" dirty="0"/>
          </a:p>
        </p:txBody>
      </p:sp>
      <p:sp>
        <p:nvSpPr>
          <p:cNvPr id="138" name="Shape 136"/>
          <p:cNvSpPr/>
          <p:nvPr/>
        </p:nvSpPr>
        <p:spPr>
          <a:xfrm>
            <a:off x="5511800" y="5486400"/>
            <a:ext cx="13421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9" name="Text 137"/>
          <p:cNvSpPr txBox="1"/>
          <p:nvPr/>
        </p:nvSpPr>
        <p:spPr>
          <a:xfrm>
            <a:off x="5511800" y="5486400"/>
            <a:ext cx="1342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check-result</a:t>
            </a:r>
            <a:endParaRPr lang="en-US" sz="1000" dirty="0"/>
          </a:p>
        </p:txBody>
      </p:sp>
      <p:sp>
        <p:nvSpPr>
          <p:cNvPr id="140" name="Shape 138"/>
          <p:cNvSpPr/>
          <p:nvPr/>
        </p:nvSpPr>
        <p:spPr>
          <a:xfrm>
            <a:off x="6945376" y="5486400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1" name="Text 139"/>
          <p:cNvSpPr txBox="1"/>
          <p:nvPr/>
        </p:nvSpPr>
        <p:spPr>
          <a:xfrm>
            <a:off x="6945376" y="5486400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000" dirty="0"/>
          </a:p>
        </p:txBody>
      </p:sp>
      <p:sp>
        <p:nvSpPr>
          <p:cNvPr id="142" name="Shape 140"/>
          <p:cNvSpPr/>
          <p:nvPr/>
        </p:nvSpPr>
        <p:spPr>
          <a:xfrm>
            <a:off x="7652512" y="5486400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3" name="Text 141"/>
          <p:cNvSpPr txBox="1"/>
          <p:nvPr/>
        </p:nvSpPr>
        <p:spPr>
          <a:xfrm>
            <a:off x="7652512" y="5486400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000" dirty="0"/>
          </a:p>
        </p:txBody>
      </p:sp>
      <p:sp>
        <p:nvSpPr>
          <p:cNvPr id="144" name="Shape 142"/>
          <p:cNvSpPr/>
          <p:nvPr/>
        </p:nvSpPr>
        <p:spPr>
          <a:xfrm>
            <a:off x="8359648" y="5486400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5" name="Text 143"/>
          <p:cNvSpPr txBox="1"/>
          <p:nvPr/>
        </p:nvSpPr>
        <p:spPr>
          <a:xfrm>
            <a:off x="8359648" y="5486400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000" dirty="0"/>
          </a:p>
        </p:txBody>
      </p:sp>
      <p:sp>
        <p:nvSpPr>
          <p:cNvPr id="146" name="Shape 144"/>
          <p:cNvSpPr/>
          <p:nvPr/>
        </p:nvSpPr>
        <p:spPr>
          <a:xfrm>
            <a:off x="9198864" y="5486400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7" name="Text 145"/>
          <p:cNvSpPr txBox="1"/>
          <p:nvPr/>
        </p:nvSpPr>
        <p:spPr>
          <a:xfrm>
            <a:off x="9198864" y="5486400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000" dirty="0"/>
          </a:p>
        </p:txBody>
      </p:sp>
      <p:sp>
        <p:nvSpPr>
          <p:cNvPr id="148" name="Shape 146"/>
          <p:cNvSpPr/>
          <p:nvPr/>
        </p:nvSpPr>
        <p:spPr>
          <a:xfrm>
            <a:off x="9972040" y="548640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9" name="Text 147"/>
          <p:cNvSpPr txBox="1"/>
          <p:nvPr/>
        </p:nvSpPr>
        <p:spPr>
          <a:xfrm>
            <a:off x="9972040" y="548640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</a:t>
            </a:r>
            <a:endParaRPr lang="en-US" sz="1000" dirty="0"/>
          </a:p>
        </p:txBody>
      </p:sp>
      <p:sp>
        <p:nvSpPr>
          <p:cNvPr id="150" name="Shape 148"/>
          <p:cNvSpPr/>
          <p:nvPr/>
        </p:nvSpPr>
        <p:spPr>
          <a:xfrm>
            <a:off x="10613136" y="548640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1" name="Text 149"/>
          <p:cNvSpPr txBox="1"/>
          <p:nvPr/>
        </p:nvSpPr>
        <p:spPr>
          <a:xfrm>
            <a:off x="10613136" y="548640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changelog</a:t>
            </a:r>
            <a:endParaRPr lang="en-US" sz="1000" dirty="0"/>
          </a:p>
        </p:txBody>
      </p:sp>
      <p:sp>
        <p:nvSpPr>
          <p:cNvPr id="152" name="Shape 150"/>
          <p:cNvSpPr/>
          <p:nvPr/>
        </p:nvSpPr>
        <p:spPr>
          <a:xfrm>
            <a:off x="457200" y="5833872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3" name="Text 151"/>
          <p:cNvSpPr txBox="1"/>
          <p:nvPr/>
        </p:nvSpPr>
        <p:spPr>
          <a:xfrm>
            <a:off x="457200" y="5833872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000" dirty="0"/>
          </a:p>
        </p:txBody>
      </p:sp>
      <p:sp>
        <p:nvSpPr>
          <p:cNvPr id="154" name="Shape 152"/>
          <p:cNvSpPr/>
          <p:nvPr/>
        </p:nvSpPr>
        <p:spPr>
          <a:xfrm>
            <a:off x="1164336" y="5833872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5" name="Text 153"/>
          <p:cNvSpPr txBox="1"/>
          <p:nvPr/>
        </p:nvSpPr>
        <p:spPr>
          <a:xfrm>
            <a:off x="1164336" y="5833872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156" name="Shape 154"/>
          <p:cNvSpPr/>
          <p:nvPr/>
        </p:nvSpPr>
        <p:spPr>
          <a:xfrm>
            <a:off x="2069592" y="5833872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7" name="Text 155"/>
          <p:cNvSpPr txBox="1"/>
          <p:nvPr/>
        </p:nvSpPr>
        <p:spPr>
          <a:xfrm>
            <a:off x="2069592" y="5833872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</a:t>
            </a:r>
            <a:endParaRPr lang="en-US" sz="1000" dirty="0"/>
          </a:p>
        </p:txBody>
      </p:sp>
      <p:sp>
        <p:nvSpPr>
          <p:cNvPr id="158" name="Shape 156"/>
          <p:cNvSpPr/>
          <p:nvPr/>
        </p:nvSpPr>
        <p:spPr>
          <a:xfrm>
            <a:off x="2578608" y="5833872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9" name="Text 157"/>
          <p:cNvSpPr txBox="1"/>
          <p:nvPr/>
        </p:nvSpPr>
        <p:spPr>
          <a:xfrm>
            <a:off x="2578608" y="5833872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</a:t>
            </a:r>
            <a:endParaRPr lang="en-US" sz="1000" dirty="0"/>
          </a:p>
        </p:txBody>
      </p:sp>
      <p:sp>
        <p:nvSpPr>
          <p:cNvPr id="160" name="Shape 158"/>
          <p:cNvSpPr/>
          <p:nvPr/>
        </p:nvSpPr>
        <p:spPr>
          <a:xfrm>
            <a:off x="3351784" y="5833872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61" name="Text 159"/>
          <p:cNvSpPr txBox="1"/>
          <p:nvPr/>
        </p:nvSpPr>
        <p:spPr>
          <a:xfrm>
            <a:off x="3351784" y="5833872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endParaRPr lang="en-US" sz="1000" dirty="0"/>
          </a:p>
        </p:txBody>
      </p:sp>
      <p:sp>
        <p:nvSpPr>
          <p:cNvPr id="162" name="Shape 160"/>
          <p:cNvSpPr/>
          <p:nvPr/>
        </p:nvSpPr>
        <p:spPr>
          <a:xfrm>
            <a:off x="4058920" y="5833872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63" name="Text 161"/>
          <p:cNvSpPr txBox="1"/>
          <p:nvPr/>
        </p:nvSpPr>
        <p:spPr>
          <a:xfrm>
            <a:off x="4058920" y="5833872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</a:t>
            </a:r>
            <a:endParaRPr lang="en-US" sz="1000" dirty="0"/>
          </a:p>
        </p:txBody>
      </p:sp>
      <p:sp>
        <p:nvSpPr>
          <p:cNvPr id="164" name="Shape 162"/>
          <p:cNvSpPr/>
          <p:nvPr/>
        </p:nvSpPr>
        <p:spPr>
          <a:xfrm>
            <a:off x="4766056" y="583387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65" name="Text 163"/>
          <p:cNvSpPr txBox="1"/>
          <p:nvPr/>
        </p:nvSpPr>
        <p:spPr>
          <a:xfrm>
            <a:off x="4766056" y="583387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build</a:t>
            </a:r>
            <a:endParaRPr lang="en-US" sz="1000" dirty="0"/>
          </a:p>
        </p:txBody>
      </p:sp>
      <p:sp>
        <p:nvSpPr>
          <p:cNvPr id="166" name="Shape 164"/>
          <p:cNvSpPr/>
          <p:nvPr/>
        </p:nvSpPr>
        <p:spPr>
          <a:xfrm>
            <a:off x="5869432" y="5833872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67" name="Text 165"/>
          <p:cNvSpPr txBox="1"/>
          <p:nvPr/>
        </p:nvSpPr>
        <p:spPr>
          <a:xfrm>
            <a:off x="5869432" y="5833872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</a:t>
            </a:r>
            <a:endParaRPr lang="en-US" sz="1000" dirty="0"/>
          </a:p>
        </p:txBody>
      </p:sp>
      <p:sp>
        <p:nvSpPr>
          <p:cNvPr id="168" name="Shape 166"/>
          <p:cNvSpPr/>
          <p:nvPr/>
        </p:nvSpPr>
        <p:spPr>
          <a:xfrm>
            <a:off x="6510528" y="5833872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69" name="Text 167"/>
          <p:cNvSpPr txBox="1"/>
          <p:nvPr/>
        </p:nvSpPr>
        <p:spPr>
          <a:xfrm>
            <a:off x="6510528" y="5833872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</a:t>
            </a:r>
            <a:endParaRPr lang="en-US" sz="1000" dirty="0"/>
          </a:p>
        </p:txBody>
      </p:sp>
      <p:sp>
        <p:nvSpPr>
          <p:cNvPr id="170" name="Shape 168"/>
          <p:cNvSpPr/>
          <p:nvPr/>
        </p:nvSpPr>
        <p:spPr>
          <a:xfrm>
            <a:off x="7085584" y="5833872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1" name="Text 169"/>
          <p:cNvSpPr txBox="1"/>
          <p:nvPr/>
        </p:nvSpPr>
        <p:spPr>
          <a:xfrm>
            <a:off x="7085584" y="5833872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008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People decide. Agents do. Git remembers.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82880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828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78308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come from people in roles.yaml, bound to content, optionally signed.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56032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51460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pushes through their own work: authors do not approve their review or release.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329184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24612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is files in the repository: backlog, specs, evidence, decisions.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57200" y="4526280"/>
            <a:ext cx="11274552" cy="1005840"/>
          </a:xfrm>
          <a:prstGeom prst="roundRect">
            <a:avLst>
              <a:gd name="adj" fmla="val 9091"/>
            </a:avLst>
          </a:prstGeom>
          <a:solidFill>
            <a:srgbClr val="161A22"/>
          </a:solidFill>
          <a:ln w="12700">
            <a:solidFill>
              <a:srgbClr val="161A2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754880"/>
            <a:ext cx="107259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npx vitest run test/e2e-calculator.test.ts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npm run demo:deck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sdlc · calculator demo</dc:title>
  <dc:subject>PptxGenJS Presentation</dc:subject>
  <dc:creator>PptxGenJS</dc:creator>
  <cp:lastModifiedBy>PptxGenJS</cp:lastModifiedBy>
  <cp:revision>1</cp:revision>
  <dcterms:created xsi:type="dcterms:W3CDTF">2026-10-13T12:40:35Z</dcterms:created>
  <dcterms:modified xsi:type="dcterms:W3CDTF">2026-10-13T12:40:35Z</dcterms:modified>
</cp:coreProperties>
</file>