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three-person team builds a till calculator with AI agents. Everything shown was produced by an automated end-to-end test, so the outputs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Separation rules: the author of the code does not approve its review or release; spec and review, plan and review need different people; at most three gates per person. An agent cannot edit the file.
sdlc roles check — Who holds which role.
sdlc roles migrate — An agent cannot write the roles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approved artifact changes, the approval goes stale and must be given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Alice installs sdlc for Claude Code and OpenCode; an agent makes the repository AI-ready.
sdlc init --tools claude,opencode --statusline — Alice installs sdlc for Claude Code and OpenCode, with the status line.
sdlc layout check — Is the project AI-ready? Not yet.
sdlc layout scaffold — The agent creates AGENTS.md, CLAUDE.md and the docs skeleton.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till need its own calculator? The agent researches and writes a recommendation; nothing is decided yet.
sdlc explore calculator — The agent opens an exploration: does the till need its own calculator?
sdlc explore list — Explorations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carry an outcome, acceptance criteria and dependencies. Moving and dropping items is a product decision.
sdlc backlog add Basic arithmetic --epic E1 --kind feature --risk low --outcome add, subtract, multiply and divide --accept 2 + 3 = 5 --accept 10 / 4 = 2.5 --source-type exploration --source-ref openspec/explorations/calculator.md — First item, from the exploration.
sdlc backlog move B3 --before B2 — Priority is a person's decision: refused for the agent.
sdlc backlog list — The backlog with readiness and the epic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points at the ready item; the change starts with a draft intent. The track is suggested, but only a person may choose it.
sdlc next — No active change: next proposes the backlog item.
sdlc backlog start B1 --change basic-arithmetic — A change with a draft intent from the item.
sdlc status --change basic-arithmetic — The stepper: intent is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cannot approve. Bob is not the product owner. Alice approves the intent and the spec; Bob, the engineer, the plan.
sdlc approve intent --change basic-arithmetic — The agent cannot approve.
sdlc approve intent --change basic-arithmetic — Bob is not the product owner.
sdlc answer 1 --change basic-arithmetic --text No: the receipt shows the total only — Alice answers the open question of the intent herself: the agent cannot.
sdlc approve intent --change basic-arithmetic — Alice approves the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OpenSpec does the spec work through its JSON CLI: changes, artifact instructions, validation and the delta merge on archive. /opsx:* commands keep working on the same folder.
sdlc openspec list — OpenSpec lists the change like any of its own.
sdlc openspec status --change basic-arithmetic — Artifact completion by the sdlc schema, computed by OpenSpec.
sdlc openspec show basic-arithmetic --json --deltas-only — The change as OpenSpec sees it: the ADDED requirement and its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sdlc validate runs openspec validate --strict and adds checks OpenSpec lacks: delta targets exist, ADDED does not collide, overlaps between open changes.
sdlc validate --change basic-arithmetic — The first draft has a requirement without a scenario: strict validation refuses it.
sdlc validate --change basic-arithmetic — With the scenarios added, OpenSpec strict validation and the delta target checks pass.
sdlc openspec schema validate sdlc — The sdlc schema is a standard OpenSpec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writes the code on a branch. `verify` runs the real checks and records the evidence; every spec scenario needs a row.
sdlc verify --change basic-arithmetic — Real checks, recorded evidence.
sdlc verify --check --change basic-arithmetic — Every scenario has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pass and lens is covered or says what was checked. One finding is deferred to the registry. Bob wrote the code, so Carol approves.
sdlc roles who review --change basic-arithmetic --base main — Who may approve the review: not Bob, he wrote the code.
sdlc approve review --change basic-arithmetic — Bob is the author: refused.
sdlc approve review --change basic-arithmetic — Carol approves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Signing modes: off (no signatures), warn (report), required (CI fails). A commit signed by Bob with Alice's email is reported as wrong-signer.
sdlc approve release --change basic-arithmetic — Alice authorizes the release.
sdlc approvals verify — Signed approvals check (warn mode): Alice and Carol sign; Bob's plan approval is unsigned, reported but not blocking.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sdlc archive re-checks the gates, then OpenSpec merges the delta into openspec/specs. The requirement now lives in the spec; B1 closes.
sdlc archive basic-arithmetic --yes — The delta merges into the living spec; B1 closes.
sdlc openspec list --specs — The calculator capability is now a living spec.
sdlc openspec show calculator --type spec — The living spec holds the requirement the change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refusal in the demo, with the reason the CLI gave. Decisions stay with people and are recorded.
sdlc adopt --apply — Applying the draft is a person's decision: refused for the agent.
sdlc roles migrate — An agent cannot write the roles file.
sdlc backlog move B3 --before B2 — Priority is a person's decision: refused for the agent.
sdlc track set lite --change basic-arithmetic — An agent cannot pick the lite track.
sdlc approve intent --change basic-arithmetic — The agent cannot approve.
sdlc approve intent --change basic-arithmetic — Bob is not the product owner.
sdlc validate --change basic-arithmetic — The first draft has a requirement without a scenario: strict validation refuses it.
sdlc approve review --change basic-arithmetic — Bob is the author: refused.
sdlc tests unlock --change fix-rounding — Unlocking is a person's decision.
sdlc team accept tester — What a role says is a person's decision: refused for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fixes go on the lite track with tests locked first. Alice rejects voice input with a reason and waives the release step for an internal fix.
sdlc tests lock --change fix-rounding — Tests are locked: the failing test is the proof.
sdlc reject intent --change voice-input --note Tills are in noisy shops — Alice rejects it with a reason.
sdlc waive release --change fix-rounding --note Internal library, no release step — A recorded waiver.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epic and its tickets from BMAD-METHOD become backlog items with their dependencies.
sdlc import bmad _bmad-output/epic-scientific --to-backlog — Epic and tickets from BMAD become backlog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scripts/examples/dashboard-watch.mjs watches openspec/ and rebuilds reports/dashboard.html; examples run it as a Windows task, a systemd or launchd service, or a CI step.
sdlc status — Every active change.
sdlc audit — Lead times and first-pass rate.
sdlc log --limit 15 — Who did what, with the sdlc version and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decision is offered over MCP. The registry lives in openspec/sdlc.yaml with secrets as ${VAR} references; the hook allows each server only at its stages. Chapter 10 of the docs has the user cases.
sdlc mcp check — The team's MCP servers: reachable, tools listed, file writers flagged.
sdlc verify --change fix-rounding — Bob verifies himself: the CLI calls the CI server over MCP and keeps the result for the agent.
sdlc inbox list --json — The agent finds the result in its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an acceptance test: it fails if a command is missing from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nothing to host and nothing to sign in to. The audit, the report and the dashboard are built from the files in the repository and work offline. The same commands run on a laptop, over SSH and in a CI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case from one of our releases. The gates were approved after the fact, against code that had already shipped. Examples: an agent could switch off the check that blocks its stop, and a project opened through a linked folder could not approve anything. Changes made by the rules get review findings too; the difference is that they surface before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Approvals come from people in roles.yaml, bound to content, optionally signed. Nobody pushes through their own work: authors do not approve their review or release. Everything is files in the repository: backlog, specs, evidence,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457200" y="457200"/>
            <a:ext cx="1828800" cy="365760"/>
          </a:xfrm>
          <a:prstGeom prst="rect">
            <a:avLst/>
          </a:prstGeom>
          <a:noFill/>
          <a:ln/>
        </p:spPr>
        <p:txBody>
          <a:bodyPr wrap="square" lIns="0" tIns="0" rIns="0" bIns="0" rtlCol="0" anchor="ctr"/>
          <a:lstStyle/>
          <a:p>
            <a:pPr indent="0" marL="0">
              <a:buNone/>
            </a:pPr>
            <a:r>
              <a:rPr lang="en-US" sz="1800" b="1" dirty="0">
                <a:solidFill>
                  <a:srgbClr val="F2A541"/>
                </a:solidFill>
                <a:latin typeface="Calibri" pitchFamily="34" charset="0"/>
                <a:ea typeface="Calibri" pitchFamily="34" charset="-122"/>
                <a:cs typeface="Calibri" pitchFamily="34" charset="-120"/>
              </a:rPr>
              <a:t>sdlc</a:t>
            </a:r>
            <a:endParaRPr lang="en-US" sz="1800" dirty="0"/>
          </a:p>
        </p:txBody>
      </p:sp>
      <p:sp>
        <p:nvSpPr>
          <p:cNvPr id="3" name="Text 1"/>
          <p:cNvSpPr txBox="1"/>
          <p:nvPr/>
        </p:nvSpPr>
        <p:spPr>
          <a:xfrm>
            <a:off x="457200" y="1920240"/>
            <a:ext cx="1127455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a calculator with sdlc</a:t>
            </a:r>
            <a:endParaRPr lang="en-US" sz="4000" dirty="0"/>
          </a:p>
        </p:txBody>
      </p:sp>
      <p:sp>
        <p:nvSpPr>
          <p:cNvPr id="4" name="Text 2"/>
          <p:cNvSpPr txBox="1"/>
          <p:nvPr/>
        </p:nvSpPr>
        <p:spPr>
          <a:xfrm>
            <a:off x="457200" y="2971800"/>
            <a:ext cx="9019642" cy="822960"/>
          </a:xfrm>
          <a:prstGeom prst="rect">
            <a:avLst/>
          </a:prstGeom>
          <a:noFill/>
          <a:ln/>
        </p:spPr>
        <p:txBody>
          <a:bodyPr wrap="square" lIns="0" tIns="0" rIns="0" bIns="0" rtlCol="0" anchor="t"/>
          <a:lstStyle/>
          <a:p>
            <a:pPr indent="0" marL="0">
              <a:buNone/>
            </a:pPr>
            <a:r>
              <a:rPr lang="en-US" sz="1800" dirty="0">
                <a:solidFill>
                  <a:srgbClr val="E8EEF2"/>
                </a:solidFill>
                <a:latin typeface="Calibri" pitchFamily="34" charset="0"/>
                <a:ea typeface="Calibri" pitchFamily="34" charset="-122"/>
                <a:cs typeface="Calibri" pitchFamily="34" charset="-120"/>
              </a:rPr>
              <a:t>Every command of the SDLC harness, on one small real project. People decide,</a:t>
            </a:r>
            <a:endParaRPr lang="en-US" sz="1800" dirty="0"/>
          </a:p>
          <a:p>
            <a:pPr indent="0" marL="0">
              <a:buNone/>
            </a:pPr>
            <a:r>
              <a:rPr lang="en-US" sz="1800" dirty="0">
                <a:solidFill>
                  <a:srgbClr val="E8EEF2"/>
                </a:solidFill>
                <a:latin typeface="Calibri" pitchFamily="34" charset="0"/>
                <a:ea typeface="Calibri" pitchFamily="34" charset="-122"/>
                <a:cs typeface="Calibri" pitchFamily="34" charset="-120"/>
              </a:rPr>
              <a:t>agents do the work.</a:t>
            </a:r>
            <a:endParaRPr lang="en-US" sz="1800" dirty="0"/>
          </a:p>
        </p:txBody>
      </p:sp>
      <p:sp>
        <p:nvSpPr>
          <p:cNvPr id="5" name="Shape 3"/>
          <p:cNvSpPr/>
          <p:nvPr/>
        </p:nvSpPr>
        <p:spPr>
          <a:xfrm>
            <a:off x="457200" y="5669280"/>
            <a:ext cx="2647188" cy="420624"/>
          </a:xfrm>
          <a:prstGeom prst="roundRect">
            <a:avLst>
              <a:gd name="adj" fmla="val 50000"/>
            </a:avLst>
          </a:prstGeom>
          <a:solidFill>
            <a:srgbClr val="7C5CFF"/>
          </a:solidFill>
          <a:ln w="12700">
            <a:solidFill>
              <a:srgbClr val="7C5CFF"/>
            </a:solidFill>
            <a:prstDash val="solid"/>
          </a:ln>
        </p:spPr>
      </p:sp>
      <p:sp>
        <p:nvSpPr>
          <p:cNvPr id="6" name="Text 4"/>
          <p:cNvSpPr txBox="1"/>
          <p:nvPr/>
        </p:nvSpPr>
        <p:spPr>
          <a:xfrm>
            <a:off x="457200" y="5669280"/>
            <a:ext cx="26471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 · product owner</a:t>
            </a:r>
            <a:endParaRPr lang="en-US" sz="1100" dirty="0"/>
          </a:p>
        </p:txBody>
      </p:sp>
      <p:sp>
        <p:nvSpPr>
          <p:cNvPr id="7" name="Shape 5"/>
          <p:cNvSpPr/>
          <p:nvPr/>
        </p:nvSpPr>
        <p:spPr>
          <a:xfrm>
            <a:off x="3332988" y="5669280"/>
            <a:ext cx="2647188" cy="420624"/>
          </a:xfrm>
          <a:prstGeom prst="roundRect">
            <a:avLst>
              <a:gd name="adj" fmla="val 50000"/>
            </a:avLst>
          </a:prstGeom>
          <a:solidFill>
            <a:srgbClr val="2D8CFF"/>
          </a:solidFill>
          <a:ln w="12700">
            <a:solidFill>
              <a:srgbClr val="2D8CFF"/>
            </a:solidFill>
            <a:prstDash val="solid"/>
          </a:ln>
        </p:spPr>
      </p:sp>
      <p:sp>
        <p:nvSpPr>
          <p:cNvPr id="8" name="Text 6"/>
          <p:cNvSpPr txBox="1"/>
          <p:nvPr/>
        </p:nvSpPr>
        <p:spPr>
          <a:xfrm>
            <a:off x="3332988" y="5669280"/>
            <a:ext cx="26471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 · engineer</a:t>
            </a:r>
            <a:endParaRPr lang="en-US" sz="1100" dirty="0"/>
          </a:p>
        </p:txBody>
      </p:sp>
      <p:sp>
        <p:nvSpPr>
          <p:cNvPr id="9" name="Shape 7"/>
          <p:cNvSpPr/>
          <p:nvPr/>
        </p:nvSpPr>
        <p:spPr>
          <a:xfrm>
            <a:off x="6208776" y="5669280"/>
            <a:ext cx="2647188" cy="420624"/>
          </a:xfrm>
          <a:prstGeom prst="roundRect">
            <a:avLst>
              <a:gd name="adj" fmla="val 50000"/>
            </a:avLst>
          </a:prstGeom>
          <a:solidFill>
            <a:srgbClr val="17A589"/>
          </a:solidFill>
          <a:ln w="12700">
            <a:solidFill>
              <a:srgbClr val="17A589"/>
            </a:solidFill>
            <a:prstDash val="solid"/>
          </a:ln>
        </p:spPr>
      </p:sp>
      <p:sp>
        <p:nvSpPr>
          <p:cNvPr id="10" name="Text 8"/>
          <p:cNvSpPr txBox="1"/>
          <p:nvPr/>
        </p:nvSpPr>
        <p:spPr>
          <a:xfrm>
            <a:off x="6208776" y="5669280"/>
            <a:ext cx="26471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Carol · reviewer</a:t>
            </a:r>
            <a:endParaRPr lang="en-US" sz="1100" dirty="0"/>
          </a:p>
        </p:txBody>
      </p:sp>
      <p:sp>
        <p:nvSpPr>
          <p:cNvPr id="11" name="Shape 9"/>
          <p:cNvSpPr/>
          <p:nvPr/>
        </p:nvSpPr>
        <p:spPr>
          <a:xfrm>
            <a:off x="9084564" y="5669280"/>
            <a:ext cx="2647188" cy="420624"/>
          </a:xfrm>
          <a:prstGeom prst="roundRect">
            <a:avLst>
              <a:gd name="adj" fmla="val 50000"/>
            </a:avLst>
          </a:prstGeom>
          <a:solidFill>
            <a:srgbClr val="F2A541"/>
          </a:solidFill>
          <a:ln w="12700">
            <a:solidFill>
              <a:srgbClr val="F2A541"/>
            </a:solidFill>
            <a:prstDash val="solid"/>
          </a:ln>
        </p:spPr>
      </p:sp>
      <p:sp>
        <p:nvSpPr>
          <p:cNvPr id="12" name="Text 10"/>
          <p:cNvSpPr txBox="1"/>
          <p:nvPr/>
        </p:nvSpPr>
        <p:spPr>
          <a:xfrm>
            <a:off x="9084564" y="5669280"/>
            <a:ext cx="26471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The team and who may approve what</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Roles live in openspec/roles.yaml, versioned in git. The file names people, their emails and signing keys, and the separation</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rules.</a:t>
            </a:r>
            <a:endParaRPr lang="en-US" sz="1400" dirty="0"/>
          </a:p>
        </p:txBody>
      </p:sp>
      <p:sp>
        <p:nvSpPr>
          <p:cNvPr id="4" name="Shape 2"/>
          <p:cNvSpPr/>
          <p:nvPr/>
        </p:nvSpPr>
        <p:spPr>
          <a:xfrm>
            <a:off x="457200" y="1600200"/>
            <a:ext cx="2647188" cy="2057400"/>
          </a:xfrm>
          <a:prstGeom prst="roundRect">
            <a:avLst>
              <a:gd name="adj" fmla="val 4444"/>
            </a:avLst>
          </a:prstGeom>
          <a:solidFill>
            <a:srgbClr val="F3F5F8"/>
          </a:solidFill>
          <a:ln w="12700">
            <a:solidFill>
              <a:srgbClr val="F3F5F8"/>
            </a:solidFill>
            <a:prstDash val="solid"/>
          </a:ln>
        </p:spPr>
      </p:sp>
      <p:sp>
        <p:nvSpPr>
          <p:cNvPr id="5" name="Shape 3"/>
          <p:cNvSpPr/>
          <p:nvPr/>
        </p:nvSpPr>
        <p:spPr>
          <a:xfrm>
            <a:off x="1506474" y="1783080"/>
            <a:ext cx="548640" cy="548640"/>
          </a:xfrm>
          <a:prstGeom prst="ellipse">
            <a:avLst/>
          </a:prstGeom>
          <a:solidFill>
            <a:srgbClr val="7C5CFF"/>
          </a:solidFill>
          <a:ln w="12700">
            <a:solidFill>
              <a:srgbClr val="7C5CFF"/>
            </a:solidFill>
            <a:prstDash val="solid"/>
          </a:ln>
        </p:spPr>
      </p:sp>
      <p:sp>
        <p:nvSpPr>
          <p:cNvPr id="6" name="Text 4"/>
          <p:cNvSpPr txBox="1"/>
          <p:nvPr/>
        </p:nvSpPr>
        <p:spPr>
          <a:xfrm>
            <a:off x="150647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7" name="Text 5"/>
          <p:cNvSpPr txBox="1"/>
          <p:nvPr/>
        </p:nvSpPr>
        <p:spPr>
          <a:xfrm>
            <a:off x="548640" y="2423160"/>
            <a:ext cx="2464308" cy="320040"/>
          </a:xfrm>
          <a:prstGeom prst="rect">
            <a:avLst/>
          </a:prstGeom>
          <a:noFill/>
          <a:ln/>
        </p:spPr>
        <p:txBody>
          <a:bodyPr wrap="square" lIns="0" tIns="0" rIns="0" bIns="0" rtlCol="0" anchor="ctr"/>
          <a:lstStyle/>
          <a:p>
            <a:pPr algn="ctr" indent="0" marL="0">
              <a:buNone/>
            </a:pPr>
            <a:r>
              <a:rPr lang="en-US" sz="1400" b="1" dirty="0">
                <a:solidFill>
                  <a:srgbClr val="1F2430"/>
                </a:solidFill>
                <a:latin typeface="Calibri" pitchFamily="34" charset="0"/>
                <a:ea typeface="Calibri" pitchFamily="34" charset="-122"/>
                <a:cs typeface="Calibri" pitchFamily="34" charset="-120"/>
              </a:rPr>
              <a:t>Alice Walker</a:t>
            </a:r>
            <a:endParaRPr lang="en-US" sz="1400" dirty="0"/>
          </a:p>
        </p:txBody>
      </p:sp>
      <p:sp>
        <p:nvSpPr>
          <p:cNvPr id="8" name="Shape 6"/>
          <p:cNvSpPr/>
          <p:nvPr/>
        </p:nvSpPr>
        <p:spPr>
          <a:xfrm>
            <a:off x="640080" y="2807208"/>
            <a:ext cx="2281428" cy="228600"/>
          </a:xfrm>
          <a:prstGeom prst="roundRect">
            <a:avLst>
              <a:gd name="adj" fmla="val 48000"/>
            </a:avLst>
          </a:prstGeom>
          <a:solidFill>
            <a:srgbClr val="FFFFFF"/>
          </a:solidFill>
          <a:ln w="12700">
            <a:solidFill>
              <a:srgbClr val="FFFFFF"/>
            </a:solidFill>
            <a:prstDash val="solid"/>
          </a:ln>
        </p:spPr>
      </p:sp>
      <p:sp>
        <p:nvSpPr>
          <p:cNvPr id="9" name="Text 7"/>
          <p:cNvSpPr txBox="1"/>
          <p:nvPr/>
        </p:nvSpPr>
        <p:spPr>
          <a:xfrm>
            <a:off x="640080" y="280720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product-owner</a:t>
            </a:r>
            <a:endParaRPr lang="en-US" sz="1000" dirty="0"/>
          </a:p>
        </p:txBody>
      </p:sp>
      <p:sp>
        <p:nvSpPr>
          <p:cNvPr id="10" name="Shape 8"/>
          <p:cNvSpPr/>
          <p:nvPr/>
        </p:nvSpPr>
        <p:spPr>
          <a:xfrm>
            <a:off x="640080" y="3081528"/>
            <a:ext cx="2281428" cy="228600"/>
          </a:xfrm>
          <a:prstGeom prst="roundRect">
            <a:avLst>
              <a:gd name="adj" fmla="val 48000"/>
            </a:avLst>
          </a:prstGeom>
          <a:solidFill>
            <a:srgbClr val="FFFFFF"/>
          </a:solidFill>
          <a:ln w="12700">
            <a:solidFill>
              <a:srgbClr val="FFFFFF"/>
            </a:solidFill>
            <a:prstDash val="solid"/>
          </a:ln>
        </p:spPr>
      </p:sp>
      <p:sp>
        <p:nvSpPr>
          <p:cNvPr id="11" name="Text 9"/>
          <p:cNvSpPr txBox="1"/>
          <p:nvPr/>
        </p:nvSpPr>
        <p:spPr>
          <a:xfrm>
            <a:off x="640080" y="308152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release-manager</a:t>
            </a:r>
            <a:endParaRPr lang="en-US" sz="1000" dirty="0"/>
          </a:p>
        </p:txBody>
      </p:sp>
      <p:sp>
        <p:nvSpPr>
          <p:cNvPr id="12" name="Shape 10"/>
          <p:cNvSpPr/>
          <p:nvPr/>
        </p:nvSpPr>
        <p:spPr>
          <a:xfrm>
            <a:off x="640080" y="3355848"/>
            <a:ext cx="2281428" cy="228600"/>
          </a:xfrm>
          <a:prstGeom prst="roundRect">
            <a:avLst>
              <a:gd name="adj" fmla="val 48000"/>
            </a:avLst>
          </a:prstGeom>
          <a:solidFill>
            <a:srgbClr val="FFFFFF"/>
          </a:solidFill>
          <a:ln w="12700">
            <a:solidFill>
              <a:srgbClr val="FFFFFF"/>
            </a:solidFill>
            <a:prstDash val="solid"/>
          </a:ln>
        </p:spPr>
      </p:sp>
      <p:sp>
        <p:nvSpPr>
          <p:cNvPr id="13" name="Text 11"/>
          <p:cNvSpPr txBox="1"/>
          <p:nvPr/>
        </p:nvSpPr>
        <p:spPr>
          <a:xfrm>
            <a:off x="640080" y="335584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maintainer</a:t>
            </a:r>
            <a:endParaRPr lang="en-US" sz="1000" dirty="0"/>
          </a:p>
        </p:txBody>
      </p:sp>
      <p:sp>
        <p:nvSpPr>
          <p:cNvPr id="14" name="Shape 12"/>
          <p:cNvSpPr/>
          <p:nvPr/>
        </p:nvSpPr>
        <p:spPr>
          <a:xfrm>
            <a:off x="3332988" y="1600200"/>
            <a:ext cx="2647188" cy="2057400"/>
          </a:xfrm>
          <a:prstGeom prst="roundRect">
            <a:avLst>
              <a:gd name="adj" fmla="val 4444"/>
            </a:avLst>
          </a:prstGeom>
          <a:solidFill>
            <a:srgbClr val="F3F5F8"/>
          </a:solidFill>
          <a:ln w="12700">
            <a:solidFill>
              <a:srgbClr val="F3F5F8"/>
            </a:solidFill>
            <a:prstDash val="solid"/>
          </a:ln>
        </p:spPr>
      </p:sp>
      <p:sp>
        <p:nvSpPr>
          <p:cNvPr id="15" name="Shape 13"/>
          <p:cNvSpPr/>
          <p:nvPr/>
        </p:nvSpPr>
        <p:spPr>
          <a:xfrm>
            <a:off x="4382262" y="1783080"/>
            <a:ext cx="548640" cy="548640"/>
          </a:xfrm>
          <a:prstGeom prst="ellipse">
            <a:avLst/>
          </a:prstGeom>
          <a:solidFill>
            <a:srgbClr val="2D8CFF"/>
          </a:solidFill>
          <a:ln w="12700">
            <a:solidFill>
              <a:srgbClr val="2D8CFF"/>
            </a:solidFill>
            <a:prstDash val="solid"/>
          </a:ln>
        </p:spPr>
      </p:sp>
      <p:sp>
        <p:nvSpPr>
          <p:cNvPr id="16" name="Text 14"/>
          <p:cNvSpPr txBox="1"/>
          <p:nvPr/>
        </p:nvSpPr>
        <p:spPr>
          <a:xfrm>
            <a:off x="4382262"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7" name="Text 15"/>
          <p:cNvSpPr txBox="1"/>
          <p:nvPr/>
        </p:nvSpPr>
        <p:spPr>
          <a:xfrm>
            <a:off x="3424428" y="2423160"/>
            <a:ext cx="2464308" cy="320040"/>
          </a:xfrm>
          <a:prstGeom prst="rect">
            <a:avLst/>
          </a:prstGeom>
          <a:noFill/>
          <a:ln/>
        </p:spPr>
        <p:txBody>
          <a:bodyPr wrap="square" lIns="0" tIns="0" rIns="0" bIns="0" rtlCol="0" anchor="ctr"/>
          <a:lstStyle/>
          <a:p>
            <a:pPr algn="ctr" indent="0" marL="0">
              <a:buNone/>
            </a:pPr>
            <a:r>
              <a:rPr lang="en-US" sz="1400" b="1" dirty="0">
                <a:solidFill>
                  <a:srgbClr val="1F2430"/>
                </a:solidFill>
                <a:latin typeface="Calibri" pitchFamily="34" charset="0"/>
                <a:ea typeface="Calibri" pitchFamily="34" charset="-122"/>
                <a:cs typeface="Calibri" pitchFamily="34" charset="-120"/>
              </a:rPr>
              <a:t>Bob Turner</a:t>
            </a:r>
            <a:endParaRPr lang="en-US" sz="1400" dirty="0"/>
          </a:p>
        </p:txBody>
      </p:sp>
      <p:sp>
        <p:nvSpPr>
          <p:cNvPr id="18" name="Shape 16"/>
          <p:cNvSpPr/>
          <p:nvPr/>
        </p:nvSpPr>
        <p:spPr>
          <a:xfrm>
            <a:off x="3515868" y="2807208"/>
            <a:ext cx="2281428" cy="228600"/>
          </a:xfrm>
          <a:prstGeom prst="roundRect">
            <a:avLst>
              <a:gd name="adj" fmla="val 48000"/>
            </a:avLst>
          </a:prstGeom>
          <a:solidFill>
            <a:srgbClr val="FFFFFF"/>
          </a:solidFill>
          <a:ln w="12700">
            <a:solidFill>
              <a:srgbClr val="FFFFFF"/>
            </a:solidFill>
            <a:prstDash val="solid"/>
          </a:ln>
        </p:spPr>
      </p:sp>
      <p:sp>
        <p:nvSpPr>
          <p:cNvPr id="19" name="Text 17"/>
          <p:cNvSpPr txBox="1"/>
          <p:nvPr/>
        </p:nvSpPr>
        <p:spPr>
          <a:xfrm>
            <a:off x="3515868" y="280720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engineer</a:t>
            </a:r>
            <a:endParaRPr lang="en-US" sz="1000" dirty="0"/>
          </a:p>
        </p:txBody>
      </p:sp>
      <p:sp>
        <p:nvSpPr>
          <p:cNvPr id="20" name="Shape 18"/>
          <p:cNvSpPr/>
          <p:nvPr/>
        </p:nvSpPr>
        <p:spPr>
          <a:xfrm>
            <a:off x="3515868" y="3081528"/>
            <a:ext cx="2281428" cy="228600"/>
          </a:xfrm>
          <a:prstGeom prst="roundRect">
            <a:avLst>
              <a:gd name="adj" fmla="val 48000"/>
            </a:avLst>
          </a:prstGeom>
          <a:solidFill>
            <a:srgbClr val="FFFFFF"/>
          </a:solidFill>
          <a:ln w="12700">
            <a:solidFill>
              <a:srgbClr val="FFFFFF"/>
            </a:solidFill>
            <a:prstDash val="solid"/>
          </a:ln>
        </p:spPr>
      </p:sp>
      <p:sp>
        <p:nvSpPr>
          <p:cNvPr id="21" name="Text 19"/>
          <p:cNvSpPr txBox="1"/>
          <p:nvPr/>
        </p:nvSpPr>
        <p:spPr>
          <a:xfrm>
            <a:off x="3515868" y="308152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tech-lead</a:t>
            </a:r>
            <a:endParaRPr lang="en-US" sz="1000" dirty="0"/>
          </a:p>
        </p:txBody>
      </p:sp>
      <p:sp>
        <p:nvSpPr>
          <p:cNvPr id="22" name="Shape 20"/>
          <p:cNvSpPr/>
          <p:nvPr/>
        </p:nvSpPr>
        <p:spPr>
          <a:xfrm>
            <a:off x="3515868" y="3355848"/>
            <a:ext cx="2281428" cy="228600"/>
          </a:xfrm>
          <a:prstGeom prst="roundRect">
            <a:avLst>
              <a:gd name="adj" fmla="val 48000"/>
            </a:avLst>
          </a:prstGeom>
          <a:solidFill>
            <a:srgbClr val="FFFFFF"/>
          </a:solidFill>
          <a:ln w="12700">
            <a:solidFill>
              <a:srgbClr val="FFFFFF"/>
            </a:solidFill>
            <a:prstDash val="solid"/>
          </a:ln>
        </p:spPr>
      </p:sp>
      <p:sp>
        <p:nvSpPr>
          <p:cNvPr id="23" name="Text 21"/>
          <p:cNvSpPr txBox="1"/>
          <p:nvPr/>
        </p:nvSpPr>
        <p:spPr>
          <a:xfrm>
            <a:off x="3515868" y="335584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code-owner</a:t>
            </a:r>
            <a:endParaRPr lang="en-US" sz="1000" dirty="0"/>
          </a:p>
        </p:txBody>
      </p:sp>
      <p:sp>
        <p:nvSpPr>
          <p:cNvPr id="24" name="Shape 22"/>
          <p:cNvSpPr/>
          <p:nvPr/>
        </p:nvSpPr>
        <p:spPr>
          <a:xfrm>
            <a:off x="6208776" y="1600200"/>
            <a:ext cx="2647188" cy="2057400"/>
          </a:xfrm>
          <a:prstGeom prst="roundRect">
            <a:avLst>
              <a:gd name="adj" fmla="val 4444"/>
            </a:avLst>
          </a:prstGeom>
          <a:solidFill>
            <a:srgbClr val="F3F5F8"/>
          </a:solidFill>
          <a:ln w="12700">
            <a:solidFill>
              <a:srgbClr val="F3F5F8"/>
            </a:solidFill>
            <a:prstDash val="solid"/>
          </a:ln>
        </p:spPr>
      </p:sp>
      <p:sp>
        <p:nvSpPr>
          <p:cNvPr id="25" name="Shape 23"/>
          <p:cNvSpPr/>
          <p:nvPr/>
        </p:nvSpPr>
        <p:spPr>
          <a:xfrm>
            <a:off x="7258050" y="1783080"/>
            <a:ext cx="548640" cy="548640"/>
          </a:xfrm>
          <a:prstGeom prst="ellipse">
            <a:avLst/>
          </a:prstGeom>
          <a:solidFill>
            <a:srgbClr val="17A589"/>
          </a:solidFill>
          <a:ln w="12700">
            <a:solidFill>
              <a:srgbClr val="17A589"/>
            </a:solidFill>
            <a:prstDash val="solid"/>
          </a:ln>
        </p:spPr>
      </p:sp>
      <p:sp>
        <p:nvSpPr>
          <p:cNvPr id="26" name="Text 24"/>
          <p:cNvSpPr txBox="1"/>
          <p:nvPr/>
        </p:nvSpPr>
        <p:spPr>
          <a:xfrm>
            <a:off x="725805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27" name="Text 25"/>
          <p:cNvSpPr txBox="1"/>
          <p:nvPr/>
        </p:nvSpPr>
        <p:spPr>
          <a:xfrm>
            <a:off x="6300216" y="2423160"/>
            <a:ext cx="2464308" cy="320040"/>
          </a:xfrm>
          <a:prstGeom prst="rect">
            <a:avLst/>
          </a:prstGeom>
          <a:noFill/>
          <a:ln/>
        </p:spPr>
        <p:txBody>
          <a:bodyPr wrap="square" lIns="0" tIns="0" rIns="0" bIns="0" rtlCol="0" anchor="ctr"/>
          <a:lstStyle/>
          <a:p>
            <a:pPr algn="ctr" indent="0" marL="0">
              <a:buNone/>
            </a:pPr>
            <a:r>
              <a:rPr lang="en-US" sz="1400" b="1" dirty="0">
                <a:solidFill>
                  <a:srgbClr val="1F2430"/>
                </a:solidFill>
                <a:latin typeface="Calibri" pitchFamily="34" charset="0"/>
                <a:ea typeface="Calibri" pitchFamily="34" charset="-122"/>
                <a:cs typeface="Calibri" pitchFamily="34" charset="-120"/>
              </a:rPr>
              <a:t>Carol Hughes</a:t>
            </a:r>
            <a:endParaRPr lang="en-US" sz="1400" dirty="0"/>
          </a:p>
        </p:txBody>
      </p:sp>
      <p:sp>
        <p:nvSpPr>
          <p:cNvPr id="28" name="Shape 26"/>
          <p:cNvSpPr/>
          <p:nvPr/>
        </p:nvSpPr>
        <p:spPr>
          <a:xfrm>
            <a:off x="6391656" y="2807208"/>
            <a:ext cx="2281428" cy="228600"/>
          </a:xfrm>
          <a:prstGeom prst="roundRect">
            <a:avLst>
              <a:gd name="adj" fmla="val 48000"/>
            </a:avLst>
          </a:prstGeom>
          <a:solidFill>
            <a:srgbClr val="FFFFFF"/>
          </a:solidFill>
          <a:ln w="12700">
            <a:solidFill>
              <a:srgbClr val="FFFFFF"/>
            </a:solidFill>
            <a:prstDash val="solid"/>
          </a:ln>
        </p:spPr>
      </p:sp>
      <p:sp>
        <p:nvSpPr>
          <p:cNvPr id="29" name="Text 27"/>
          <p:cNvSpPr txBox="1"/>
          <p:nvPr/>
        </p:nvSpPr>
        <p:spPr>
          <a:xfrm>
            <a:off x="6391656" y="280720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engineer</a:t>
            </a:r>
            <a:endParaRPr lang="en-US" sz="1000" dirty="0"/>
          </a:p>
        </p:txBody>
      </p:sp>
      <p:sp>
        <p:nvSpPr>
          <p:cNvPr id="30" name="Shape 28"/>
          <p:cNvSpPr/>
          <p:nvPr/>
        </p:nvSpPr>
        <p:spPr>
          <a:xfrm>
            <a:off x="6391656" y="3081528"/>
            <a:ext cx="2281428" cy="228600"/>
          </a:xfrm>
          <a:prstGeom prst="roundRect">
            <a:avLst>
              <a:gd name="adj" fmla="val 48000"/>
            </a:avLst>
          </a:prstGeom>
          <a:solidFill>
            <a:srgbClr val="FFFFFF"/>
          </a:solidFill>
          <a:ln w="12700">
            <a:solidFill>
              <a:srgbClr val="FFFFFF"/>
            </a:solidFill>
            <a:prstDash val="solid"/>
          </a:ln>
        </p:spPr>
      </p:sp>
      <p:sp>
        <p:nvSpPr>
          <p:cNvPr id="31" name="Text 29"/>
          <p:cNvSpPr txBox="1"/>
          <p:nvPr/>
        </p:nvSpPr>
        <p:spPr>
          <a:xfrm>
            <a:off x="6391656" y="308152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code-owner</a:t>
            </a:r>
            <a:endParaRPr lang="en-US" sz="1000" dirty="0"/>
          </a:p>
        </p:txBody>
      </p:sp>
      <p:sp>
        <p:nvSpPr>
          <p:cNvPr id="32" name="Shape 30"/>
          <p:cNvSpPr/>
          <p:nvPr/>
        </p:nvSpPr>
        <p:spPr>
          <a:xfrm>
            <a:off x="9084564" y="1600200"/>
            <a:ext cx="2647188" cy="2057400"/>
          </a:xfrm>
          <a:prstGeom prst="roundRect">
            <a:avLst>
              <a:gd name="adj" fmla="val 4444"/>
            </a:avLst>
          </a:prstGeom>
          <a:solidFill>
            <a:srgbClr val="F3F5F8"/>
          </a:solidFill>
          <a:ln w="12700">
            <a:solidFill>
              <a:srgbClr val="F3F5F8"/>
            </a:solidFill>
            <a:prstDash val="solid"/>
          </a:ln>
        </p:spPr>
      </p:sp>
      <p:sp>
        <p:nvSpPr>
          <p:cNvPr id="33" name="Shape 31"/>
          <p:cNvSpPr/>
          <p:nvPr/>
        </p:nvSpPr>
        <p:spPr>
          <a:xfrm>
            <a:off x="10133838" y="1783080"/>
            <a:ext cx="548640" cy="548640"/>
          </a:xfrm>
          <a:prstGeom prst="ellipse">
            <a:avLst/>
          </a:prstGeom>
          <a:solidFill>
            <a:srgbClr val="F2A541"/>
          </a:solidFill>
          <a:ln w="12700">
            <a:solidFill>
              <a:srgbClr val="F2A541"/>
            </a:solidFill>
            <a:prstDash val="solid"/>
          </a:ln>
        </p:spPr>
      </p:sp>
      <p:sp>
        <p:nvSpPr>
          <p:cNvPr id="34" name="Text 32"/>
          <p:cNvSpPr txBox="1"/>
          <p:nvPr/>
        </p:nvSpPr>
        <p:spPr>
          <a:xfrm>
            <a:off x="1013383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AI</a:t>
            </a:r>
            <a:endParaRPr lang="en-US" sz="1800" dirty="0"/>
          </a:p>
        </p:txBody>
      </p:sp>
      <p:sp>
        <p:nvSpPr>
          <p:cNvPr id="35" name="Text 33"/>
          <p:cNvSpPr txBox="1"/>
          <p:nvPr/>
        </p:nvSpPr>
        <p:spPr>
          <a:xfrm>
            <a:off x="9176004" y="2423160"/>
            <a:ext cx="2464308" cy="320040"/>
          </a:xfrm>
          <a:prstGeom prst="rect">
            <a:avLst/>
          </a:prstGeom>
          <a:noFill/>
          <a:ln/>
        </p:spPr>
        <p:txBody>
          <a:bodyPr wrap="square" lIns="0" tIns="0" rIns="0" bIns="0" rtlCol="0" anchor="ctr"/>
          <a:lstStyle/>
          <a:p>
            <a:pPr algn="ctr" indent="0" marL="0">
              <a:buNone/>
            </a:pPr>
            <a:r>
              <a:rPr lang="en-US" sz="1400" b="1" dirty="0">
                <a:solidFill>
                  <a:srgbClr val="1F2430"/>
                </a:solidFill>
                <a:latin typeface="Calibri" pitchFamily="34" charset="0"/>
                <a:ea typeface="Calibri" pitchFamily="34" charset="-122"/>
                <a:cs typeface="Calibri" pitchFamily="34" charset="-120"/>
              </a:rPr>
              <a:t>AI agent</a:t>
            </a:r>
            <a:endParaRPr lang="en-US" sz="1400" dirty="0"/>
          </a:p>
        </p:txBody>
      </p:sp>
      <p:sp>
        <p:nvSpPr>
          <p:cNvPr id="36" name="Shape 34"/>
          <p:cNvSpPr/>
          <p:nvPr/>
        </p:nvSpPr>
        <p:spPr>
          <a:xfrm>
            <a:off x="9267444" y="2807208"/>
            <a:ext cx="2281428" cy="228600"/>
          </a:xfrm>
          <a:prstGeom prst="roundRect">
            <a:avLst>
              <a:gd name="adj" fmla="val 48000"/>
            </a:avLst>
          </a:prstGeom>
          <a:solidFill>
            <a:srgbClr val="FFFFFF"/>
          </a:solidFill>
          <a:ln w="12700">
            <a:solidFill>
              <a:srgbClr val="FFFFFF"/>
            </a:solidFill>
            <a:prstDash val="solid"/>
          </a:ln>
        </p:spPr>
      </p:sp>
      <p:sp>
        <p:nvSpPr>
          <p:cNvPr id="37" name="Text 35"/>
          <p:cNvSpPr txBox="1"/>
          <p:nvPr/>
        </p:nvSpPr>
        <p:spPr>
          <a:xfrm>
            <a:off x="9267444" y="2807208"/>
            <a:ext cx="2281428" cy="228600"/>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no roles: never approves</a:t>
            </a:r>
            <a:endParaRPr lang="en-US" sz="1000" dirty="0"/>
          </a:p>
        </p:txBody>
      </p:sp>
      <p:sp>
        <p:nvSpPr>
          <p:cNvPr id="38" name="Shape 36"/>
          <p:cNvSpPr/>
          <p:nvPr/>
        </p:nvSpPr>
        <p:spPr>
          <a:xfrm>
            <a:off x="457200" y="3931920"/>
            <a:ext cx="5500116" cy="1783080"/>
          </a:xfrm>
          <a:prstGeom prst="roundRect">
            <a:avLst>
              <a:gd name="adj" fmla="val 5128"/>
            </a:avLst>
          </a:prstGeom>
          <a:solidFill>
            <a:srgbClr val="1F2430"/>
          </a:solidFill>
          <a:ln w="12700">
            <a:solidFill>
              <a:srgbClr val="1F2430"/>
            </a:solidFill>
            <a:prstDash val="solid"/>
          </a:ln>
        </p:spPr>
      </p:sp>
      <p:sp>
        <p:nvSpPr>
          <p:cNvPr id="39" name="Shape 37"/>
          <p:cNvSpPr/>
          <p:nvPr/>
        </p:nvSpPr>
        <p:spPr>
          <a:xfrm>
            <a:off x="594360" y="4069080"/>
            <a:ext cx="1371600" cy="274320"/>
          </a:xfrm>
          <a:prstGeom prst="roundRect">
            <a:avLst>
              <a:gd name="adj" fmla="val 50000"/>
            </a:avLst>
          </a:prstGeom>
          <a:solidFill>
            <a:srgbClr val="2D8CFF"/>
          </a:solidFill>
          <a:ln w="12700">
            <a:solidFill>
              <a:srgbClr val="2D8CFF"/>
            </a:solidFill>
            <a:prstDash val="solid"/>
          </a:ln>
        </p:spPr>
      </p:sp>
      <p:sp>
        <p:nvSpPr>
          <p:cNvPr id="40" name="Text 38"/>
          <p:cNvSpPr txBox="1"/>
          <p:nvPr/>
        </p:nvSpPr>
        <p:spPr>
          <a:xfrm>
            <a:off x="594360" y="4069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41" name="Text 39"/>
          <p:cNvSpPr txBox="1"/>
          <p:nvPr/>
        </p:nvSpPr>
        <p:spPr>
          <a:xfrm>
            <a:off x="4814316" y="4069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42" name="Text 40"/>
          <p:cNvSpPr txBox="1"/>
          <p:nvPr/>
        </p:nvSpPr>
        <p:spPr>
          <a:xfrm>
            <a:off x="594360" y="4462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roles check</a:t>
            </a:r>
            <a:endParaRPr lang="en-US" sz="1100" dirty="0"/>
          </a:p>
        </p:txBody>
      </p:sp>
      <p:sp>
        <p:nvSpPr>
          <p:cNvPr id="43" name="Text 41"/>
          <p:cNvSpPr txBox="1"/>
          <p:nvPr/>
        </p:nvSpPr>
        <p:spPr>
          <a:xfrm>
            <a:off x="594360" y="4754880"/>
            <a:ext cx="5225796" cy="82296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ID     Name          Roles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alice  Alice Walker  product-owner, release-manager, maintainer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bob    Bob Turner    engineer, tech-lead, code-owner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carol  Carol Hughes  engineer, code-owner</a:t>
            </a:r>
            <a:endParaRPr lang="en-US" sz="1000" dirty="0"/>
          </a:p>
        </p:txBody>
      </p:sp>
      <p:sp>
        <p:nvSpPr>
          <p:cNvPr id="44" name="Text 42"/>
          <p:cNvSpPr txBox="1"/>
          <p:nvPr/>
        </p:nvSpPr>
        <p:spPr>
          <a:xfrm>
            <a:off x="457200" y="578815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Who holds which role.</a:t>
            </a:r>
            <a:endParaRPr lang="en-US" sz="1100" dirty="0"/>
          </a:p>
        </p:txBody>
      </p:sp>
      <p:sp>
        <p:nvSpPr>
          <p:cNvPr id="45" name="Shape 43"/>
          <p:cNvSpPr/>
          <p:nvPr/>
        </p:nvSpPr>
        <p:spPr>
          <a:xfrm>
            <a:off x="6231636" y="3931920"/>
            <a:ext cx="5500116" cy="1783080"/>
          </a:xfrm>
          <a:prstGeom prst="roundRect">
            <a:avLst>
              <a:gd name="adj" fmla="val 5128"/>
            </a:avLst>
          </a:prstGeom>
          <a:solidFill>
            <a:srgbClr val="1F2430"/>
          </a:solidFill>
          <a:ln w="12700">
            <a:solidFill>
              <a:srgbClr val="1F2430"/>
            </a:solidFill>
            <a:prstDash val="solid"/>
          </a:ln>
        </p:spPr>
      </p:sp>
      <p:sp>
        <p:nvSpPr>
          <p:cNvPr id="46" name="Shape 44"/>
          <p:cNvSpPr/>
          <p:nvPr/>
        </p:nvSpPr>
        <p:spPr>
          <a:xfrm>
            <a:off x="6368796" y="4069080"/>
            <a:ext cx="1371600" cy="274320"/>
          </a:xfrm>
          <a:prstGeom prst="roundRect">
            <a:avLst>
              <a:gd name="adj" fmla="val 50000"/>
            </a:avLst>
          </a:prstGeom>
          <a:solidFill>
            <a:srgbClr val="F2A541"/>
          </a:solidFill>
          <a:ln w="12700">
            <a:solidFill>
              <a:srgbClr val="F2A541"/>
            </a:solidFill>
            <a:prstDash val="solid"/>
          </a:ln>
        </p:spPr>
      </p:sp>
      <p:sp>
        <p:nvSpPr>
          <p:cNvPr id="47" name="Text 45"/>
          <p:cNvSpPr txBox="1"/>
          <p:nvPr/>
        </p:nvSpPr>
        <p:spPr>
          <a:xfrm>
            <a:off x="6368796" y="4069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48" name="Text 46"/>
          <p:cNvSpPr txBox="1"/>
          <p:nvPr/>
        </p:nvSpPr>
        <p:spPr>
          <a:xfrm>
            <a:off x="10588752" y="4069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49" name="Text 47"/>
          <p:cNvSpPr txBox="1"/>
          <p:nvPr/>
        </p:nvSpPr>
        <p:spPr>
          <a:xfrm>
            <a:off x="6368796" y="4462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roles migrate</a:t>
            </a:r>
            <a:endParaRPr lang="en-US" sz="1100" dirty="0"/>
          </a:p>
        </p:txBody>
      </p:sp>
      <p:sp>
        <p:nvSpPr>
          <p:cNvPr id="50" name="Text 48"/>
          <p:cNvSpPr txBox="1"/>
          <p:nvPr/>
        </p:nvSpPr>
        <p:spPr>
          <a:xfrm>
            <a:off x="6368796" y="4754880"/>
            <a:ext cx="5225796" cy="82296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Only a person may migrate roles.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 Run it yourself in your own terminal, not in the agent chat (a</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command there runs in the agent's shell): sdlc roles migrate</a:t>
            </a:r>
            <a:endParaRPr lang="en-US" sz="1000" dirty="0"/>
          </a:p>
        </p:txBody>
      </p:sp>
      <p:sp>
        <p:nvSpPr>
          <p:cNvPr id="51" name="Text 49"/>
          <p:cNvSpPr txBox="1"/>
          <p:nvPr/>
        </p:nvSpPr>
        <p:spPr>
          <a:xfrm>
            <a:off x="6231636" y="578815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An agent cannot write the roles file.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The path of a change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An idea is explored, lands in the backlog, becomes a change and passes gates. Each gate is approved by a person, bound to the</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exact content.</a:t>
            </a:r>
            <a:endParaRPr lang="en-US" sz="1400" dirty="0"/>
          </a:p>
        </p:txBody>
      </p:sp>
      <p:sp>
        <p:nvSpPr>
          <p:cNvPr id="4" name="Shape 2"/>
          <p:cNvSpPr/>
          <p:nvPr/>
        </p:nvSpPr>
        <p:spPr>
          <a:xfrm>
            <a:off x="969264" y="2464308"/>
            <a:ext cx="10250424" cy="27432"/>
          </a:xfrm>
          <a:prstGeom prst="rect">
            <a:avLst/>
          </a:prstGeom>
          <a:solidFill>
            <a:srgbClr val="C5CAD3"/>
          </a:solidFill>
          <a:ln w="12700">
            <a:solidFill>
              <a:srgbClr val="C5CAD3"/>
            </a:solidFill>
            <a:prstDash val="solid"/>
          </a:ln>
        </p:spPr>
      </p:sp>
      <p:sp>
        <p:nvSpPr>
          <p:cNvPr id="5" name="Shape 3"/>
          <p:cNvSpPr/>
          <p:nvPr/>
        </p:nvSpPr>
        <p:spPr>
          <a:xfrm>
            <a:off x="640080" y="2148840"/>
            <a:ext cx="658368" cy="658368"/>
          </a:xfrm>
          <a:prstGeom prst="ellipse">
            <a:avLst/>
          </a:prstGeom>
          <a:solidFill>
            <a:srgbClr val="F2A541"/>
          </a:solidFill>
          <a:ln w="19050">
            <a:solidFill>
              <a:srgbClr val="F2A541"/>
            </a:solidFill>
            <a:prstDash val="solid"/>
          </a:ln>
        </p:spPr>
      </p:sp>
      <p:sp>
        <p:nvSpPr>
          <p:cNvPr id="6" name="Text 4"/>
          <p:cNvSpPr txBox="1"/>
          <p:nvPr/>
        </p:nvSpPr>
        <p:spPr>
          <a:xfrm>
            <a:off x="640080"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399796"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Explore</a:t>
            </a:r>
            <a:endParaRPr lang="en-US" sz="1300" dirty="0"/>
          </a:p>
        </p:txBody>
      </p:sp>
      <p:sp>
        <p:nvSpPr>
          <p:cNvPr id="8" name="Shape 6"/>
          <p:cNvSpPr/>
          <p:nvPr/>
        </p:nvSpPr>
        <p:spPr>
          <a:xfrm>
            <a:off x="1779016" y="2148840"/>
            <a:ext cx="658368" cy="658368"/>
          </a:xfrm>
          <a:prstGeom prst="ellipse">
            <a:avLst/>
          </a:prstGeom>
          <a:solidFill>
            <a:srgbClr val="F2A541"/>
          </a:solidFill>
          <a:ln w="19050">
            <a:solidFill>
              <a:srgbClr val="F2A541"/>
            </a:solidFill>
            <a:prstDash val="solid"/>
          </a:ln>
        </p:spPr>
      </p:sp>
      <p:sp>
        <p:nvSpPr>
          <p:cNvPr id="9" name="Text 7"/>
          <p:cNvSpPr txBox="1"/>
          <p:nvPr/>
        </p:nvSpPr>
        <p:spPr>
          <a:xfrm>
            <a:off x="1779016"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538732"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Backlog</a:t>
            </a:r>
            <a:endParaRPr lang="en-US" sz="1300" dirty="0"/>
          </a:p>
        </p:txBody>
      </p:sp>
      <p:sp>
        <p:nvSpPr>
          <p:cNvPr id="11" name="Shape 9"/>
          <p:cNvSpPr/>
          <p:nvPr/>
        </p:nvSpPr>
        <p:spPr>
          <a:xfrm>
            <a:off x="2917952" y="2148840"/>
            <a:ext cx="658368" cy="658368"/>
          </a:xfrm>
          <a:prstGeom prst="ellipse">
            <a:avLst/>
          </a:prstGeom>
          <a:solidFill>
            <a:srgbClr val="F2A541"/>
          </a:solidFill>
          <a:ln w="19050">
            <a:solidFill>
              <a:srgbClr val="F2A541"/>
            </a:solidFill>
            <a:prstDash val="solid"/>
          </a:ln>
        </p:spPr>
      </p:sp>
      <p:sp>
        <p:nvSpPr>
          <p:cNvPr id="12" name="Text 10"/>
          <p:cNvSpPr txBox="1"/>
          <p:nvPr/>
        </p:nvSpPr>
        <p:spPr>
          <a:xfrm>
            <a:off x="2917952"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2677668"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Intent</a:t>
            </a:r>
            <a:endParaRPr lang="en-US" sz="1300" dirty="0"/>
          </a:p>
        </p:txBody>
      </p:sp>
      <p:sp>
        <p:nvSpPr>
          <p:cNvPr id="14" name="Shape 12"/>
          <p:cNvSpPr/>
          <p:nvPr/>
        </p:nvSpPr>
        <p:spPr>
          <a:xfrm>
            <a:off x="4056888" y="2148840"/>
            <a:ext cx="658368" cy="658368"/>
          </a:xfrm>
          <a:prstGeom prst="ellipse">
            <a:avLst/>
          </a:prstGeom>
          <a:solidFill>
            <a:srgbClr val="F2A541"/>
          </a:solidFill>
          <a:ln w="19050">
            <a:solidFill>
              <a:srgbClr val="F2A541"/>
            </a:solidFill>
            <a:prstDash val="solid"/>
          </a:ln>
        </p:spPr>
      </p:sp>
      <p:sp>
        <p:nvSpPr>
          <p:cNvPr id="15" name="Text 13"/>
          <p:cNvSpPr txBox="1"/>
          <p:nvPr/>
        </p:nvSpPr>
        <p:spPr>
          <a:xfrm>
            <a:off x="4056888"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3816604"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Spec</a:t>
            </a:r>
            <a:endParaRPr lang="en-US" sz="1300" dirty="0"/>
          </a:p>
        </p:txBody>
      </p:sp>
      <p:sp>
        <p:nvSpPr>
          <p:cNvPr id="17" name="Shape 15"/>
          <p:cNvSpPr/>
          <p:nvPr/>
        </p:nvSpPr>
        <p:spPr>
          <a:xfrm>
            <a:off x="5195824" y="2148840"/>
            <a:ext cx="658368" cy="658368"/>
          </a:xfrm>
          <a:prstGeom prst="ellipse">
            <a:avLst/>
          </a:prstGeom>
          <a:solidFill>
            <a:srgbClr val="F2A541"/>
          </a:solidFill>
          <a:ln w="19050">
            <a:solidFill>
              <a:srgbClr val="F2A541"/>
            </a:solidFill>
            <a:prstDash val="solid"/>
          </a:ln>
        </p:spPr>
      </p:sp>
      <p:sp>
        <p:nvSpPr>
          <p:cNvPr id="18" name="Text 16"/>
          <p:cNvSpPr txBox="1"/>
          <p:nvPr/>
        </p:nvSpPr>
        <p:spPr>
          <a:xfrm>
            <a:off x="5195824"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4955540"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Plan</a:t>
            </a:r>
            <a:endParaRPr lang="en-US" sz="1300" dirty="0"/>
          </a:p>
        </p:txBody>
      </p:sp>
      <p:sp>
        <p:nvSpPr>
          <p:cNvPr id="20" name="Shape 18"/>
          <p:cNvSpPr/>
          <p:nvPr/>
        </p:nvSpPr>
        <p:spPr>
          <a:xfrm>
            <a:off x="6334760" y="2148840"/>
            <a:ext cx="658368" cy="658368"/>
          </a:xfrm>
          <a:prstGeom prst="ellipse">
            <a:avLst/>
          </a:prstGeom>
          <a:solidFill>
            <a:srgbClr val="F2A541"/>
          </a:solidFill>
          <a:ln w="19050">
            <a:solidFill>
              <a:srgbClr val="F2A541"/>
            </a:solidFill>
            <a:prstDash val="solid"/>
          </a:ln>
        </p:spPr>
      </p:sp>
      <p:sp>
        <p:nvSpPr>
          <p:cNvPr id="21" name="Text 19"/>
          <p:cNvSpPr txBox="1"/>
          <p:nvPr/>
        </p:nvSpPr>
        <p:spPr>
          <a:xfrm>
            <a:off x="6334760"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2" name="Text 20"/>
          <p:cNvSpPr txBox="1"/>
          <p:nvPr/>
        </p:nvSpPr>
        <p:spPr>
          <a:xfrm>
            <a:off x="6094476"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Build</a:t>
            </a:r>
            <a:endParaRPr lang="en-US" sz="1300" dirty="0"/>
          </a:p>
        </p:txBody>
      </p:sp>
      <p:sp>
        <p:nvSpPr>
          <p:cNvPr id="23" name="Shape 21"/>
          <p:cNvSpPr/>
          <p:nvPr/>
        </p:nvSpPr>
        <p:spPr>
          <a:xfrm>
            <a:off x="7473696" y="2148840"/>
            <a:ext cx="658368" cy="658368"/>
          </a:xfrm>
          <a:prstGeom prst="ellipse">
            <a:avLst/>
          </a:prstGeom>
          <a:solidFill>
            <a:srgbClr val="F2A541"/>
          </a:solidFill>
          <a:ln w="19050">
            <a:solidFill>
              <a:srgbClr val="F2A541"/>
            </a:solidFill>
            <a:prstDash val="solid"/>
          </a:ln>
        </p:spPr>
      </p:sp>
      <p:sp>
        <p:nvSpPr>
          <p:cNvPr id="24" name="Text 22"/>
          <p:cNvSpPr txBox="1"/>
          <p:nvPr/>
        </p:nvSpPr>
        <p:spPr>
          <a:xfrm>
            <a:off x="7473696"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5" name="Text 23"/>
          <p:cNvSpPr txBox="1"/>
          <p:nvPr/>
        </p:nvSpPr>
        <p:spPr>
          <a:xfrm>
            <a:off x="7233412"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Verify</a:t>
            </a:r>
            <a:endParaRPr lang="en-US" sz="1300" dirty="0"/>
          </a:p>
        </p:txBody>
      </p:sp>
      <p:sp>
        <p:nvSpPr>
          <p:cNvPr id="26" name="Shape 24"/>
          <p:cNvSpPr/>
          <p:nvPr/>
        </p:nvSpPr>
        <p:spPr>
          <a:xfrm>
            <a:off x="8612632" y="2148840"/>
            <a:ext cx="658368" cy="658368"/>
          </a:xfrm>
          <a:prstGeom prst="ellipse">
            <a:avLst/>
          </a:prstGeom>
          <a:solidFill>
            <a:srgbClr val="F2A541"/>
          </a:solidFill>
          <a:ln w="19050">
            <a:solidFill>
              <a:srgbClr val="F2A541"/>
            </a:solidFill>
            <a:prstDash val="solid"/>
          </a:ln>
        </p:spPr>
      </p:sp>
      <p:sp>
        <p:nvSpPr>
          <p:cNvPr id="27" name="Text 25"/>
          <p:cNvSpPr txBox="1"/>
          <p:nvPr/>
        </p:nvSpPr>
        <p:spPr>
          <a:xfrm>
            <a:off x="8612632"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8" name="Text 26"/>
          <p:cNvSpPr txBox="1"/>
          <p:nvPr/>
        </p:nvSpPr>
        <p:spPr>
          <a:xfrm>
            <a:off x="8372348"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Review</a:t>
            </a:r>
            <a:endParaRPr lang="en-US" sz="1300" dirty="0"/>
          </a:p>
        </p:txBody>
      </p:sp>
      <p:sp>
        <p:nvSpPr>
          <p:cNvPr id="29" name="Shape 27"/>
          <p:cNvSpPr/>
          <p:nvPr/>
        </p:nvSpPr>
        <p:spPr>
          <a:xfrm>
            <a:off x="9751568" y="2148840"/>
            <a:ext cx="658368" cy="658368"/>
          </a:xfrm>
          <a:prstGeom prst="ellipse">
            <a:avLst/>
          </a:prstGeom>
          <a:solidFill>
            <a:srgbClr val="F2A541"/>
          </a:solidFill>
          <a:ln w="19050">
            <a:solidFill>
              <a:srgbClr val="F2A541"/>
            </a:solidFill>
            <a:prstDash val="solid"/>
          </a:ln>
        </p:spPr>
      </p:sp>
      <p:sp>
        <p:nvSpPr>
          <p:cNvPr id="30" name="Text 28"/>
          <p:cNvSpPr txBox="1"/>
          <p:nvPr/>
        </p:nvSpPr>
        <p:spPr>
          <a:xfrm>
            <a:off x="9751568"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31" name="Text 29"/>
          <p:cNvSpPr txBox="1"/>
          <p:nvPr/>
        </p:nvSpPr>
        <p:spPr>
          <a:xfrm>
            <a:off x="9511284"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Release</a:t>
            </a:r>
            <a:endParaRPr lang="en-US" sz="1300" dirty="0"/>
          </a:p>
        </p:txBody>
      </p:sp>
      <p:sp>
        <p:nvSpPr>
          <p:cNvPr id="32" name="Shape 30"/>
          <p:cNvSpPr/>
          <p:nvPr/>
        </p:nvSpPr>
        <p:spPr>
          <a:xfrm>
            <a:off x="10890504" y="2148840"/>
            <a:ext cx="658368" cy="658368"/>
          </a:xfrm>
          <a:prstGeom prst="ellipse">
            <a:avLst/>
          </a:prstGeom>
          <a:solidFill>
            <a:srgbClr val="F2A541"/>
          </a:solidFill>
          <a:ln w="19050">
            <a:solidFill>
              <a:srgbClr val="F2A541"/>
            </a:solidFill>
            <a:prstDash val="solid"/>
          </a:ln>
        </p:spPr>
      </p:sp>
      <p:sp>
        <p:nvSpPr>
          <p:cNvPr id="33" name="Text 31"/>
          <p:cNvSpPr txBox="1"/>
          <p:nvPr/>
        </p:nvSpPr>
        <p:spPr>
          <a:xfrm>
            <a:off x="10890504" y="2148840"/>
            <a:ext cx="658368"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34" name="Text 32"/>
          <p:cNvSpPr txBox="1"/>
          <p:nvPr/>
        </p:nvSpPr>
        <p:spPr>
          <a:xfrm>
            <a:off x="10650220" y="2880360"/>
            <a:ext cx="1138936" cy="274320"/>
          </a:xfrm>
          <a:prstGeom prst="rect">
            <a:avLst/>
          </a:prstGeom>
          <a:noFill/>
          <a:ln/>
        </p:spPr>
        <p:txBody>
          <a:bodyPr wrap="square" lIns="0" tIns="0" rIns="0" bIns="0" rtlCol="0" anchor="ctr"/>
          <a:lstStyle/>
          <a:p>
            <a:pPr algn="ctr" indent="0" marL="0">
              <a:buNone/>
            </a:pPr>
            <a:r>
              <a:rPr lang="en-US" sz="1300" dirty="0">
                <a:solidFill>
                  <a:srgbClr val="5B6475"/>
                </a:solidFill>
                <a:latin typeface="Calibri" pitchFamily="34" charset="0"/>
                <a:ea typeface="Calibri" pitchFamily="34" charset="-122"/>
                <a:cs typeface="Calibri" pitchFamily="34" charset="-120"/>
              </a:rPr>
              <a:t>Archive</a:t>
            </a:r>
            <a:endParaRPr lang="en-US" sz="1300" dirty="0"/>
          </a:p>
        </p:txBody>
      </p:sp>
      <p:sp>
        <p:nvSpPr>
          <p:cNvPr id="35" name="Shape 33"/>
          <p:cNvSpPr/>
          <p:nvPr/>
        </p:nvSpPr>
        <p:spPr>
          <a:xfrm>
            <a:off x="557784" y="3611880"/>
            <a:ext cx="1961896" cy="27432"/>
          </a:xfrm>
          <a:prstGeom prst="rect">
            <a:avLst/>
          </a:prstGeom>
          <a:solidFill>
            <a:srgbClr val="F2A541"/>
          </a:solidFill>
          <a:ln w="12700">
            <a:solidFill>
              <a:srgbClr val="F2A541"/>
            </a:solidFill>
            <a:prstDash val="solid"/>
          </a:ln>
        </p:spPr>
      </p:sp>
      <p:sp>
        <p:nvSpPr>
          <p:cNvPr id="36" name="Text 34"/>
          <p:cNvSpPr txBox="1"/>
          <p:nvPr/>
        </p:nvSpPr>
        <p:spPr>
          <a:xfrm>
            <a:off x="557784" y="3749040"/>
            <a:ext cx="1961896" cy="320040"/>
          </a:xfrm>
          <a:prstGeom prst="rect">
            <a:avLst/>
          </a:prstGeom>
          <a:noFill/>
          <a:ln/>
        </p:spPr>
        <p:txBody>
          <a:bodyPr wrap="square" lIns="0" tIns="0" rIns="0" bIns="0" rtlCol="0" anchor="ctr"/>
          <a:lstStyle/>
          <a:p>
            <a:pPr algn="ctr" indent="0" marL="0">
              <a:buNone/>
            </a:pPr>
            <a:r>
              <a:rPr lang="en-US" sz="1500" b="1" dirty="0">
                <a:solidFill>
                  <a:srgbClr val="F2A541"/>
                </a:solidFill>
                <a:latin typeface="Calibri" pitchFamily="34" charset="0"/>
                <a:ea typeface="Calibri" pitchFamily="34" charset="-122"/>
                <a:cs typeface="Calibri" pitchFamily="34" charset="-120"/>
              </a:rPr>
              <a:t>Idea</a:t>
            </a:r>
            <a:endParaRPr lang="en-US" sz="1500" dirty="0"/>
          </a:p>
        </p:txBody>
      </p:sp>
      <p:sp>
        <p:nvSpPr>
          <p:cNvPr id="37" name="Text 35"/>
          <p:cNvSpPr txBox="1"/>
          <p:nvPr/>
        </p:nvSpPr>
        <p:spPr>
          <a:xfrm>
            <a:off x="557784" y="4114800"/>
            <a:ext cx="1961896" cy="1097280"/>
          </a:xfrm>
          <a:prstGeom prst="rect">
            <a:avLst/>
          </a:prstGeom>
          <a:noFill/>
          <a:ln/>
        </p:spPr>
        <p:txBody>
          <a:bodyPr wrap="square" lIns="0" tIns="0" rIns="0" bIns="0" rtlCol="0" anchor="t"/>
          <a:lstStyle/>
          <a:p>
            <a:pPr algn="ctr" indent="0" marL="0">
              <a:buNone/>
            </a:pPr>
            <a:r>
              <a:rPr lang="en-US" sz="1200" dirty="0">
                <a:solidFill>
                  <a:srgbClr val="5B6475"/>
                </a:solidFill>
                <a:latin typeface="Calibri" pitchFamily="34" charset="0"/>
                <a:ea typeface="Calibri" pitchFamily="34" charset="-122"/>
                <a:cs typeface="Calibri" pitchFamily="34" charset="-120"/>
              </a:rPr>
              <a:t>Research the idea, then</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plan it as backlog items</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with an outcome and</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acceptance criteria.</a:t>
            </a:r>
            <a:endParaRPr lang="en-US" sz="1200" dirty="0"/>
          </a:p>
        </p:txBody>
      </p:sp>
      <p:sp>
        <p:nvSpPr>
          <p:cNvPr id="38" name="Shape 36"/>
          <p:cNvSpPr/>
          <p:nvPr/>
        </p:nvSpPr>
        <p:spPr>
          <a:xfrm>
            <a:off x="2835656" y="3611880"/>
            <a:ext cx="6517640" cy="27432"/>
          </a:xfrm>
          <a:prstGeom prst="rect">
            <a:avLst/>
          </a:prstGeom>
          <a:solidFill>
            <a:srgbClr val="F2A541"/>
          </a:solidFill>
          <a:ln w="12700">
            <a:solidFill>
              <a:srgbClr val="F2A541"/>
            </a:solidFill>
            <a:prstDash val="solid"/>
          </a:ln>
        </p:spPr>
      </p:sp>
      <p:sp>
        <p:nvSpPr>
          <p:cNvPr id="39" name="Text 37"/>
          <p:cNvSpPr txBox="1"/>
          <p:nvPr/>
        </p:nvSpPr>
        <p:spPr>
          <a:xfrm>
            <a:off x="2835656" y="3749040"/>
            <a:ext cx="6517640" cy="320040"/>
          </a:xfrm>
          <a:prstGeom prst="rect">
            <a:avLst/>
          </a:prstGeom>
          <a:noFill/>
          <a:ln/>
        </p:spPr>
        <p:txBody>
          <a:bodyPr wrap="square" lIns="0" tIns="0" rIns="0" bIns="0" rtlCol="0" anchor="ctr"/>
          <a:lstStyle/>
          <a:p>
            <a:pPr algn="ctr" indent="0" marL="0">
              <a:buNone/>
            </a:pPr>
            <a:r>
              <a:rPr lang="en-US" sz="1500" b="1" dirty="0">
                <a:solidFill>
                  <a:srgbClr val="F2A541"/>
                </a:solidFill>
                <a:latin typeface="Calibri" pitchFamily="34" charset="0"/>
                <a:ea typeface="Calibri" pitchFamily="34" charset="-122"/>
                <a:cs typeface="Calibri" pitchFamily="34" charset="-120"/>
              </a:rPr>
              <a:t>Gates approved by people</a:t>
            </a:r>
            <a:endParaRPr lang="en-US" sz="1500" dirty="0"/>
          </a:p>
        </p:txBody>
      </p:sp>
      <p:sp>
        <p:nvSpPr>
          <p:cNvPr id="40" name="Text 38"/>
          <p:cNvSpPr txBox="1"/>
          <p:nvPr/>
        </p:nvSpPr>
        <p:spPr>
          <a:xfrm>
            <a:off x="2835656" y="4114800"/>
            <a:ext cx="6517640" cy="1097280"/>
          </a:xfrm>
          <a:prstGeom prst="rect">
            <a:avLst/>
          </a:prstGeom>
          <a:noFill/>
          <a:ln/>
        </p:spPr>
        <p:txBody>
          <a:bodyPr wrap="square" lIns="0" tIns="0" rIns="0" bIns="0" rtlCol="0" anchor="t"/>
          <a:lstStyle/>
          <a:p>
            <a:pPr algn="ctr" indent="0" marL="0">
              <a:buNone/>
            </a:pPr>
            <a:r>
              <a:rPr lang="en-US" sz="1200" dirty="0">
                <a:solidFill>
                  <a:srgbClr val="5B6475"/>
                </a:solidFill>
                <a:latin typeface="Calibri" pitchFamily="34" charset="0"/>
                <a:ea typeface="Calibri" pitchFamily="34" charset="-122"/>
                <a:cs typeface="Calibri" pitchFamily="34" charset="-120"/>
              </a:rPr>
              <a:t>Agents write intent, spec, plan, code, evidence and review; a person with the right</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role approves each.</a:t>
            </a:r>
            <a:endParaRPr lang="en-US" sz="1200" dirty="0"/>
          </a:p>
        </p:txBody>
      </p:sp>
      <p:sp>
        <p:nvSpPr>
          <p:cNvPr id="41" name="Shape 39"/>
          <p:cNvSpPr/>
          <p:nvPr/>
        </p:nvSpPr>
        <p:spPr>
          <a:xfrm>
            <a:off x="9669272" y="3611880"/>
            <a:ext cx="1961896" cy="27432"/>
          </a:xfrm>
          <a:prstGeom prst="rect">
            <a:avLst/>
          </a:prstGeom>
          <a:solidFill>
            <a:srgbClr val="F2A541"/>
          </a:solidFill>
          <a:ln w="12700">
            <a:solidFill>
              <a:srgbClr val="F2A541"/>
            </a:solidFill>
            <a:prstDash val="solid"/>
          </a:ln>
        </p:spPr>
      </p:sp>
      <p:sp>
        <p:nvSpPr>
          <p:cNvPr id="42" name="Text 40"/>
          <p:cNvSpPr txBox="1"/>
          <p:nvPr/>
        </p:nvSpPr>
        <p:spPr>
          <a:xfrm>
            <a:off x="9669272" y="3749040"/>
            <a:ext cx="1961896" cy="320040"/>
          </a:xfrm>
          <a:prstGeom prst="rect">
            <a:avLst/>
          </a:prstGeom>
          <a:noFill/>
          <a:ln/>
        </p:spPr>
        <p:txBody>
          <a:bodyPr wrap="square" lIns="0" tIns="0" rIns="0" bIns="0" rtlCol="0" anchor="ctr"/>
          <a:lstStyle/>
          <a:p>
            <a:pPr algn="ctr" indent="0" marL="0">
              <a:buNone/>
            </a:pPr>
            <a:r>
              <a:rPr lang="en-US" sz="1500" b="1" dirty="0">
                <a:solidFill>
                  <a:srgbClr val="F2A541"/>
                </a:solidFill>
                <a:latin typeface="Calibri" pitchFamily="34" charset="0"/>
                <a:ea typeface="Calibri" pitchFamily="34" charset="-122"/>
                <a:cs typeface="Calibri" pitchFamily="34" charset="-120"/>
              </a:rPr>
              <a:t>Release</a:t>
            </a:r>
            <a:endParaRPr lang="en-US" sz="1500" dirty="0"/>
          </a:p>
        </p:txBody>
      </p:sp>
      <p:sp>
        <p:nvSpPr>
          <p:cNvPr id="43" name="Text 41"/>
          <p:cNvSpPr txBox="1"/>
          <p:nvPr/>
        </p:nvSpPr>
        <p:spPr>
          <a:xfrm>
            <a:off x="9669272" y="4114800"/>
            <a:ext cx="1961896" cy="1097280"/>
          </a:xfrm>
          <a:prstGeom prst="rect">
            <a:avLst/>
          </a:prstGeom>
          <a:noFill/>
          <a:ln/>
        </p:spPr>
        <p:txBody>
          <a:bodyPr wrap="square" lIns="0" tIns="0" rIns="0" bIns="0" rtlCol="0" anchor="t"/>
          <a:lstStyle/>
          <a:p>
            <a:pPr algn="ctr" indent="0" marL="0">
              <a:buNone/>
            </a:pPr>
            <a:r>
              <a:rPr lang="en-US" sz="1200" dirty="0">
                <a:solidFill>
                  <a:srgbClr val="5B6475"/>
                </a:solidFill>
                <a:latin typeface="Calibri" pitchFamily="34" charset="0"/>
                <a:ea typeface="Calibri" pitchFamily="34" charset="-122"/>
                <a:cs typeface="Calibri" pitchFamily="34" charset="-120"/>
              </a:rPr>
              <a:t>The release manager</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authorises; the delta</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merges into the living</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spec.</a:t>
            </a:r>
            <a:endParaRPr lang="en-US" sz="1200" dirty="0"/>
          </a:p>
        </p:txBody>
      </p:sp>
      <p:sp>
        <p:nvSpPr>
          <p:cNvPr id="44" name="Shape 42"/>
          <p:cNvSpPr/>
          <p:nvPr/>
        </p:nvSpPr>
        <p:spPr>
          <a:xfrm>
            <a:off x="457200" y="5532120"/>
            <a:ext cx="11274552" cy="685800"/>
          </a:xfrm>
          <a:prstGeom prst="roundRect">
            <a:avLst>
              <a:gd name="adj" fmla="val 13333"/>
            </a:avLst>
          </a:prstGeom>
          <a:solidFill>
            <a:srgbClr val="F3F5F8"/>
          </a:solidFill>
          <a:ln w="12700">
            <a:solidFill>
              <a:srgbClr val="F3F5F8"/>
            </a:solidFill>
            <a:prstDash val="solid"/>
          </a:ln>
        </p:spPr>
      </p:sp>
      <p:sp>
        <p:nvSpPr>
          <p:cNvPr id="45" name="Text 43"/>
          <p:cNvSpPr txBox="1"/>
          <p:nvPr/>
        </p:nvSpPr>
        <p:spPr>
          <a:xfrm>
            <a:off x="685800" y="5532120"/>
            <a:ext cx="10817352" cy="685800"/>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Spec layer: OpenSpec (changes, delta specs, validation, living specs). sdlc adds the people, gates, evidence and</a:t>
            </a:r>
            <a:endParaRPr lang="en-US" sz="1400" dirty="0"/>
          </a:p>
          <a:p>
            <a:pPr indent="0" marL="0">
              <a:buNone/>
            </a:pPr>
            <a:r>
              <a:rPr lang="en-US" sz="1400" dirty="0">
                <a:solidFill>
                  <a:srgbClr val="1F2430"/>
                </a:solidFill>
                <a:latin typeface="Calibri" pitchFamily="34" charset="0"/>
                <a:ea typeface="Calibri" pitchFamily="34" charset="-122"/>
                <a:cs typeface="Calibri" pitchFamily="34" charset="-120"/>
              </a:rPr>
              <a:t>guardrails around 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Setup: one command, two tools</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Alice installs sdlc for Claude Code and OpenCode; an agent makes the repository AI-ready.</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7C5CFF"/>
          </a:solidFill>
          <a:ln w="12700">
            <a:solidFill>
              <a:srgbClr val="7C5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init --tools claude,opencode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--statusline</a:t>
            </a:r>
            <a:endParaRPr lang="en-US" sz="1100" dirty="0"/>
          </a:p>
        </p:txBody>
      </p:sp>
      <p:sp>
        <p:nvSpPr>
          <p:cNvPr id="9" name="Text 7"/>
          <p:cNvSpPr txBox="1"/>
          <p:nvPr/>
        </p:nvSpPr>
        <p:spPr>
          <a:xfrm>
            <a:off x="594360"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SDLC harness initialized in till-calculator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OpenSpec: created openspec/ (via openspec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init), default schema: sdlc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config: created openspec/sdlc.yaml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(enforcement: warn)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verify.commands detected: npm test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(package.json scripts.test)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review policy: created REVIEW.md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tools: Claude Code, OpenCode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 0.25.0, license: community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(PolyForm-Noncommercial-1.0.0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sdlc-Additional-Permissions-1.0)</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git hook .git/hooks/prepare-commit-msg: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Alice installs sdlc for Claude Code and OpenCode,</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with the status line.</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layout check</a:t>
            </a:r>
            <a:endParaRPr lang="en-US" sz="1100" dirty="0"/>
          </a:p>
        </p:txBody>
      </p:sp>
      <p:sp>
        <p:nvSpPr>
          <p:cNvPr id="16" name="Text 14"/>
          <p:cNvSpPr txBox="1"/>
          <p:nvPr/>
        </p:nvSpPr>
        <p:spPr>
          <a:xfrm>
            <a:off x="4443984"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Role | Status | Path | Purpose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agents-guide | missing | - | Main guide for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coding agents (read by OpenCode; imported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by CLAUDE.md).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claude-guide | missing | - | Thin Claude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Code entry point: imports AGENTS.md, adds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Claude-only notes.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readme | canonical | README.md | What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project is and how a person starts with</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review-policy | canonical | REVIEW.md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Review passes and severities used by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/sdlc:review.</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architecture | missing | - | System map:</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modules, boundaries, data flows, external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Is the project AI-ready? Not yet.</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F2A541"/>
          </a:solidFill>
          <a:ln w="12700">
            <a:solidFill>
              <a:srgbClr val="F2A541"/>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layout scaffold</a:t>
            </a:r>
            <a:endParaRPr lang="en-US" sz="1100" dirty="0"/>
          </a:p>
        </p:txBody>
      </p:sp>
      <p:sp>
        <p:nvSpPr>
          <p:cNvPr id="23" name="Text 21"/>
          <p:cNvSpPr txBox="1"/>
          <p:nvPr/>
        </p:nvSpPr>
        <p:spPr>
          <a:xfrm>
            <a:off x="8293608"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Created: AGENTS.md, CLAUDE.md,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docs/architecture.md, docs/conventions.md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docs/glossary.md, docs/runbook.md,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docs/security.md, docs/decisions/0001-rec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ord-architecture-decisions.md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Kept: README.md, REVIEW.md</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agent creates AGENTS.md, CLAUDE.md and the docs</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skeleton.</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61569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doctor</a:t>
            </a:r>
            <a:endParaRPr lang="en-US" sz="1000" dirty="0"/>
          </a:p>
        </p:txBody>
      </p:sp>
      <p:sp>
        <p:nvSpPr>
          <p:cNvPr id="28" name="Shape 26"/>
          <p:cNvSpPr/>
          <p:nvPr/>
        </p:nvSpPr>
        <p:spPr>
          <a:xfrm>
            <a:off x="2947416" y="6053328"/>
            <a:ext cx="61569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2947416"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health</a:t>
            </a:r>
            <a:endParaRPr lang="en-US" sz="1000" dirty="0"/>
          </a:p>
        </p:txBody>
      </p:sp>
      <p:sp>
        <p:nvSpPr>
          <p:cNvPr id="30" name="Shape 28"/>
          <p:cNvSpPr/>
          <p:nvPr/>
        </p:nvSpPr>
        <p:spPr>
          <a:xfrm>
            <a:off x="3654552" y="6053328"/>
            <a:ext cx="68173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3654552" y="6053328"/>
            <a:ext cx="6817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license</a:t>
            </a:r>
            <a:endParaRPr lang="en-US" sz="1000" dirty="0"/>
          </a:p>
        </p:txBody>
      </p:sp>
      <p:sp>
        <p:nvSpPr>
          <p:cNvPr id="32" name="Shape 30"/>
          <p:cNvSpPr/>
          <p:nvPr/>
        </p:nvSpPr>
        <p:spPr>
          <a:xfrm>
            <a:off x="4427728" y="6053328"/>
            <a:ext cx="48361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4427728" y="6053328"/>
            <a:ext cx="4836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help</a:t>
            </a:r>
            <a:endParaRPr lang="en-US" sz="1000" dirty="0"/>
          </a:p>
        </p:txBody>
      </p:sp>
      <p:sp>
        <p:nvSpPr>
          <p:cNvPr id="34" name="Shape 32"/>
          <p:cNvSpPr/>
          <p:nvPr/>
        </p:nvSpPr>
        <p:spPr>
          <a:xfrm>
            <a:off x="5002784" y="6053328"/>
            <a:ext cx="54965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5002784" y="6053328"/>
            <a:ext cx="5496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guide</a:t>
            </a:r>
            <a:endParaRPr lang="en-US" sz="1000" dirty="0"/>
          </a:p>
        </p:txBody>
      </p:sp>
      <p:sp>
        <p:nvSpPr>
          <p:cNvPr id="36" name="Shape 34"/>
          <p:cNvSpPr/>
          <p:nvPr/>
        </p:nvSpPr>
        <p:spPr>
          <a:xfrm>
            <a:off x="5643880" y="6053328"/>
            <a:ext cx="1011936" cy="256032"/>
          </a:xfrm>
          <a:prstGeom prst="roundRect">
            <a:avLst>
              <a:gd name="adj" fmla="val 50000"/>
            </a:avLst>
          </a:prstGeom>
          <a:solidFill>
            <a:srgbClr val="F3F5F8"/>
          </a:solidFill>
          <a:ln w="12700">
            <a:solidFill>
              <a:srgbClr val="F3F5F8"/>
            </a:solidFill>
            <a:prstDash val="solid"/>
          </a:ln>
        </p:spPr>
      </p:sp>
      <p:sp>
        <p:nvSpPr>
          <p:cNvPr id="37" name="Text 35"/>
          <p:cNvSpPr txBox="1"/>
          <p:nvPr/>
        </p:nvSpPr>
        <p:spPr>
          <a:xfrm>
            <a:off x="5643880"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layout adapt</a:t>
            </a:r>
            <a:endParaRPr lang="en-US" sz="1000" dirty="0"/>
          </a:p>
        </p:txBody>
      </p:sp>
      <p:sp>
        <p:nvSpPr>
          <p:cNvPr id="38" name="Shape 36"/>
          <p:cNvSpPr/>
          <p:nvPr/>
        </p:nvSpPr>
        <p:spPr>
          <a:xfrm>
            <a:off x="6747256" y="6053328"/>
            <a:ext cx="1144016" cy="256032"/>
          </a:xfrm>
          <a:prstGeom prst="roundRect">
            <a:avLst>
              <a:gd name="adj" fmla="val 50000"/>
            </a:avLst>
          </a:prstGeom>
          <a:solidFill>
            <a:srgbClr val="F3F5F8"/>
          </a:solidFill>
          <a:ln w="12700">
            <a:solidFill>
              <a:srgbClr val="F3F5F8"/>
            </a:solidFill>
            <a:prstDash val="solid"/>
          </a:ln>
        </p:spPr>
      </p:sp>
      <p:sp>
        <p:nvSpPr>
          <p:cNvPr id="39" name="Text 37"/>
          <p:cNvSpPr txBox="1"/>
          <p:nvPr/>
        </p:nvSpPr>
        <p:spPr>
          <a:xfrm>
            <a:off x="6747256" y="6053328"/>
            <a:ext cx="11440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layout convert</a:t>
            </a:r>
            <a:endParaRPr lang="en-US" sz="1000" dirty="0"/>
          </a:p>
        </p:txBody>
      </p:sp>
      <p:sp>
        <p:nvSpPr>
          <p:cNvPr id="40" name="Shape 38"/>
          <p:cNvSpPr/>
          <p:nvPr/>
        </p:nvSpPr>
        <p:spPr>
          <a:xfrm>
            <a:off x="7982712" y="6053328"/>
            <a:ext cx="549656" cy="256032"/>
          </a:xfrm>
          <a:prstGeom prst="roundRect">
            <a:avLst>
              <a:gd name="adj" fmla="val 50000"/>
            </a:avLst>
          </a:prstGeom>
          <a:solidFill>
            <a:srgbClr val="F3F5F8"/>
          </a:solidFill>
          <a:ln w="12700">
            <a:solidFill>
              <a:srgbClr val="F3F5F8"/>
            </a:solidFill>
            <a:prstDash val="solid"/>
          </a:ln>
        </p:spPr>
      </p:sp>
      <p:sp>
        <p:nvSpPr>
          <p:cNvPr id="41" name="Text 39"/>
          <p:cNvSpPr txBox="1"/>
          <p:nvPr/>
        </p:nvSpPr>
        <p:spPr>
          <a:xfrm>
            <a:off x="7982712" y="6053328"/>
            <a:ext cx="5496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adopt</a:t>
            </a:r>
            <a:endParaRPr lang="en-US" sz="1000" dirty="0"/>
          </a:p>
        </p:txBody>
      </p:sp>
      <p:sp>
        <p:nvSpPr>
          <p:cNvPr id="42" name="Shape 40"/>
          <p:cNvSpPr/>
          <p:nvPr/>
        </p:nvSpPr>
        <p:spPr>
          <a:xfrm>
            <a:off x="8623808" y="6053328"/>
            <a:ext cx="615696" cy="256032"/>
          </a:xfrm>
          <a:prstGeom prst="roundRect">
            <a:avLst>
              <a:gd name="adj" fmla="val 50000"/>
            </a:avLst>
          </a:prstGeom>
          <a:solidFill>
            <a:srgbClr val="F3F5F8"/>
          </a:solidFill>
          <a:ln w="12700">
            <a:solidFill>
              <a:srgbClr val="F3F5F8"/>
            </a:solidFill>
            <a:prstDash val="solid"/>
          </a:ln>
        </p:spPr>
      </p:sp>
      <p:sp>
        <p:nvSpPr>
          <p:cNvPr id="43" name="Text 41"/>
          <p:cNvSpPr txBox="1"/>
          <p:nvPr/>
        </p:nvSpPr>
        <p:spPr>
          <a:xfrm>
            <a:off x="8623808"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update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Explore before committing</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Does the till need its own calculator? The agent researches and writes a recommendation; nothing is decided yet.</a:t>
            </a:r>
            <a:endParaRPr lang="en-US" sz="1400" dirty="0"/>
          </a:p>
        </p:txBody>
      </p:sp>
      <p:sp>
        <p:nvSpPr>
          <p:cNvPr id="4" name="Shape 2"/>
          <p:cNvSpPr/>
          <p:nvPr/>
        </p:nvSpPr>
        <p:spPr>
          <a:xfrm>
            <a:off x="457200" y="1645920"/>
            <a:ext cx="5500116" cy="4206240"/>
          </a:xfrm>
          <a:prstGeom prst="roundRect">
            <a:avLst>
              <a:gd name="adj" fmla="val 2174"/>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4814316"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explore calculator</a:t>
            </a:r>
            <a:endParaRPr lang="en-US" sz="1100" dirty="0"/>
          </a:p>
        </p:txBody>
      </p:sp>
      <p:sp>
        <p:nvSpPr>
          <p:cNvPr id="9" name="Text 7"/>
          <p:cNvSpPr txBox="1"/>
          <p:nvPr/>
        </p:nvSpPr>
        <p:spPr>
          <a:xfrm>
            <a:off x="594360" y="2468880"/>
            <a:ext cx="5225796"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Created exploration openspec/explorations/calculator.md</a:t>
            </a:r>
            <a:endParaRPr lang="en-US" sz="1000" dirty="0"/>
          </a:p>
        </p:txBody>
      </p:sp>
      <p:sp>
        <p:nvSpPr>
          <p:cNvPr id="10" name="Text 8"/>
          <p:cNvSpPr txBox="1"/>
          <p:nvPr/>
        </p:nvSpPr>
        <p:spPr>
          <a:xfrm>
            <a:off x="457200" y="59253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agent opens an exploration: does the till need its own calculator?</a:t>
            </a:r>
            <a:endParaRPr lang="en-US" sz="1100" dirty="0"/>
          </a:p>
        </p:txBody>
      </p:sp>
      <p:sp>
        <p:nvSpPr>
          <p:cNvPr id="11" name="Shape 9"/>
          <p:cNvSpPr/>
          <p:nvPr/>
        </p:nvSpPr>
        <p:spPr>
          <a:xfrm>
            <a:off x="6231636" y="1645920"/>
            <a:ext cx="5500116" cy="4206240"/>
          </a:xfrm>
          <a:prstGeom prst="roundRect">
            <a:avLst>
              <a:gd name="adj" fmla="val 2174"/>
            </a:avLst>
          </a:prstGeom>
          <a:solidFill>
            <a:srgbClr val="1F2430"/>
          </a:solidFill>
          <a:ln w="12700">
            <a:solidFill>
              <a:srgbClr val="1F2430"/>
            </a:solidFill>
            <a:prstDash val="solid"/>
          </a:ln>
        </p:spPr>
      </p:sp>
      <p:sp>
        <p:nvSpPr>
          <p:cNvPr id="12" name="Shape 10"/>
          <p:cNvSpPr/>
          <p:nvPr/>
        </p:nvSpPr>
        <p:spPr>
          <a:xfrm>
            <a:off x="6368796" y="1783080"/>
            <a:ext cx="1371600"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6368796"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6368796"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explore list</a:t>
            </a:r>
            <a:endParaRPr lang="en-US" sz="1100" dirty="0"/>
          </a:p>
        </p:txBody>
      </p:sp>
      <p:sp>
        <p:nvSpPr>
          <p:cNvPr id="16" name="Text 14"/>
          <p:cNvSpPr txBox="1"/>
          <p:nvPr/>
        </p:nvSpPr>
        <p:spPr>
          <a:xfrm>
            <a:off x="6368796" y="2468880"/>
            <a:ext cx="5225796"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calculator  openspec/explorations/calculator.md</a:t>
            </a:r>
            <a:endParaRPr lang="en-US" sz="1000" dirty="0"/>
          </a:p>
        </p:txBody>
      </p:sp>
      <p:sp>
        <p:nvSpPr>
          <p:cNvPr id="17" name="Text 15"/>
          <p:cNvSpPr txBox="1"/>
          <p:nvPr/>
        </p:nvSpPr>
        <p:spPr>
          <a:xfrm>
            <a:off x="6231636" y="59253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Explorations in the project.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The backlog: agents propose, people prioritise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Items carry an outcome, acceptance criteria and dependencies. Moving and dropping items is a product decision.</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backlog add Basic arithmetic</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--epic E1 --kind feature --risk low …</a:t>
            </a:r>
            <a:endParaRPr lang="en-US" sz="1100" dirty="0"/>
          </a:p>
        </p:txBody>
      </p:sp>
      <p:sp>
        <p:nvSpPr>
          <p:cNvPr id="9" name="Text 7"/>
          <p:cNvSpPr txBox="1"/>
          <p:nvPr/>
        </p:nvSpPr>
        <p:spPr>
          <a:xfrm>
            <a:off x="594360"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B1 Basic arithmetic</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First item, from the exploration.</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15" name="Text 13"/>
          <p:cNvSpPr txBox="1"/>
          <p:nvPr/>
        </p:nvSpPr>
        <p:spPr>
          <a:xfrm>
            <a:off x="4443984"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backlog move B3 --before B2</a:t>
            </a:r>
            <a:endParaRPr lang="en-US" sz="1100" dirty="0"/>
          </a:p>
        </p:txBody>
      </p:sp>
      <p:sp>
        <p:nvSpPr>
          <p:cNvPr id="16" name="Text 14"/>
          <p:cNvSpPr txBox="1"/>
          <p:nvPr/>
        </p:nvSpPr>
        <p:spPr>
          <a:xfrm>
            <a:off x="4443984"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Backlog priority is a product decision. Ask</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 person to run this command.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 Run it yourself in your own terminal,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not in the agent chat (a `!` command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there runs in the agent's shell): sdlc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backlog move B3 --before B2</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Priority is a person's decision: refused for the</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agent.</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2D8CFF"/>
          </a:solidFill>
          <a:ln w="12700">
            <a:solidFill>
              <a:srgbClr val="2D8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backlog list</a:t>
            </a:r>
            <a:endParaRPr lang="en-US" sz="1100" dirty="0"/>
          </a:p>
        </p:txBody>
      </p:sp>
      <p:sp>
        <p:nvSpPr>
          <p:cNvPr id="23" name="Text 21"/>
          <p:cNvSpPr txBox="1"/>
          <p:nvPr/>
        </p:nvSpPr>
        <p:spPr>
          <a:xfrm>
            <a:off x="8293608"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E1 Calculator MVP  ░░░░░░░░░░  0/3</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ID  Status  Ready  Title             Change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B1  open    ✓      Basic arithmetic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B3  open    -      Memory M+ / MR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B2  open    -      Percent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Unassigned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ID  Status   Ready  Title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Change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B4  dropped  -      Scientific notation  -</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backlog with readiness and the epic bar.</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127609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12760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epic add</a:t>
            </a:r>
            <a:endParaRPr lang="en-US" sz="1000" dirty="0"/>
          </a:p>
        </p:txBody>
      </p:sp>
      <p:sp>
        <p:nvSpPr>
          <p:cNvPr id="28" name="Shape 26"/>
          <p:cNvSpPr/>
          <p:nvPr/>
        </p:nvSpPr>
        <p:spPr>
          <a:xfrm>
            <a:off x="3607816" y="6053328"/>
            <a:ext cx="134213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3607816" y="6053328"/>
            <a:ext cx="13421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epic edit</a:t>
            </a:r>
            <a:endParaRPr lang="en-US" sz="1000" dirty="0"/>
          </a:p>
        </p:txBody>
      </p:sp>
      <p:sp>
        <p:nvSpPr>
          <p:cNvPr id="30" name="Shape 28"/>
          <p:cNvSpPr/>
          <p:nvPr/>
        </p:nvSpPr>
        <p:spPr>
          <a:xfrm>
            <a:off x="5041392" y="6053328"/>
            <a:ext cx="94589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5041392" y="6053328"/>
            <a:ext cx="9458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add</a:t>
            </a:r>
            <a:endParaRPr lang="en-US" sz="1000" dirty="0"/>
          </a:p>
        </p:txBody>
      </p:sp>
      <p:sp>
        <p:nvSpPr>
          <p:cNvPr id="32" name="Shape 30"/>
          <p:cNvSpPr/>
          <p:nvPr/>
        </p:nvSpPr>
        <p:spPr>
          <a:xfrm>
            <a:off x="6078728" y="6053328"/>
            <a:ext cx="101193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6078728"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move</a:t>
            </a:r>
            <a:endParaRPr lang="en-US" sz="1000" dirty="0"/>
          </a:p>
        </p:txBody>
      </p:sp>
      <p:sp>
        <p:nvSpPr>
          <p:cNvPr id="34" name="Shape 32"/>
          <p:cNvSpPr/>
          <p:nvPr/>
        </p:nvSpPr>
        <p:spPr>
          <a:xfrm>
            <a:off x="7182104" y="6053328"/>
            <a:ext cx="101193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7182104"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edit</a:t>
            </a:r>
            <a:endParaRPr lang="en-US" sz="1000" dirty="0"/>
          </a:p>
        </p:txBody>
      </p:sp>
      <p:sp>
        <p:nvSpPr>
          <p:cNvPr id="36" name="Shape 34"/>
          <p:cNvSpPr/>
          <p:nvPr/>
        </p:nvSpPr>
        <p:spPr>
          <a:xfrm>
            <a:off x="8285480" y="6053328"/>
            <a:ext cx="1011936" cy="256032"/>
          </a:xfrm>
          <a:prstGeom prst="roundRect">
            <a:avLst>
              <a:gd name="adj" fmla="val 50000"/>
            </a:avLst>
          </a:prstGeom>
          <a:solidFill>
            <a:srgbClr val="F3F5F8"/>
          </a:solidFill>
          <a:ln w="12700">
            <a:solidFill>
              <a:srgbClr val="F3F5F8"/>
            </a:solidFill>
            <a:prstDash val="solid"/>
          </a:ln>
        </p:spPr>
      </p:sp>
      <p:sp>
        <p:nvSpPr>
          <p:cNvPr id="37" name="Text 35"/>
          <p:cNvSpPr txBox="1"/>
          <p:nvPr/>
        </p:nvSpPr>
        <p:spPr>
          <a:xfrm>
            <a:off x="8285480"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drop</a:t>
            </a:r>
            <a:endParaRPr lang="en-US" sz="1000" dirty="0"/>
          </a:p>
        </p:txBody>
      </p:sp>
      <p:sp>
        <p:nvSpPr>
          <p:cNvPr id="38" name="Shape 36"/>
          <p:cNvSpPr/>
          <p:nvPr/>
        </p:nvSpPr>
        <p:spPr>
          <a:xfrm>
            <a:off x="9388856" y="6053328"/>
            <a:ext cx="1011936" cy="256032"/>
          </a:xfrm>
          <a:prstGeom prst="roundRect">
            <a:avLst>
              <a:gd name="adj" fmla="val 50000"/>
            </a:avLst>
          </a:prstGeom>
          <a:solidFill>
            <a:srgbClr val="F3F5F8"/>
          </a:solidFill>
          <a:ln w="12700">
            <a:solidFill>
              <a:srgbClr val="F3F5F8"/>
            </a:solidFill>
            <a:prstDash val="solid"/>
          </a:ln>
        </p:spPr>
      </p:sp>
      <p:sp>
        <p:nvSpPr>
          <p:cNvPr id="39" name="Text 37"/>
          <p:cNvSpPr txBox="1"/>
          <p:nvPr/>
        </p:nvSpPr>
        <p:spPr>
          <a:xfrm>
            <a:off x="9388856"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next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From item to change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`next` points at the ready item; the change starts with a draft intent. The track is suggested, but only a person may choose</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it.</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next</a:t>
            </a:r>
            <a:endParaRPr lang="en-US" sz="1100" dirty="0"/>
          </a:p>
        </p:txBody>
      </p:sp>
      <p:sp>
        <p:nvSpPr>
          <p:cNvPr id="9" name="Text 7"/>
          <p:cNvSpPr txBox="1"/>
          <p:nvPr/>
        </p:nvSpPr>
        <p:spPr>
          <a:xfrm>
            <a:off x="594360"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B1: Start backlog item B1: Basic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 backlog start B1</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No active change: next proposes the backlog item.</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backlog start B1 --change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16" name="Text 14"/>
          <p:cNvSpPr txBox="1"/>
          <p:nvPr/>
        </p:nvSpPr>
        <p:spPr>
          <a:xfrm>
            <a:off x="4443984"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Started B1 as 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Write intent (intent.md) for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 intent gate. (/sdlc:intent)</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 change with a draft intent from the item.</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2D8CFF"/>
          </a:solidFill>
          <a:ln w="12700">
            <a:solidFill>
              <a:srgbClr val="2D8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status --change basic-arithmetic</a:t>
            </a:r>
            <a:endParaRPr lang="en-US" sz="1100" dirty="0"/>
          </a:p>
        </p:txBody>
      </p:sp>
      <p:sp>
        <p:nvSpPr>
          <p:cNvPr id="23" name="Text 21"/>
          <p:cNvSpPr txBox="1"/>
          <p:nvPr/>
        </p:nvSpPr>
        <p:spPr>
          <a:xfrm>
            <a:off x="8293608"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basic-arithmetic  [feature · risk low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full track · schema sdlc]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stage     Plan (intent)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source    backlog B1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artifacts intent ✓  proposal ○  specs ·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design ·  plan ·  tasks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 ● ─ spec ○ ─ plan ○ ─ build ○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verify ○ ─ review ○ ─ archive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tasks     none yet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gates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   … pending            awaiting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approval (product-owner; 0 of 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spec     · blocked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artifacts: proposal, specs, design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plan     · blocked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stepper: intent is current.</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81381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track set</a:t>
            </a:r>
            <a:endParaRPr lang="en-US" sz="1000" dirty="0"/>
          </a:p>
        </p:txBody>
      </p:sp>
      <p:sp>
        <p:nvSpPr>
          <p:cNvPr id="28" name="Shape 26"/>
          <p:cNvSpPr/>
          <p:nvPr/>
        </p:nvSpPr>
        <p:spPr>
          <a:xfrm>
            <a:off x="3145536" y="6053328"/>
            <a:ext cx="101193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3145536"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instructions</a:t>
            </a:r>
            <a:endParaRPr lang="en-US" sz="1000" dirty="0"/>
          </a:p>
        </p:txBody>
      </p:sp>
      <p:sp>
        <p:nvSpPr>
          <p:cNvPr id="30" name="Shape 28"/>
          <p:cNvSpPr/>
          <p:nvPr/>
        </p:nvSpPr>
        <p:spPr>
          <a:xfrm>
            <a:off x="4248912" y="6053328"/>
            <a:ext cx="74777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4248912" y="6053328"/>
            <a:ext cx="74777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takeover</a:t>
            </a:r>
            <a:endParaRPr lang="en-US" sz="1000" dirty="0"/>
          </a:p>
        </p:txBody>
      </p:sp>
      <p:sp>
        <p:nvSpPr>
          <p:cNvPr id="32" name="Shape 30"/>
          <p:cNvSpPr/>
          <p:nvPr/>
        </p:nvSpPr>
        <p:spPr>
          <a:xfrm>
            <a:off x="5088128" y="6053328"/>
            <a:ext cx="121005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5088128" y="6053328"/>
            <a:ext cx="12100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release-control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Gates: the right person, or no one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The agent cannot approve. Bob is not the product owner. Alice approves the intent and the spec; Bob, the engineer, the plan.</a:t>
            </a:r>
            <a:endParaRPr lang="en-US" sz="1400" dirty="0"/>
          </a:p>
        </p:txBody>
      </p:sp>
      <p:sp>
        <p:nvSpPr>
          <p:cNvPr id="4" name="Shape 2"/>
          <p:cNvSpPr/>
          <p:nvPr/>
        </p:nvSpPr>
        <p:spPr>
          <a:xfrm>
            <a:off x="457200" y="1645920"/>
            <a:ext cx="2612898" cy="3749040"/>
          </a:xfrm>
          <a:prstGeom prst="roundRect">
            <a:avLst>
              <a:gd name="adj" fmla="val 3500"/>
            </a:avLst>
          </a:prstGeom>
          <a:solidFill>
            <a:srgbClr val="1F2430"/>
          </a:solidFill>
          <a:ln w="12700">
            <a:solidFill>
              <a:srgbClr val="1F2430"/>
            </a:solidFill>
            <a:prstDash val="solid"/>
          </a:ln>
        </p:spPr>
      </p:sp>
      <p:sp>
        <p:nvSpPr>
          <p:cNvPr id="5" name="Shape 3"/>
          <p:cNvSpPr/>
          <p:nvPr/>
        </p:nvSpPr>
        <p:spPr>
          <a:xfrm>
            <a:off x="594360" y="1783080"/>
            <a:ext cx="1045159"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045159"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1927098" y="1783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8" name="Text 6"/>
          <p:cNvSpPr txBox="1"/>
          <p:nvPr/>
        </p:nvSpPr>
        <p:spPr>
          <a:xfrm>
            <a:off x="594360" y="2176272"/>
            <a:ext cx="2338578"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intent</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--change basic-arithmetic</a:t>
            </a:r>
            <a:endParaRPr lang="en-US" sz="1100" dirty="0"/>
          </a:p>
        </p:txBody>
      </p:sp>
      <p:sp>
        <p:nvSpPr>
          <p:cNvPr id="9" name="Text 7"/>
          <p:cNvSpPr txBox="1"/>
          <p:nvPr/>
        </p:nvSpPr>
        <p:spPr>
          <a:xfrm>
            <a:off x="594360" y="2651760"/>
            <a:ext cx="2338578"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`sdlc approve` records a human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decision and cannot run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inside an agent session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(claude-code).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 Run it yourself in your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own terminal, not in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agent chat (a `!` command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there runs in the agent's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shell): sdlc approve 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--change basic-arithmetic</a:t>
            </a:r>
            <a:endParaRPr lang="en-US" sz="1000" dirty="0"/>
          </a:p>
        </p:txBody>
      </p:sp>
      <p:sp>
        <p:nvSpPr>
          <p:cNvPr id="10" name="Text 8"/>
          <p:cNvSpPr txBox="1"/>
          <p:nvPr/>
        </p:nvSpPr>
        <p:spPr>
          <a:xfrm>
            <a:off x="457200" y="5468112"/>
            <a:ext cx="2612898"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agent cannot approve.</a:t>
            </a:r>
            <a:endParaRPr lang="en-US" sz="1100" dirty="0"/>
          </a:p>
        </p:txBody>
      </p:sp>
      <p:sp>
        <p:nvSpPr>
          <p:cNvPr id="11" name="Shape 9"/>
          <p:cNvSpPr/>
          <p:nvPr/>
        </p:nvSpPr>
        <p:spPr>
          <a:xfrm>
            <a:off x="3344418" y="1645920"/>
            <a:ext cx="2612898" cy="3749040"/>
          </a:xfrm>
          <a:prstGeom prst="roundRect">
            <a:avLst>
              <a:gd name="adj" fmla="val 3500"/>
            </a:avLst>
          </a:prstGeom>
          <a:solidFill>
            <a:srgbClr val="1F2430"/>
          </a:solidFill>
          <a:ln w="12700">
            <a:solidFill>
              <a:srgbClr val="1F2430"/>
            </a:solidFill>
            <a:prstDash val="solid"/>
          </a:ln>
        </p:spPr>
      </p:sp>
      <p:sp>
        <p:nvSpPr>
          <p:cNvPr id="12" name="Shape 10"/>
          <p:cNvSpPr/>
          <p:nvPr/>
        </p:nvSpPr>
        <p:spPr>
          <a:xfrm>
            <a:off x="3481578" y="1783080"/>
            <a:ext cx="1045159"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3481578" y="1783080"/>
            <a:ext cx="1045159"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4814316" y="1783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15" name="Text 13"/>
          <p:cNvSpPr txBox="1"/>
          <p:nvPr/>
        </p:nvSpPr>
        <p:spPr>
          <a:xfrm>
            <a:off x="3481578" y="2176272"/>
            <a:ext cx="2338578"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intent</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--change basic-arithmetic</a:t>
            </a:r>
            <a:endParaRPr lang="en-US" sz="1100" dirty="0"/>
          </a:p>
        </p:txBody>
      </p:sp>
      <p:sp>
        <p:nvSpPr>
          <p:cNvPr id="16" name="Text 14"/>
          <p:cNvSpPr txBox="1"/>
          <p:nvPr/>
        </p:nvSpPr>
        <p:spPr>
          <a:xfrm>
            <a:off x="3481578" y="2651760"/>
            <a:ext cx="2338578"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Bob Turner does not hold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product-owner; ask Alice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Walker.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 Ask one of: Alice Walker.</a:t>
            </a:r>
            <a:endParaRPr lang="en-US" sz="1000" dirty="0"/>
          </a:p>
        </p:txBody>
      </p:sp>
      <p:sp>
        <p:nvSpPr>
          <p:cNvPr id="17" name="Text 15"/>
          <p:cNvSpPr txBox="1"/>
          <p:nvPr/>
        </p:nvSpPr>
        <p:spPr>
          <a:xfrm>
            <a:off x="3344418" y="5468112"/>
            <a:ext cx="2612898"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Bob is not the product owner.</a:t>
            </a:r>
            <a:endParaRPr lang="en-US" sz="1100" dirty="0"/>
          </a:p>
        </p:txBody>
      </p:sp>
      <p:sp>
        <p:nvSpPr>
          <p:cNvPr id="18" name="Shape 16"/>
          <p:cNvSpPr/>
          <p:nvPr/>
        </p:nvSpPr>
        <p:spPr>
          <a:xfrm>
            <a:off x="6231636" y="1645920"/>
            <a:ext cx="2612898" cy="3749040"/>
          </a:xfrm>
          <a:prstGeom prst="roundRect">
            <a:avLst>
              <a:gd name="adj" fmla="val 3500"/>
            </a:avLst>
          </a:prstGeom>
          <a:solidFill>
            <a:srgbClr val="1F2430"/>
          </a:solidFill>
          <a:ln w="12700">
            <a:solidFill>
              <a:srgbClr val="1F2430"/>
            </a:solidFill>
            <a:prstDash val="solid"/>
          </a:ln>
        </p:spPr>
      </p:sp>
      <p:sp>
        <p:nvSpPr>
          <p:cNvPr id="19" name="Shape 17"/>
          <p:cNvSpPr/>
          <p:nvPr/>
        </p:nvSpPr>
        <p:spPr>
          <a:xfrm>
            <a:off x="6368796" y="1783080"/>
            <a:ext cx="1045159" cy="274320"/>
          </a:xfrm>
          <a:prstGeom prst="roundRect">
            <a:avLst>
              <a:gd name="adj" fmla="val 50000"/>
            </a:avLst>
          </a:prstGeom>
          <a:solidFill>
            <a:srgbClr val="7C5CFF"/>
          </a:solidFill>
          <a:ln w="12700">
            <a:solidFill>
              <a:srgbClr val="7C5CFF"/>
            </a:solidFill>
            <a:prstDash val="solid"/>
          </a:ln>
        </p:spPr>
      </p:sp>
      <p:sp>
        <p:nvSpPr>
          <p:cNvPr id="20" name="Text 18"/>
          <p:cNvSpPr txBox="1"/>
          <p:nvPr/>
        </p:nvSpPr>
        <p:spPr>
          <a:xfrm>
            <a:off x="6368796" y="1783080"/>
            <a:ext cx="1045159"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21" name="Text 19"/>
          <p:cNvSpPr txBox="1"/>
          <p:nvPr/>
        </p:nvSpPr>
        <p:spPr>
          <a:xfrm>
            <a:off x="770153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6368796" y="2176272"/>
            <a:ext cx="2338578"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answer 1 --change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 --text No…</a:t>
            </a:r>
            <a:endParaRPr lang="en-US" sz="1100" dirty="0"/>
          </a:p>
        </p:txBody>
      </p:sp>
      <p:sp>
        <p:nvSpPr>
          <p:cNvPr id="23" name="Text 21"/>
          <p:cNvSpPr txBox="1"/>
          <p:nvPr/>
        </p:nvSpPr>
        <p:spPr>
          <a:xfrm>
            <a:off x="6368796" y="2651760"/>
            <a:ext cx="2338578"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Answer to question 1 of</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intent.md recorded by Alice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Walker &lt;alice@calc.example&gt;.</a:t>
            </a:r>
            <a:endParaRPr lang="en-US" sz="1000" dirty="0"/>
          </a:p>
        </p:txBody>
      </p:sp>
      <p:sp>
        <p:nvSpPr>
          <p:cNvPr id="24" name="Text 22"/>
          <p:cNvSpPr txBox="1"/>
          <p:nvPr/>
        </p:nvSpPr>
        <p:spPr>
          <a:xfrm>
            <a:off x="6231636" y="5468112"/>
            <a:ext cx="2612898"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Alice answers the open question of</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the intent herself: the agent cannot.</a:t>
            </a:r>
            <a:endParaRPr lang="en-US" sz="1100" dirty="0"/>
          </a:p>
        </p:txBody>
      </p:sp>
      <p:sp>
        <p:nvSpPr>
          <p:cNvPr id="25" name="Shape 23"/>
          <p:cNvSpPr/>
          <p:nvPr/>
        </p:nvSpPr>
        <p:spPr>
          <a:xfrm>
            <a:off x="9118854" y="1645920"/>
            <a:ext cx="2612898" cy="3749040"/>
          </a:xfrm>
          <a:prstGeom prst="roundRect">
            <a:avLst>
              <a:gd name="adj" fmla="val 3500"/>
            </a:avLst>
          </a:prstGeom>
          <a:solidFill>
            <a:srgbClr val="1F2430"/>
          </a:solidFill>
          <a:ln w="12700">
            <a:solidFill>
              <a:srgbClr val="1F2430"/>
            </a:solidFill>
            <a:prstDash val="solid"/>
          </a:ln>
        </p:spPr>
      </p:sp>
      <p:sp>
        <p:nvSpPr>
          <p:cNvPr id="26" name="Shape 24"/>
          <p:cNvSpPr/>
          <p:nvPr/>
        </p:nvSpPr>
        <p:spPr>
          <a:xfrm>
            <a:off x="9256014" y="1783080"/>
            <a:ext cx="1045159" cy="274320"/>
          </a:xfrm>
          <a:prstGeom prst="roundRect">
            <a:avLst>
              <a:gd name="adj" fmla="val 50000"/>
            </a:avLst>
          </a:prstGeom>
          <a:solidFill>
            <a:srgbClr val="7C5CFF"/>
          </a:solidFill>
          <a:ln w="12700">
            <a:solidFill>
              <a:srgbClr val="7C5CFF"/>
            </a:solidFill>
            <a:prstDash val="solid"/>
          </a:ln>
        </p:spPr>
      </p:sp>
      <p:sp>
        <p:nvSpPr>
          <p:cNvPr id="27" name="Text 25"/>
          <p:cNvSpPr txBox="1"/>
          <p:nvPr/>
        </p:nvSpPr>
        <p:spPr>
          <a:xfrm>
            <a:off x="9256014" y="1783080"/>
            <a:ext cx="1045159"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28" name="Text 26"/>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9" name="Text 27"/>
          <p:cNvSpPr txBox="1"/>
          <p:nvPr/>
        </p:nvSpPr>
        <p:spPr>
          <a:xfrm>
            <a:off x="9256014" y="2176272"/>
            <a:ext cx="2338578"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intent</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--change basic-arithmetic</a:t>
            </a:r>
            <a:endParaRPr lang="en-US" sz="1100" dirty="0"/>
          </a:p>
        </p:txBody>
      </p:sp>
      <p:sp>
        <p:nvSpPr>
          <p:cNvPr id="30" name="Text 28"/>
          <p:cNvSpPr txBox="1"/>
          <p:nvPr/>
        </p:nvSpPr>
        <p:spPr>
          <a:xfrm>
            <a:off x="9256014" y="2651760"/>
            <a:ext cx="2338578"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intent gate: Alice Walker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&lt;alice@calc.example&gt;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approved as product-owner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(807f8a04ffae)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Suggested commit message (its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trailer ties the commit to</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this approval):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git commit -m "chore(basic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-arithmetic): approve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 gate" -m "SDLC-Approv</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al: basic-arithmetic:intent: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807f8a04ffae"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Write proposal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31" name="Text 29"/>
          <p:cNvSpPr txBox="1"/>
          <p:nvPr/>
        </p:nvSpPr>
        <p:spPr>
          <a:xfrm>
            <a:off x="9118854" y="5468112"/>
            <a:ext cx="2612898"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Alice approves the intent.</a:t>
            </a:r>
            <a:endParaRPr lang="en-US" sz="1100" dirty="0"/>
          </a:p>
        </p:txBody>
      </p:sp>
      <p:sp>
        <p:nvSpPr>
          <p:cNvPr id="32" name="Text 30"/>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33" name="Shape 31"/>
          <p:cNvSpPr/>
          <p:nvPr/>
        </p:nvSpPr>
        <p:spPr>
          <a:xfrm>
            <a:off x="2240280" y="6053328"/>
            <a:ext cx="681736" cy="256032"/>
          </a:xfrm>
          <a:prstGeom prst="roundRect">
            <a:avLst>
              <a:gd name="adj" fmla="val 50000"/>
            </a:avLst>
          </a:prstGeom>
          <a:solidFill>
            <a:srgbClr val="F3F5F8"/>
          </a:solidFill>
          <a:ln w="12700">
            <a:solidFill>
              <a:srgbClr val="F3F5F8"/>
            </a:solidFill>
            <a:prstDash val="solid"/>
          </a:ln>
        </p:spPr>
      </p:sp>
      <p:sp>
        <p:nvSpPr>
          <p:cNvPr id="34" name="Text 32"/>
          <p:cNvSpPr txBox="1"/>
          <p:nvPr/>
        </p:nvSpPr>
        <p:spPr>
          <a:xfrm>
            <a:off x="2240280" y="6053328"/>
            <a:ext cx="6817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approve</a:t>
            </a:r>
            <a:endParaRPr lang="en-US" sz="1000" dirty="0"/>
          </a:p>
        </p:txBody>
      </p:sp>
      <p:sp>
        <p:nvSpPr>
          <p:cNvPr id="35" name="Shape 33"/>
          <p:cNvSpPr/>
          <p:nvPr/>
        </p:nvSpPr>
        <p:spPr>
          <a:xfrm>
            <a:off x="3013456" y="6053328"/>
            <a:ext cx="615696" cy="256032"/>
          </a:xfrm>
          <a:prstGeom prst="roundRect">
            <a:avLst>
              <a:gd name="adj" fmla="val 50000"/>
            </a:avLst>
          </a:prstGeom>
          <a:solidFill>
            <a:srgbClr val="F3F5F8"/>
          </a:solidFill>
          <a:ln w="12700">
            <a:solidFill>
              <a:srgbClr val="F3F5F8"/>
            </a:solidFill>
            <a:prstDash val="solid"/>
          </a:ln>
        </p:spPr>
      </p:sp>
      <p:sp>
        <p:nvSpPr>
          <p:cNvPr id="36" name="Text 34"/>
          <p:cNvSpPr txBox="1"/>
          <p:nvPr/>
        </p:nvSpPr>
        <p:spPr>
          <a:xfrm>
            <a:off x="3013456"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rework</a:t>
            </a:r>
            <a:endParaRPr lang="en-US" sz="1000" dirty="0"/>
          </a:p>
        </p:txBody>
      </p:sp>
      <p:sp>
        <p:nvSpPr>
          <p:cNvPr id="37" name="Shape 35"/>
          <p:cNvSpPr/>
          <p:nvPr/>
        </p:nvSpPr>
        <p:spPr>
          <a:xfrm>
            <a:off x="3720592" y="6053328"/>
            <a:ext cx="681736" cy="256032"/>
          </a:xfrm>
          <a:prstGeom prst="roundRect">
            <a:avLst>
              <a:gd name="adj" fmla="val 50000"/>
            </a:avLst>
          </a:prstGeom>
          <a:solidFill>
            <a:srgbClr val="F3F5F8"/>
          </a:solidFill>
          <a:ln w="12700">
            <a:solidFill>
              <a:srgbClr val="F3F5F8"/>
            </a:solidFill>
            <a:prstDash val="solid"/>
          </a:ln>
        </p:spPr>
      </p:sp>
      <p:sp>
        <p:nvSpPr>
          <p:cNvPr id="38" name="Text 36"/>
          <p:cNvSpPr txBox="1"/>
          <p:nvPr/>
        </p:nvSpPr>
        <p:spPr>
          <a:xfrm>
            <a:off x="3720592" y="6053328"/>
            <a:ext cx="6817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explain</a:t>
            </a:r>
            <a:endParaRPr lang="en-US" sz="1000" dirty="0"/>
          </a:p>
        </p:txBody>
      </p:sp>
      <p:sp>
        <p:nvSpPr>
          <p:cNvPr id="39" name="Shape 37"/>
          <p:cNvSpPr/>
          <p:nvPr/>
        </p:nvSpPr>
        <p:spPr>
          <a:xfrm>
            <a:off x="4493768" y="6053328"/>
            <a:ext cx="549656" cy="256032"/>
          </a:xfrm>
          <a:prstGeom prst="roundRect">
            <a:avLst>
              <a:gd name="adj" fmla="val 50000"/>
            </a:avLst>
          </a:prstGeom>
          <a:solidFill>
            <a:srgbClr val="F3F5F8"/>
          </a:solidFill>
          <a:ln w="12700">
            <a:solidFill>
              <a:srgbClr val="F3F5F8"/>
            </a:solidFill>
            <a:prstDash val="solid"/>
          </a:ln>
        </p:spPr>
      </p:sp>
      <p:sp>
        <p:nvSpPr>
          <p:cNvPr id="40" name="Text 38"/>
          <p:cNvSpPr txBox="1"/>
          <p:nvPr/>
        </p:nvSpPr>
        <p:spPr>
          <a:xfrm>
            <a:off x="4493768" y="6053328"/>
            <a:ext cx="5496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judge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OpenSpec underneath: the change is an OpenSpec change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sdlc does not fork OpenSpec. The change lives in openspec/changes and OpenSpec reads it as its own: list, status, deltas.</a:t>
            </a:r>
            <a:endParaRPr lang="en-US" sz="1400" dirty="0"/>
          </a:p>
        </p:txBody>
      </p:sp>
      <p:sp>
        <p:nvSpPr>
          <p:cNvPr id="4" name="Shape 2"/>
          <p:cNvSpPr/>
          <p:nvPr/>
        </p:nvSpPr>
        <p:spPr>
          <a:xfrm>
            <a:off x="457200" y="1645920"/>
            <a:ext cx="3575304" cy="42062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2D8CFF"/>
          </a:solidFill>
          <a:ln w="12700">
            <a:solidFill>
              <a:srgbClr val="2D8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list</a:t>
            </a:r>
            <a:endParaRPr lang="en-US" sz="1100" dirty="0"/>
          </a:p>
        </p:txBody>
      </p:sp>
      <p:sp>
        <p:nvSpPr>
          <p:cNvPr id="9" name="Text 7"/>
          <p:cNvSpPr txBox="1"/>
          <p:nvPr/>
        </p:nvSpPr>
        <p:spPr>
          <a:xfrm>
            <a:off x="594360" y="2468880"/>
            <a:ext cx="3300984"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Changes: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     0/2 tasks     just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now</a:t>
            </a:r>
            <a:endParaRPr lang="en-US" sz="1000" dirty="0"/>
          </a:p>
        </p:txBody>
      </p:sp>
      <p:sp>
        <p:nvSpPr>
          <p:cNvPr id="10" name="Text 8"/>
          <p:cNvSpPr txBox="1"/>
          <p:nvPr/>
        </p:nvSpPr>
        <p:spPr>
          <a:xfrm>
            <a:off x="457200"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OpenSpec lists the change like any of its own.</a:t>
            </a:r>
            <a:endParaRPr lang="en-US" sz="1100" dirty="0"/>
          </a:p>
        </p:txBody>
      </p:sp>
      <p:sp>
        <p:nvSpPr>
          <p:cNvPr id="11" name="Shape 9"/>
          <p:cNvSpPr/>
          <p:nvPr/>
        </p:nvSpPr>
        <p:spPr>
          <a:xfrm>
            <a:off x="4306824" y="1645920"/>
            <a:ext cx="3575304" cy="42062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status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16" name="Text 14"/>
          <p:cNvSpPr txBox="1"/>
          <p:nvPr/>
        </p:nvSpPr>
        <p:spPr>
          <a:xfrm>
            <a:off x="4443984" y="2651760"/>
            <a:ext cx="3300984" cy="30632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Change: 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Schema: sdlc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Change root: till-calculator\openspec\chang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es\basic-arithmetic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Progress: 6/6 artifacts complete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proposal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specs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design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plan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[x] tasks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All planning artifacts complete!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openspec instructions apply --change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 --json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Loading change status...</a:t>
            </a:r>
            <a:endParaRPr lang="en-US" sz="1000" dirty="0"/>
          </a:p>
        </p:txBody>
      </p:sp>
      <p:sp>
        <p:nvSpPr>
          <p:cNvPr id="17" name="Text 15"/>
          <p:cNvSpPr txBox="1"/>
          <p:nvPr/>
        </p:nvSpPr>
        <p:spPr>
          <a:xfrm>
            <a:off x="4306824"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Artifact completion by the sdlc schema, computed by</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OpenSpec.</a:t>
            </a:r>
            <a:endParaRPr lang="en-US" sz="1100" dirty="0"/>
          </a:p>
        </p:txBody>
      </p:sp>
      <p:sp>
        <p:nvSpPr>
          <p:cNvPr id="18" name="Shape 16"/>
          <p:cNvSpPr/>
          <p:nvPr/>
        </p:nvSpPr>
        <p:spPr>
          <a:xfrm>
            <a:off x="8156448" y="1645920"/>
            <a:ext cx="3575304" cy="42062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2D8CFF"/>
          </a:solidFill>
          <a:ln w="12700">
            <a:solidFill>
              <a:srgbClr val="2D8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show basic-arithmetic</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--json --deltas-only</a:t>
            </a:r>
            <a:endParaRPr lang="en-US" sz="1100" dirty="0"/>
          </a:p>
        </p:txBody>
      </p:sp>
      <p:sp>
        <p:nvSpPr>
          <p:cNvPr id="23" name="Text 21"/>
          <p:cNvSpPr txBox="1"/>
          <p:nvPr/>
        </p:nvSpPr>
        <p:spPr>
          <a:xfrm>
            <a:off x="8293608" y="2651760"/>
            <a:ext cx="3300984" cy="30632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"id": "basic-arithmetic",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"title": "basic-arithmetic",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"deltaCount": 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"deltas":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"spec": "calculator",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"operation": "ADDED",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"description": "Add requirement: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calculator SHALL add, subtract, multiply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and divide two numbers.",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"requirement":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"text": "The calculator SHALL add,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subtract, multiply and divide two</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numbers.",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"scenarios":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24" name="Text 22"/>
          <p:cNvSpPr txBox="1"/>
          <p:nvPr/>
        </p:nvSpPr>
        <p:spPr>
          <a:xfrm>
            <a:off x="8156448"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change as OpenSpec sees it: the ADDED</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requirement and its scenarios.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Delta specs and strict validation</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Requirements change as deltas (ADDED, MODIFIED, REMOVED). A requirement without a scenario is refused before anyone approves</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the spec.</a:t>
            </a:r>
            <a:endParaRPr lang="en-US" sz="1400" dirty="0"/>
          </a:p>
        </p:txBody>
      </p:sp>
      <p:sp>
        <p:nvSpPr>
          <p:cNvPr id="4" name="Shape 2"/>
          <p:cNvSpPr/>
          <p:nvPr/>
        </p:nvSpPr>
        <p:spPr>
          <a:xfrm>
            <a:off x="457200" y="1645920"/>
            <a:ext cx="3575304" cy="42062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8" name="Text 6"/>
          <p:cNvSpPr txBox="1"/>
          <p:nvPr/>
        </p:nvSpPr>
        <p:spPr>
          <a:xfrm>
            <a:off x="594360"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validate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9" name="Text 7"/>
          <p:cNvSpPr txBox="1"/>
          <p:nvPr/>
        </p:nvSpPr>
        <p:spPr>
          <a:xfrm>
            <a:off x="594360" y="2651760"/>
            <a:ext cx="3300984" cy="30632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error [openspec] calculator/spec.md: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ADDED "Basic operations" must include at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least one scenario</a:t>
            </a:r>
            <a:endParaRPr lang="en-US" sz="1000" dirty="0"/>
          </a:p>
        </p:txBody>
      </p:sp>
      <p:sp>
        <p:nvSpPr>
          <p:cNvPr id="10" name="Text 8"/>
          <p:cNvSpPr txBox="1"/>
          <p:nvPr/>
        </p:nvSpPr>
        <p:spPr>
          <a:xfrm>
            <a:off x="457200"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first draft has a requirement without a</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scenario: strict validation refuses it.</a:t>
            </a:r>
            <a:endParaRPr lang="en-US" sz="1100" dirty="0"/>
          </a:p>
        </p:txBody>
      </p:sp>
      <p:sp>
        <p:nvSpPr>
          <p:cNvPr id="11" name="Shape 9"/>
          <p:cNvSpPr/>
          <p:nvPr/>
        </p:nvSpPr>
        <p:spPr>
          <a:xfrm>
            <a:off x="4306824" y="1645920"/>
            <a:ext cx="3575304" cy="42062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validate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16" name="Text 14"/>
          <p:cNvSpPr txBox="1"/>
          <p:nvPr/>
        </p:nvSpPr>
        <p:spPr>
          <a:xfrm>
            <a:off x="4443984" y="2651760"/>
            <a:ext cx="3300984" cy="30632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basic-arithmetic</a:t>
            </a:r>
            <a:endParaRPr lang="en-US" sz="1000" dirty="0"/>
          </a:p>
        </p:txBody>
      </p:sp>
      <p:sp>
        <p:nvSpPr>
          <p:cNvPr id="17" name="Text 15"/>
          <p:cNvSpPr txBox="1"/>
          <p:nvPr/>
        </p:nvSpPr>
        <p:spPr>
          <a:xfrm>
            <a:off x="4306824"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With the scenarios added, OpenSpec strict</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validation and the delta target checks pass.</a:t>
            </a:r>
            <a:endParaRPr lang="en-US" sz="1100" dirty="0"/>
          </a:p>
        </p:txBody>
      </p:sp>
      <p:sp>
        <p:nvSpPr>
          <p:cNvPr id="18" name="Shape 16"/>
          <p:cNvSpPr/>
          <p:nvPr/>
        </p:nvSpPr>
        <p:spPr>
          <a:xfrm>
            <a:off x="8156448" y="1645920"/>
            <a:ext cx="3575304" cy="42062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2D8CFF"/>
          </a:solidFill>
          <a:ln w="12700">
            <a:solidFill>
              <a:srgbClr val="2D8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schema validate sdlc</a:t>
            </a:r>
            <a:endParaRPr lang="en-US" sz="1100" dirty="0"/>
          </a:p>
        </p:txBody>
      </p:sp>
      <p:sp>
        <p:nvSpPr>
          <p:cNvPr id="23" name="Text 21"/>
          <p:cNvSpPr txBox="1"/>
          <p:nvPr/>
        </p:nvSpPr>
        <p:spPr>
          <a:xfrm>
            <a:off x="8293608" y="2468880"/>
            <a:ext cx="3300984"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Schema 'sdlc' is valid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Note: Schema commands are experimental and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may change.</a:t>
            </a:r>
            <a:endParaRPr lang="en-US" sz="1000" dirty="0"/>
          </a:p>
        </p:txBody>
      </p:sp>
      <p:sp>
        <p:nvSpPr>
          <p:cNvPr id="24" name="Text 22"/>
          <p:cNvSpPr txBox="1"/>
          <p:nvPr/>
        </p:nvSpPr>
        <p:spPr>
          <a:xfrm>
            <a:off x="8156448" y="59253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sdlc schema is a standard OpenSpec schema.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51967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Build and verify with evidence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Bob writes the code on a branch. `verify` runs the real checks and records the evidence; every spec scenario needs a row.</a:t>
            </a:r>
            <a:endParaRPr lang="en-US" sz="1400" dirty="0"/>
          </a:p>
        </p:txBody>
      </p:sp>
      <p:sp>
        <p:nvSpPr>
          <p:cNvPr id="4" name="Shape 2"/>
          <p:cNvSpPr/>
          <p:nvPr/>
        </p:nvSpPr>
        <p:spPr>
          <a:xfrm>
            <a:off x="7360920" y="480060"/>
            <a:ext cx="4261104" cy="27432"/>
          </a:xfrm>
          <a:prstGeom prst="rect">
            <a:avLst/>
          </a:prstGeom>
          <a:solidFill>
            <a:srgbClr val="C5CAD3"/>
          </a:solidFill>
          <a:ln w="12700">
            <a:solidFill>
              <a:srgbClr val="C5CAD3"/>
            </a:solidFill>
            <a:prstDash val="solid"/>
          </a:ln>
        </p:spPr>
      </p:sp>
      <p:sp>
        <p:nvSpPr>
          <p:cNvPr id="5" name="Shape 3"/>
          <p:cNvSpPr/>
          <p:nvPr/>
        </p:nvSpPr>
        <p:spPr>
          <a:xfrm>
            <a:off x="7251192" y="384048"/>
            <a:ext cx="219456" cy="219456"/>
          </a:xfrm>
          <a:prstGeom prst="ellipse">
            <a:avLst/>
          </a:prstGeom>
          <a:solidFill>
            <a:srgbClr val="FFFFFF"/>
          </a:solidFill>
          <a:ln w="19050">
            <a:solidFill>
              <a:srgbClr val="C5CAD3"/>
            </a:solidFill>
            <a:prstDash val="solid"/>
          </a:ln>
        </p:spPr>
      </p:sp>
      <p:sp>
        <p:nvSpPr>
          <p:cNvPr id="6" name="Text 4"/>
          <p:cNvSpPr txBox="1"/>
          <p:nvPr/>
        </p:nvSpPr>
        <p:spPr>
          <a:xfrm>
            <a:off x="7124192"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Explore</a:t>
            </a:r>
            <a:endParaRPr lang="en-US" sz="800" dirty="0"/>
          </a:p>
        </p:txBody>
      </p:sp>
      <p:sp>
        <p:nvSpPr>
          <p:cNvPr id="7" name="Shape 5"/>
          <p:cNvSpPr/>
          <p:nvPr/>
        </p:nvSpPr>
        <p:spPr>
          <a:xfrm>
            <a:off x="7724648" y="384048"/>
            <a:ext cx="219456" cy="219456"/>
          </a:xfrm>
          <a:prstGeom prst="ellipse">
            <a:avLst/>
          </a:prstGeom>
          <a:solidFill>
            <a:srgbClr val="FFFFFF"/>
          </a:solidFill>
          <a:ln w="19050">
            <a:solidFill>
              <a:srgbClr val="C5CAD3"/>
            </a:solidFill>
            <a:prstDash val="solid"/>
          </a:ln>
        </p:spPr>
      </p:sp>
      <p:sp>
        <p:nvSpPr>
          <p:cNvPr id="8" name="Text 6"/>
          <p:cNvSpPr txBox="1"/>
          <p:nvPr/>
        </p:nvSpPr>
        <p:spPr>
          <a:xfrm>
            <a:off x="7597648"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Backlog</a:t>
            </a:r>
            <a:endParaRPr lang="en-US" sz="800" dirty="0"/>
          </a:p>
        </p:txBody>
      </p:sp>
      <p:sp>
        <p:nvSpPr>
          <p:cNvPr id="9" name="Shape 7"/>
          <p:cNvSpPr/>
          <p:nvPr/>
        </p:nvSpPr>
        <p:spPr>
          <a:xfrm>
            <a:off x="8198104" y="384048"/>
            <a:ext cx="219456" cy="219456"/>
          </a:xfrm>
          <a:prstGeom prst="ellipse">
            <a:avLst/>
          </a:prstGeom>
          <a:solidFill>
            <a:srgbClr val="FFFFFF"/>
          </a:solidFill>
          <a:ln w="19050">
            <a:solidFill>
              <a:srgbClr val="C5CAD3"/>
            </a:solidFill>
            <a:prstDash val="solid"/>
          </a:ln>
        </p:spPr>
      </p:sp>
      <p:sp>
        <p:nvSpPr>
          <p:cNvPr id="10" name="Text 8"/>
          <p:cNvSpPr txBox="1"/>
          <p:nvPr/>
        </p:nvSpPr>
        <p:spPr>
          <a:xfrm>
            <a:off x="8071104"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Intent</a:t>
            </a:r>
            <a:endParaRPr lang="en-US" sz="800" dirty="0"/>
          </a:p>
        </p:txBody>
      </p:sp>
      <p:sp>
        <p:nvSpPr>
          <p:cNvPr id="11" name="Shape 9"/>
          <p:cNvSpPr/>
          <p:nvPr/>
        </p:nvSpPr>
        <p:spPr>
          <a:xfrm>
            <a:off x="8671560" y="384048"/>
            <a:ext cx="219456" cy="219456"/>
          </a:xfrm>
          <a:prstGeom prst="ellipse">
            <a:avLst/>
          </a:prstGeom>
          <a:solidFill>
            <a:srgbClr val="FFFFFF"/>
          </a:solidFill>
          <a:ln w="19050">
            <a:solidFill>
              <a:srgbClr val="C5CAD3"/>
            </a:solidFill>
            <a:prstDash val="solid"/>
          </a:ln>
        </p:spPr>
      </p:sp>
      <p:sp>
        <p:nvSpPr>
          <p:cNvPr id="12" name="Text 10"/>
          <p:cNvSpPr txBox="1"/>
          <p:nvPr/>
        </p:nvSpPr>
        <p:spPr>
          <a:xfrm>
            <a:off x="8544560"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Spec</a:t>
            </a:r>
            <a:endParaRPr lang="en-US" sz="800" dirty="0"/>
          </a:p>
        </p:txBody>
      </p:sp>
      <p:sp>
        <p:nvSpPr>
          <p:cNvPr id="13" name="Shape 11"/>
          <p:cNvSpPr/>
          <p:nvPr/>
        </p:nvSpPr>
        <p:spPr>
          <a:xfrm>
            <a:off x="9145016" y="384048"/>
            <a:ext cx="219456" cy="219456"/>
          </a:xfrm>
          <a:prstGeom prst="ellipse">
            <a:avLst/>
          </a:prstGeom>
          <a:solidFill>
            <a:srgbClr val="FFFFFF"/>
          </a:solidFill>
          <a:ln w="19050">
            <a:solidFill>
              <a:srgbClr val="C5CAD3"/>
            </a:solidFill>
            <a:prstDash val="solid"/>
          </a:ln>
        </p:spPr>
      </p:sp>
      <p:sp>
        <p:nvSpPr>
          <p:cNvPr id="14" name="Text 12"/>
          <p:cNvSpPr txBox="1"/>
          <p:nvPr/>
        </p:nvSpPr>
        <p:spPr>
          <a:xfrm>
            <a:off x="9018016"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Plan</a:t>
            </a:r>
            <a:endParaRPr lang="en-US" sz="800" dirty="0"/>
          </a:p>
        </p:txBody>
      </p:sp>
      <p:sp>
        <p:nvSpPr>
          <p:cNvPr id="15" name="Shape 13"/>
          <p:cNvSpPr/>
          <p:nvPr/>
        </p:nvSpPr>
        <p:spPr>
          <a:xfrm>
            <a:off x="9618472" y="384048"/>
            <a:ext cx="219456" cy="219456"/>
          </a:xfrm>
          <a:prstGeom prst="ellipse">
            <a:avLst/>
          </a:prstGeom>
          <a:solidFill>
            <a:srgbClr val="F2A541"/>
          </a:solidFill>
          <a:ln w="19050">
            <a:solidFill>
              <a:srgbClr val="F2A541"/>
            </a:solidFill>
            <a:prstDash val="solid"/>
          </a:ln>
        </p:spPr>
      </p:sp>
      <p:sp>
        <p:nvSpPr>
          <p:cNvPr id="16" name="Text 14"/>
          <p:cNvSpPr txBox="1"/>
          <p:nvPr/>
        </p:nvSpPr>
        <p:spPr>
          <a:xfrm>
            <a:off x="9491472"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Build</a:t>
            </a:r>
            <a:endParaRPr lang="en-US" sz="800" dirty="0"/>
          </a:p>
        </p:txBody>
      </p:sp>
      <p:sp>
        <p:nvSpPr>
          <p:cNvPr id="17" name="Shape 15"/>
          <p:cNvSpPr/>
          <p:nvPr/>
        </p:nvSpPr>
        <p:spPr>
          <a:xfrm>
            <a:off x="10091928" y="384048"/>
            <a:ext cx="219456" cy="219456"/>
          </a:xfrm>
          <a:prstGeom prst="ellipse">
            <a:avLst/>
          </a:prstGeom>
          <a:solidFill>
            <a:srgbClr val="F2A541"/>
          </a:solidFill>
          <a:ln w="19050">
            <a:solidFill>
              <a:srgbClr val="F2A541"/>
            </a:solidFill>
            <a:prstDash val="solid"/>
          </a:ln>
        </p:spPr>
      </p:sp>
      <p:sp>
        <p:nvSpPr>
          <p:cNvPr id="18" name="Text 16"/>
          <p:cNvSpPr txBox="1"/>
          <p:nvPr/>
        </p:nvSpPr>
        <p:spPr>
          <a:xfrm>
            <a:off x="9964928"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Verify</a:t>
            </a:r>
            <a:endParaRPr lang="en-US" sz="800" dirty="0"/>
          </a:p>
        </p:txBody>
      </p:sp>
      <p:sp>
        <p:nvSpPr>
          <p:cNvPr id="19" name="Shape 17"/>
          <p:cNvSpPr/>
          <p:nvPr/>
        </p:nvSpPr>
        <p:spPr>
          <a:xfrm>
            <a:off x="10565384" y="384048"/>
            <a:ext cx="219456" cy="219456"/>
          </a:xfrm>
          <a:prstGeom prst="ellipse">
            <a:avLst/>
          </a:prstGeom>
          <a:solidFill>
            <a:srgbClr val="FFFFFF"/>
          </a:solidFill>
          <a:ln w="19050">
            <a:solidFill>
              <a:srgbClr val="C5CAD3"/>
            </a:solidFill>
            <a:prstDash val="solid"/>
          </a:ln>
        </p:spPr>
      </p:sp>
      <p:sp>
        <p:nvSpPr>
          <p:cNvPr id="20" name="Text 18"/>
          <p:cNvSpPr txBox="1"/>
          <p:nvPr/>
        </p:nvSpPr>
        <p:spPr>
          <a:xfrm>
            <a:off x="10438384"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Review</a:t>
            </a:r>
            <a:endParaRPr lang="en-US" sz="800" dirty="0"/>
          </a:p>
        </p:txBody>
      </p:sp>
      <p:sp>
        <p:nvSpPr>
          <p:cNvPr id="21" name="Shape 19"/>
          <p:cNvSpPr/>
          <p:nvPr/>
        </p:nvSpPr>
        <p:spPr>
          <a:xfrm>
            <a:off x="11038840" y="384048"/>
            <a:ext cx="219456" cy="219456"/>
          </a:xfrm>
          <a:prstGeom prst="ellipse">
            <a:avLst/>
          </a:prstGeom>
          <a:solidFill>
            <a:srgbClr val="FFFFFF"/>
          </a:solidFill>
          <a:ln w="19050">
            <a:solidFill>
              <a:srgbClr val="C5CAD3"/>
            </a:solidFill>
            <a:prstDash val="solid"/>
          </a:ln>
        </p:spPr>
      </p:sp>
      <p:sp>
        <p:nvSpPr>
          <p:cNvPr id="22" name="Text 20"/>
          <p:cNvSpPr txBox="1"/>
          <p:nvPr/>
        </p:nvSpPr>
        <p:spPr>
          <a:xfrm>
            <a:off x="10911840"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Release</a:t>
            </a:r>
            <a:endParaRPr lang="en-US" sz="800" dirty="0"/>
          </a:p>
        </p:txBody>
      </p:sp>
      <p:sp>
        <p:nvSpPr>
          <p:cNvPr id="23" name="Shape 21"/>
          <p:cNvSpPr/>
          <p:nvPr/>
        </p:nvSpPr>
        <p:spPr>
          <a:xfrm>
            <a:off x="11512296" y="384048"/>
            <a:ext cx="219456" cy="219456"/>
          </a:xfrm>
          <a:prstGeom prst="ellipse">
            <a:avLst/>
          </a:prstGeom>
          <a:solidFill>
            <a:srgbClr val="FFFFFF"/>
          </a:solidFill>
          <a:ln w="19050">
            <a:solidFill>
              <a:srgbClr val="C5CAD3"/>
            </a:solidFill>
            <a:prstDash val="solid"/>
          </a:ln>
        </p:spPr>
      </p:sp>
      <p:sp>
        <p:nvSpPr>
          <p:cNvPr id="24" name="Text 22"/>
          <p:cNvSpPr txBox="1"/>
          <p:nvPr/>
        </p:nvSpPr>
        <p:spPr>
          <a:xfrm>
            <a:off x="11385296" y="676656"/>
            <a:ext cx="473456" cy="274320"/>
          </a:xfrm>
          <a:prstGeom prst="rect">
            <a:avLst/>
          </a:prstGeom>
          <a:noFill/>
          <a:ln/>
        </p:spPr>
        <p:txBody>
          <a:bodyPr wrap="square" lIns="0" tIns="0" rIns="0" bIns="0" rtlCol="0" anchor="ctr"/>
          <a:lstStyle/>
          <a:p>
            <a:pPr algn="ctr" indent="0" marL="0">
              <a:buNone/>
            </a:pPr>
            <a:r>
              <a:rPr lang="en-US" sz="800" dirty="0">
                <a:solidFill>
                  <a:srgbClr val="5B6475"/>
                </a:solidFill>
                <a:latin typeface="Calibri" pitchFamily="34" charset="0"/>
                <a:ea typeface="Calibri" pitchFamily="34" charset="-122"/>
                <a:cs typeface="Calibri" pitchFamily="34" charset="-120"/>
              </a:rPr>
              <a:t>Archive</a:t>
            </a:r>
            <a:endParaRPr lang="en-US" sz="800" dirty="0"/>
          </a:p>
        </p:txBody>
      </p:sp>
      <p:sp>
        <p:nvSpPr>
          <p:cNvPr id="25" name="Shape 23"/>
          <p:cNvSpPr/>
          <p:nvPr/>
        </p:nvSpPr>
        <p:spPr>
          <a:xfrm>
            <a:off x="457200" y="1645920"/>
            <a:ext cx="5500116" cy="4206240"/>
          </a:xfrm>
          <a:prstGeom prst="roundRect">
            <a:avLst>
              <a:gd name="adj" fmla="val 2174"/>
            </a:avLst>
          </a:prstGeom>
          <a:solidFill>
            <a:srgbClr val="1F2430"/>
          </a:solidFill>
          <a:ln w="12700">
            <a:solidFill>
              <a:srgbClr val="1F2430"/>
            </a:solidFill>
            <a:prstDash val="solid"/>
          </a:ln>
        </p:spPr>
      </p:sp>
      <p:sp>
        <p:nvSpPr>
          <p:cNvPr id="26" name="Shape 24"/>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27" name="Text 25"/>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28" name="Text 26"/>
          <p:cNvSpPr txBox="1"/>
          <p:nvPr/>
        </p:nvSpPr>
        <p:spPr>
          <a:xfrm>
            <a:off x="4814316"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9" name="Text 27"/>
          <p:cNvSpPr txBox="1"/>
          <p:nvPr/>
        </p:nvSpPr>
        <p:spPr>
          <a:xfrm>
            <a:off x="594360"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verify --change basic-arithmetic</a:t>
            </a:r>
            <a:endParaRPr lang="en-US" sz="1100" dirty="0"/>
          </a:p>
        </p:txBody>
      </p:sp>
      <p:sp>
        <p:nvSpPr>
          <p:cNvPr id="30" name="Text 28"/>
          <p:cNvSpPr txBox="1"/>
          <p:nvPr/>
        </p:nvSpPr>
        <p:spPr>
          <a:xfrm>
            <a:off x="594360" y="2468880"/>
            <a:ext cx="5225796"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test (1.0s)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Verification passed - evidence recorded in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openspec\changes\basic-arithmetic\verification.md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Run the multi-pass review (bugs, security, compliance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with spec and plan) and record findings in review.md.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(/sdlc:review)</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running test: npm test</a:t>
            </a:r>
            <a:endParaRPr lang="en-US" sz="1000" dirty="0"/>
          </a:p>
        </p:txBody>
      </p:sp>
      <p:sp>
        <p:nvSpPr>
          <p:cNvPr id="31" name="Text 29"/>
          <p:cNvSpPr txBox="1"/>
          <p:nvPr/>
        </p:nvSpPr>
        <p:spPr>
          <a:xfrm>
            <a:off x="457200" y="59253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Real checks, recorded evidence.</a:t>
            </a:r>
            <a:endParaRPr lang="en-US" sz="1100" dirty="0"/>
          </a:p>
        </p:txBody>
      </p:sp>
      <p:sp>
        <p:nvSpPr>
          <p:cNvPr id="32" name="Shape 30"/>
          <p:cNvSpPr/>
          <p:nvPr/>
        </p:nvSpPr>
        <p:spPr>
          <a:xfrm>
            <a:off x="6231636" y="1645920"/>
            <a:ext cx="5500116" cy="4206240"/>
          </a:xfrm>
          <a:prstGeom prst="roundRect">
            <a:avLst>
              <a:gd name="adj" fmla="val 2174"/>
            </a:avLst>
          </a:prstGeom>
          <a:solidFill>
            <a:srgbClr val="1F2430"/>
          </a:solidFill>
          <a:ln w="12700">
            <a:solidFill>
              <a:srgbClr val="1F2430"/>
            </a:solidFill>
            <a:prstDash val="solid"/>
          </a:ln>
        </p:spPr>
      </p:sp>
      <p:sp>
        <p:nvSpPr>
          <p:cNvPr id="33" name="Shape 31"/>
          <p:cNvSpPr/>
          <p:nvPr/>
        </p:nvSpPr>
        <p:spPr>
          <a:xfrm>
            <a:off x="6368796" y="1783080"/>
            <a:ext cx="1371600" cy="274320"/>
          </a:xfrm>
          <a:prstGeom prst="roundRect">
            <a:avLst>
              <a:gd name="adj" fmla="val 50000"/>
            </a:avLst>
          </a:prstGeom>
          <a:solidFill>
            <a:srgbClr val="F2A541"/>
          </a:solidFill>
          <a:ln w="12700">
            <a:solidFill>
              <a:srgbClr val="F2A541"/>
            </a:solidFill>
            <a:prstDash val="solid"/>
          </a:ln>
        </p:spPr>
      </p:sp>
      <p:sp>
        <p:nvSpPr>
          <p:cNvPr id="34" name="Text 32"/>
          <p:cNvSpPr txBox="1"/>
          <p:nvPr/>
        </p:nvSpPr>
        <p:spPr>
          <a:xfrm>
            <a:off x="6368796"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35" name="Text 33"/>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36" name="Text 34"/>
          <p:cNvSpPr txBox="1"/>
          <p:nvPr/>
        </p:nvSpPr>
        <p:spPr>
          <a:xfrm>
            <a:off x="6368796"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verify --check --change basic-arithmetic</a:t>
            </a:r>
            <a:endParaRPr lang="en-US" sz="1100" dirty="0"/>
          </a:p>
        </p:txBody>
      </p:sp>
      <p:sp>
        <p:nvSpPr>
          <p:cNvPr id="37" name="Text 35"/>
          <p:cNvSpPr txBox="1"/>
          <p:nvPr/>
        </p:nvSpPr>
        <p:spPr>
          <a:xfrm>
            <a:off x="6368796" y="2468880"/>
            <a:ext cx="5225796"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every spec scenario (2) has a row under "Behavioral verification".</a:t>
            </a:r>
            <a:endParaRPr lang="en-US" sz="1000" dirty="0"/>
          </a:p>
        </p:txBody>
      </p:sp>
      <p:sp>
        <p:nvSpPr>
          <p:cNvPr id="38" name="Text 36"/>
          <p:cNvSpPr txBox="1"/>
          <p:nvPr/>
        </p:nvSpPr>
        <p:spPr>
          <a:xfrm>
            <a:off x="6231636" y="59253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Every scenario has evidence.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Review: lenses, a deferred finding, and not your own code</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Every pass and lens is covered or says what was checked. One finding is deferred to the registry. Bob wrote the code, so Carol</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approves.</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2D8CFF"/>
          </a:solidFill>
          <a:ln w="12700">
            <a:solidFill>
              <a:srgbClr val="2D8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roles who review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 --base main</a:t>
            </a:r>
            <a:endParaRPr lang="en-US" sz="1100" dirty="0"/>
          </a:p>
        </p:txBody>
      </p:sp>
      <p:sp>
        <p:nvSpPr>
          <p:cNvPr id="9" name="Text 7"/>
          <p:cNvSpPr txBox="1"/>
          <p:nvPr/>
        </p:nvSpPr>
        <p:spPr>
          <a:xfrm>
            <a:off x="594360"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Required roles: code-owner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review · basic-arithmetic — may approve: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Carol Hughes (carol)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Alice Walker (alice): missing_role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Alice Walker does not hold code-owner;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ask Bob Turner, Carol Hughes.;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distinct_approvers — Alice Walker already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approved the paired gate spec/review.</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Bob Turner (bob): author_cannot_approve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Bob Turner authored code in this change.;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distinct_approvers — Bob Turner already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approved the paired gate plan/review.</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Who may approve the review: not Bob, he wrote the</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code.</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D64545"/>
                </a:solidFill>
                <a:latin typeface="Calibri" pitchFamily="34" charset="0"/>
                <a:ea typeface="Calibri" pitchFamily="34" charset="-122"/>
                <a:cs typeface="Calibri" pitchFamily="34" charset="-120"/>
              </a:rPr>
              <a:t>✗ exit 1</a:t>
            </a:r>
            <a:endParaRPr lang="en-US" sz="1100" dirty="0"/>
          </a:p>
        </p:txBody>
      </p:sp>
      <p:sp>
        <p:nvSpPr>
          <p:cNvPr id="15" name="Text 13"/>
          <p:cNvSpPr txBox="1"/>
          <p:nvPr/>
        </p:nvSpPr>
        <p:spPr>
          <a:xfrm>
            <a:off x="4443984"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review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16" name="Text 14"/>
          <p:cNvSpPr txBox="1"/>
          <p:nvPr/>
        </p:nvSpPr>
        <p:spPr>
          <a:xfrm>
            <a:off x="4443984"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Bob Turner authored code in this change.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Bob Turner already approved the paired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gate plan/review.</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 Ask one of: Carol Hughes.</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Bob is the author: refused.</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17A589"/>
          </a:solidFill>
          <a:ln w="12700">
            <a:solidFill>
              <a:srgbClr val="17A589"/>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Carol</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review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basic-arithmetic</a:t>
            </a:r>
            <a:endParaRPr lang="en-US" sz="1100" dirty="0"/>
          </a:p>
        </p:txBody>
      </p:sp>
      <p:sp>
        <p:nvSpPr>
          <p:cNvPr id="23" name="Text 21"/>
          <p:cNvSpPr txBox="1"/>
          <p:nvPr/>
        </p:nvSpPr>
        <p:spPr>
          <a:xfrm>
            <a:off x="8293608"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review gate: Carol Hughes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&lt;carol@calc.example&gt; approved as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code-owner (46bc4626e33e)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Suggested commit message (its trailer ties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 commit to this approval):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git commit -m "chore(basic-arithmetic):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approve the review gate" -m</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"SDLC-Approval: basic-arithmetic:review:4</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6bc4626e33e"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All gates are satisfied: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archive the change to merge its delta</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specs into openspec/specs/.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(/sdlc:archive)</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Carol approves the review.</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61569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review</a:t>
            </a:r>
            <a:endParaRPr lang="en-US" sz="1000" dirty="0"/>
          </a:p>
        </p:txBody>
      </p:sp>
      <p:sp>
        <p:nvSpPr>
          <p:cNvPr id="28" name="Shape 26"/>
          <p:cNvSpPr/>
          <p:nvPr/>
        </p:nvSpPr>
        <p:spPr>
          <a:xfrm>
            <a:off x="2947416" y="6053328"/>
            <a:ext cx="81381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2947416"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defer add</a:t>
            </a:r>
            <a:endParaRPr lang="en-US" sz="1000" dirty="0"/>
          </a:p>
        </p:txBody>
      </p:sp>
      <p:sp>
        <p:nvSpPr>
          <p:cNvPr id="30" name="Shape 28"/>
          <p:cNvSpPr/>
          <p:nvPr/>
        </p:nvSpPr>
        <p:spPr>
          <a:xfrm>
            <a:off x="3852672" y="6053328"/>
            <a:ext cx="87985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3852672" y="6053328"/>
            <a:ext cx="8798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defer list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Release and signed approvals</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Alice authorises the release. Every approval is checked against the commit that brought it: signed by the person who approved.</a:t>
            </a:r>
            <a:endParaRPr lang="en-US" sz="1400" dirty="0"/>
          </a:p>
        </p:txBody>
      </p:sp>
      <p:sp>
        <p:nvSpPr>
          <p:cNvPr id="4" name="Shape 2"/>
          <p:cNvSpPr/>
          <p:nvPr/>
        </p:nvSpPr>
        <p:spPr>
          <a:xfrm>
            <a:off x="457200" y="1645920"/>
            <a:ext cx="5500116" cy="3749040"/>
          </a:xfrm>
          <a:prstGeom prst="roundRect">
            <a:avLst>
              <a:gd name="adj" fmla="val 2439"/>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7C5CFF"/>
          </a:solidFill>
          <a:ln w="12700">
            <a:solidFill>
              <a:srgbClr val="7C5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7" name="Text 5"/>
          <p:cNvSpPr txBox="1"/>
          <p:nvPr/>
        </p:nvSpPr>
        <p:spPr>
          <a:xfrm>
            <a:off x="4814316"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approve release --change basic-arithmetic</a:t>
            </a:r>
            <a:endParaRPr lang="en-US" sz="1100" dirty="0"/>
          </a:p>
        </p:txBody>
      </p:sp>
      <p:sp>
        <p:nvSpPr>
          <p:cNvPr id="9" name="Text 7"/>
          <p:cNvSpPr txBox="1"/>
          <p:nvPr/>
        </p:nvSpPr>
        <p:spPr>
          <a:xfrm>
            <a:off x="594360" y="2468880"/>
            <a:ext cx="5225796"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release gate: Alice Walker &lt;alice@calc.example&gt; approved as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release-manager (46bc4626e33e)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Suggested commit message (its trailer ties the commit to this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approval):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git commit -m "chore(basic-arithmetic): approve the release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gate" -m "SDLC-Approval: basic-arithmetic:release:46bc4626e33e"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All gates are satisfied: archive the change to merge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its delta specs into openspec/specs/. (/sdlc:archive)</a:t>
            </a:r>
            <a:endParaRPr lang="en-US" sz="1000" dirty="0"/>
          </a:p>
        </p:txBody>
      </p:sp>
      <p:sp>
        <p:nvSpPr>
          <p:cNvPr id="10" name="Text 8"/>
          <p:cNvSpPr txBox="1"/>
          <p:nvPr/>
        </p:nvSpPr>
        <p:spPr>
          <a:xfrm>
            <a:off x="457200" y="54681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Alice authorizes the release.</a:t>
            </a:r>
            <a:endParaRPr lang="en-US" sz="1100" dirty="0"/>
          </a:p>
        </p:txBody>
      </p:sp>
      <p:sp>
        <p:nvSpPr>
          <p:cNvPr id="11" name="Shape 9"/>
          <p:cNvSpPr/>
          <p:nvPr/>
        </p:nvSpPr>
        <p:spPr>
          <a:xfrm>
            <a:off x="6231636" y="1645920"/>
            <a:ext cx="5500116" cy="3749040"/>
          </a:xfrm>
          <a:prstGeom prst="roundRect">
            <a:avLst>
              <a:gd name="adj" fmla="val 2439"/>
            </a:avLst>
          </a:prstGeom>
          <a:solidFill>
            <a:srgbClr val="1F2430"/>
          </a:solidFill>
          <a:ln w="12700">
            <a:solidFill>
              <a:srgbClr val="1F2430"/>
            </a:solidFill>
            <a:prstDash val="solid"/>
          </a:ln>
        </p:spPr>
      </p:sp>
      <p:sp>
        <p:nvSpPr>
          <p:cNvPr id="12" name="Shape 10"/>
          <p:cNvSpPr/>
          <p:nvPr/>
        </p:nvSpPr>
        <p:spPr>
          <a:xfrm>
            <a:off x="6368796" y="1783080"/>
            <a:ext cx="1371600"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6368796"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6368796" y="2176272"/>
            <a:ext cx="5225796"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approvals verify</a:t>
            </a:r>
            <a:endParaRPr lang="en-US" sz="1100" dirty="0"/>
          </a:p>
        </p:txBody>
      </p:sp>
      <p:sp>
        <p:nvSpPr>
          <p:cNvPr id="16" name="Text 14"/>
          <p:cNvSpPr txBox="1"/>
          <p:nvPr/>
        </p:nvSpPr>
        <p:spPr>
          <a:xfrm>
            <a:off x="6368796" y="2468880"/>
            <a:ext cx="5225796"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basic-arithmetic/intent alice valid d01987c0 trailer: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basic-arithmetic/spec alice valid 93cc66b0 trailer: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basic-arithmetic/plan bob wrong-signer 93cc66b0 trailer: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basic-arithmetic/review carol valid dff34b3b trailer: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basic-arithmetic/release alice valid 20bb2474 trailer: missing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openspec/roles.yaml alice@calc.example bootstrap d517f291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5 approvals checked, 1 invalid (warn: not blocking)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Sign commits: git config gpg.format ssh; git config user.signingkey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&lt;key&gt;; git commit -S</a:t>
            </a:r>
            <a:endParaRPr lang="en-US" sz="1000" dirty="0"/>
          </a:p>
        </p:txBody>
      </p:sp>
      <p:sp>
        <p:nvSpPr>
          <p:cNvPr id="17" name="Text 15"/>
          <p:cNvSpPr txBox="1"/>
          <p:nvPr/>
        </p:nvSpPr>
        <p:spPr>
          <a:xfrm>
            <a:off x="6231636" y="5468112"/>
            <a:ext cx="5500116"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Signed approvals check (warn mode): Alice and Carol sign; Bob's plan approval</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is unsigned, reported but not blocking.</a:t>
            </a:r>
            <a:endParaRPr lang="en-US" sz="1100" dirty="0"/>
          </a:p>
        </p:txBody>
      </p:sp>
      <p:sp>
        <p:nvSpPr>
          <p:cNvPr id="18" name="Text 16"/>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19" name="Shape 17"/>
          <p:cNvSpPr/>
          <p:nvPr/>
        </p:nvSpPr>
        <p:spPr>
          <a:xfrm>
            <a:off x="2240280" y="6053328"/>
            <a:ext cx="813816" cy="256032"/>
          </a:xfrm>
          <a:prstGeom prst="roundRect">
            <a:avLst>
              <a:gd name="adj" fmla="val 50000"/>
            </a:avLst>
          </a:prstGeom>
          <a:solidFill>
            <a:srgbClr val="F3F5F8"/>
          </a:solidFill>
          <a:ln w="12700">
            <a:solidFill>
              <a:srgbClr val="F3F5F8"/>
            </a:solidFill>
            <a:prstDash val="solid"/>
          </a:ln>
        </p:spPr>
      </p:sp>
      <p:sp>
        <p:nvSpPr>
          <p:cNvPr id="20" name="Text 18"/>
          <p:cNvSpPr txBox="1"/>
          <p:nvPr/>
        </p:nvSpPr>
        <p:spPr>
          <a:xfrm>
            <a:off x="2240280"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changelog</a:t>
            </a:r>
            <a:endParaRPr lang="en-US" sz="1000" dirty="0"/>
          </a:p>
        </p:txBody>
      </p:sp>
      <p:sp>
        <p:nvSpPr>
          <p:cNvPr id="21" name="Shape 19"/>
          <p:cNvSpPr/>
          <p:nvPr/>
        </p:nvSpPr>
        <p:spPr>
          <a:xfrm>
            <a:off x="3145536" y="6053328"/>
            <a:ext cx="1077976" cy="256032"/>
          </a:xfrm>
          <a:prstGeom prst="roundRect">
            <a:avLst>
              <a:gd name="adj" fmla="val 50000"/>
            </a:avLst>
          </a:prstGeom>
          <a:solidFill>
            <a:srgbClr val="F3F5F8"/>
          </a:solidFill>
          <a:ln w="12700">
            <a:solidFill>
              <a:srgbClr val="F3F5F8"/>
            </a:solidFill>
            <a:prstDash val="solid"/>
          </a:ln>
        </p:spPr>
      </p:sp>
      <p:sp>
        <p:nvSpPr>
          <p:cNvPr id="22" name="Text 20"/>
          <p:cNvSpPr txBox="1"/>
          <p:nvPr/>
        </p:nvSpPr>
        <p:spPr>
          <a:xfrm>
            <a:off x="3145536" y="6053328"/>
            <a:ext cx="107797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release check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Archive: the delta becomes the living spec</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sdlc archive re-checks the gates, then OpenSpec merges the delta into openspec/specs. The requirement now lives in the spec;</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B1 closes.</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7C5CFF"/>
          </a:solidFill>
          <a:ln w="12700">
            <a:solidFill>
              <a:srgbClr val="7C5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archive basic-arithmetic --yes</a:t>
            </a:r>
            <a:endParaRPr lang="en-US" sz="1100" dirty="0"/>
          </a:p>
        </p:txBody>
      </p:sp>
      <p:sp>
        <p:nvSpPr>
          <p:cNvPr id="9" name="Text 7"/>
          <p:cNvSpPr txBox="1"/>
          <p:nvPr/>
        </p:nvSpPr>
        <p:spPr>
          <a:xfrm>
            <a:off x="594360"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archived basic-arithmetic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openspec\changes\archive\2026-10-21-basic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specs: +1 added, ~0 modified, -0 removed,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0 renamed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Start backlog item B3: Memory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 / MR. (sdlc backlog start B3)</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delta merges into the living spec; B1 closes.</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list --specs</a:t>
            </a:r>
            <a:endParaRPr lang="en-US" sz="1100" dirty="0"/>
          </a:p>
        </p:txBody>
      </p:sp>
      <p:sp>
        <p:nvSpPr>
          <p:cNvPr id="16" name="Text 14"/>
          <p:cNvSpPr txBox="1"/>
          <p:nvPr/>
        </p:nvSpPr>
        <p:spPr>
          <a:xfrm>
            <a:off x="4443984"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Specs: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calculator     requirements 1</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calculator capability is now a living spec.</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2D8CFF"/>
          </a:solidFill>
          <a:ln w="12700">
            <a:solidFill>
              <a:srgbClr val="2D8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openspec show calculator --type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spec</a:t>
            </a:r>
            <a:endParaRPr lang="en-US" sz="1100" dirty="0"/>
          </a:p>
        </p:txBody>
      </p:sp>
      <p:sp>
        <p:nvSpPr>
          <p:cNvPr id="23" name="Text 21"/>
          <p:cNvSpPr txBox="1"/>
          <p:nvPr/>
        </p:nvSpPr>
        <p:spPr>
          <a:xfrm>
            <a:off x="8293608"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calculator Specification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Purpose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Exact results for the four basic arithmetic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operations.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Requirements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Requirement: Basic operations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The calculator SHALL add, subtract,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multiply and divide two numbers.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Scenario: Add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**WHEN** the cashier adds 2 and 3</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**THEN** the result is 5</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Scenario: Divide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**WHEN** the cashier divides 10 by 4</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**THEN** the result is 2.5</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living spec holds the requirement the change</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added.</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54965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5496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trace</a:t>
            </a:r>
            <a:endParaRPr lang="en-US" sz="1000" dirty="0"/>
          </a:p>
        </p:txBody>
      </p:sp>
      <p:sp>
        <p:nvSpPr>
          <p:cNvPr id="28" name="Shape 26"/>
          <p:cNvSpPr/>
          <p:nvPr/>
        </p:nvSpPr>
        <p:spPr>
          <a:xfrm>
            <a:off x="2881376" y="6053328"/>
            <a:ext cx="101193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2881376"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list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Safety nets: what agents cannot do</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Every refusal in the demo, with the reason the CLI gave. Decisions stay with people and are recorded.</a:t>
            </a:r>
            <a:endParaRPr lang="en-US" sz="1400" dirty="0"/>
          </a:p>
        </p:txBody>
      </p:sp>
      <p:sp>
        <p:nvSpPr>
          <p:cNvPr id="4" name="Shape 2"/>
          <p:cNvSpPr/>
          <p:nvPr/>
        </p:nvSpPr>
        <p:spPr>
          <a:xfrm>
            <a:off x="457200" y="1645920"/>
            <a:ext cx="5500116" cy="676656"/>
          </a:xfrm>
          <a:prstGeom prst="roundRect">
            <a:avLst>
              <a:gd name="adj" fmla="val 10811"/>
            </a:avLst>
          </a:prstGeom>
          <a:solidFill>
            <a:srgbClr val="F3F5F8"/>
          </a:solidFill>
          <a:ln w="12700">
            <a:solidFill>
              <a:srgbClr val="F3F5F8"/>
            </a:solidFill>
            <a:prstDash val="solid"/>
          </a:ln>
        </p:spPr>
      </p:sp>
      <p:sp>
        <p:nvSpPr>
          <p:cNvPr id="5" name="Text 3"/>
          <p:cNvSpPr txBox="1"/>
          <p:nvPr/>
        </p:nvSpPr>
        <p:spPr>
          <a:xfrm>
            <a:off x="566928" y="1719072"/>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6" name="Shape 4"/>
          <p:cNvSpPr/>
          <p:nvPr/>
        </p:nvSpPr>
        <p:spPr>
          <a:xfrm>
            <a:off x="868680" y="1728216"/>
            <a:ext cx="1097280" cy="256032"/>
          </a:xfrm>
          <a:prstGeom prst="roundRect">
            <a:avLst>
              <a:gd name="adj" fmla="val 50000"/>
            </a:avLst>
          </a:prstGeom>
          <a:solidFill>
            <a:srgbClr val="F2A541"/>
          </a:solidFill>
          <a:ln w="12700">
            <a:solidFill>
              <a:srgbClr val="F2A541"/>
            </a:solidFill>
            <a:prstDash val="solid"/>
          </a:ln>
        </p:spPr>
      </p:sp>
      <p:sp>
        <p:nvSpPr>
          <p:cNvPr id="7" name="Text 5"/>
          <p:cNvSpPr txBox="1"/>
          <p:nvPr/>
        </p:nvSpPr>
        <p:spPr>
          <a:xfrm>
            <a:off x="868680" y="1728216"/>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8" name="Text 6"/>
          <p:cNvSpPr txBox="1"/>
          <p:nvPr/>
        </p:nvSpPr>
        <p:spPr>
          <a:xfrm>
            <a:off x="2057400" y="1719072"/>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adopt --apply</a:t>
            </a:r>
            <a:endParaRPr lang="en-US" sz="1100" dirty="0"/>
          </a:p>
        </p:txBody>
      </p:sp>
      <p:sp>
        <p:nvSpPr>
          <p:cNvPr id="9" name="Text 7"/>
          <p:cNvSpPr txBox="1"/>
          <p:nvPr/>
        </p:nvSpPr>
        <p:spPr>
          <a:xfrm>
            <a:off x="868680" y="2029968"/>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Only a person may apply the adoption draft</a:t>
            </a:r>
            <a:endParaRPr lang="en-US" sz="1100" dirty="0"/>
          </a:p>
        </p:txBody>
      </p:sp>
      <p:sp>
        <p:nvSpPr>
          <p:cNvPr id="10" name="Shape 8"/>
          <p:cNvSpPr/>
          <p:nvPr/>
        </p:nvSpPr>
        <p:spPr>
          <a:xfrm>
            <a:off x="6231636" y="1645920"/>
            <a:ext cx="5500116" cy="676656"/>
          </a:xfrm>
          <a:prstGeom prst="roundRect">
            <a:avLst>
              <a:gd name="adj" fmla="val 10811"/>
            </a:avLst>
          </a:prstGeom>
          <a:solidFill>
            <a:srgbClr val="F3F5F8"/>
          </a:solidFill>
          <a:ln w="12700">
            <a:solidFill>
              <a:srgbClr val="F3F5F8"/>
            </a:solidFill>
            <a:prstDash val="solid"/>
          </a:ln>
        </p:spPr>
      </p:sp>
      <p:sp>
        <p:nvSpPr>
          <p:cNvPr id="11" name="Text 9"/>
          <p:cNvSpPr txBox="1"/>
          <p:nvPr/>
        </p:nvSpPr>
        <p:spPr>
          <a:xfrm>
            <a:off x="6341364" y="1719072"/>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6643116" y="1728216"/>
            <a:ext cx="1097280" cy="256032"/>
          </a:xfrm>
          <a:prstGeom prst="roundRect">
            <a:avLst>
              <a:gd name="adj" fmla="val 50000"/>
            </a:avLst>
          </a:prstGeom>
          <a:solidFill>
            <a:srgbClr val="F2A541"/>
          </a:solidFill>
          <a:ln w="12700">
            <a:solidFill>
              <a:srgbClr val="F2A541"/>
            </a:solidFill>
            <a:prstDash val="solid"/>
          </a:ln>
        </p:spPr>
      </p:sp>
      <p:sp>
        <p:nvSpPr>
          <p:cNvPr id="13" name="Text 11"/>
          <p:cNvSpPr txBox="1"/>
          <p:nvPr/>
        </p:nvSpPr>
        <p:spPr>
          <a:xfrm>
            <a:off x="6643116" y="1728216"/>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14" name="Text 12"/>
          <p:cNvSpPr txBox="1"/>
          <p:nvPr/>
        </p:nvSpPr>
        <p:spPr>
          <a:xfrm>
            <a:off x="7831836" y="1719072"/>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roles migrate</a:t>
            </a:r>
            <a:endParaRPr lang="en-US" sz="1100" dirty="0"/>
          </a:p>
        </p:txBody>
      </p:sp>
      <p:sp>
        <p:nvSpPr>
          <p:cNvPr id="15" name="Text 13"/>
          <p:cNvSpPr txBox="1"/>
          <p:nvPr/>
        </p:nvSpPr>
        <p:spPr>
          <a:xfrm>
            <a:off x="6643116" y="2029968"/>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Only a person may migrate roles.</a:t>
            </a:r>
            <a:endParaRPr lang="en-US" sz="1100" dirty="0"/>
          </a:p>
        </p:txBody>
      </p:sp>
      <p:sp>
        <p:nvSpPr>
          <p:cNvPr id="16" name="Shape 14"/>
          <p:cNvSpPr/>
          <p:nvPr/>
        </p:nvSpPr>
        <p:spPr>
          <a:xfrm>
            <a:off x="457200" y="2432304"/>
            <a:ext cx="5500116" cy="676656"/>
          </a:xfrm>
          <a:prstGeom prst="roundRect">
            <a:avLst>
              <a:gd name="adj" fmla="val 10811"/>
            </a:avLst>
          </a:prstGeom>
          <a:solidFill>
            <a:srgbClr val="F3F5F8"/>
          </a:solidFill>
          <a:ln w="12700">
            <a:solidFill>
              <a:srgbClr val="F3F5F8"/>
            </a:solidFill>
            <a:prstDash val="solid"/>
          </a:ln>
        </p:spPr>
      </p:sp>
      <p:sp>
        <p:nvSpPr>
          <p:cNvPr id="17" name="Text 15"/>
          <p:cNvSpPr txBox="1"/>
          <p:nvPr/>
        </p:nvSpPr>
        <p:spPr>
          <a:xfrm>
            <a:off x="566928" y="2505456"/>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868680" y="2514600"/>
            <a:ext cx="1097280" cy="256032"/>
          </a:xfrm>
          <a:prstGeom prst="roundRect">
            <a:avLst>
              <a:gd name="adj" fmla="val 50000"/>
            </a:avLst>
          </a:prstGeom>
          <a:solidFill>
            <a:srgbClr val="F2A541"/>
          </a:solidFill>
          <a:ln w="12700">
            <a:solidFill>
              <a:srgbClr val="F2A541"/>
            </a:solidFill>
            <a:prstDash val="solid"/>
          </a:ln>
        </p:spPr>
      </p:sp>
      <p:sp>
        <p:nvSpPr>
          <p:cNvPr id="19" name="Text 17"/>
          <p:cNvSpPr txBox="1"/>
          <p:nvPr/>
        </p:nvSpPr>
        <p:spPr>
          <a:xfrm>
            <a:off x="868680" y="2514600"/>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20" name="Text 18"/>
          <p:cNvSpPr txBox="1"/>
          <p:nvPr/>
        </p:nvSpPr>
        <p:spPr>
          <a:xfrm>
            <a:off x="2057400" y="2505456"/>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backlog move B3 --before B2</a:t>
            </a:r>
            <a:endParaRPr lang="en-US" sz="1100" dirty="0"/>
          </a:p>
        </p:txBody>
      </p:sp>
      <p:sp>
        <p:nvSpPr>
          <p:cNvPr id="21" name="Text 19"/>
          <p:cNvSpPr txBox="1"/>
          <p:nvPr/>
        </p:nvSpPr>
        <p:spPr>
          <a:xfrm>
            <a:off x="868680" y="2816352"/>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Backlog priority is a product decision. Ask a person to run this comm…</a:t>
            </a:r>
            <a:endParaRPr lang="en-US" sz="1100" dirty="0"/>
          </a:p>
        </p:txBody>
      </p:sp>
      <p:sp>
        <p:nvSpPr>
          <p:cNvPr id="22" name="Shape 20"/>
          <p:cNvSpPr/>
          <p:nvPr/>
        </p:nvSpPr>
        <p:spPr>
          <a:xfrm>
            <a:off x="6231636" y="2432304"/>
            <a:ext cx="5500116" cy="676656"/>
          </a:xfrm>
          <a:prstGeom prst="roundRect">
            <a:avLst>
              <a:gd name="adj" fmla="val 10811"/>
            </a:avLst>
          </a:prstGeom>
          <a:solidFill>
            <a:srgbClr val="F3F5F8"/>
          </a:solidFill>
          <a:ln w="12700">
            <a:solidFill>
              <a:srgbClr val="F3F5F8"/>
            </a:solidFill>
            <a:prstDash val="solid"/>
          </a:ln>
        </p:spPr>
      </p:sp>
      <p:sp>
        <p:nvSpPr>
          <p:cNvPr id="23" name="Text 21"/>
          <p:cNvSpPr txBox="1"/>
          <p:nvPr/>
        </p:nvSpPr>
        <p:spPr>
          <a:xfrm>
            <a:off x="6341364" y="2505456"/>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6643116" y="2514600"/>
            <a:ext cx="1097280" cy="256032"/>
          </a:xfrm>
          <a:prstGeom prst="roundRect">
            <a:avLst>
              <a:gd name="adj" fmla="val 50000"/>
            </a:avLst>
          </a:prstGeom>
          <a:solidFill>
            <a:srgbClr val="F2A541"/>
          </a:solidFill>
          <a:ln w="12700">
            <a:solidFill>
              <a:srgbClr val="F2A541"/>
            </a:solidFill>
            <a:prstDash val="solid"/>
          </a:ln>
        </p:spPr>
      </p:sp>
      <p:sp>
        <p:nvSpPr>
          <p:cNvPr id="25" name="Text 23"/>
          <p:cNvSpPr txBox="1"/>
          <p:nvPr/>
        </p:nvSpPr>
        <p:spPr>
          <a:xfrm>
            <a:off x="6643116" y="2514600"/>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26" name="Text 24"/>
          <p:cNvSpPr txBox="1"/>
          <p:nvPr/>
        </p:nvSpPr>
        <p:spPr>
          <a:xfrm>
            <a:off x="7831836" y="2505456"/>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track set lite --change basic-arithmetic</a:t>
            </a:r>
            <a:endParaRPr lang="en-US" sz="1100" dirty="0"/>
          </a:p>
        </p:txBody>
      </p:sp>
      <p:sp>
        <p:nvSpPr>
          <p:cNvPr id="27" name="Text 25"/>
          <p:cNvSpPr txBox="1"/>
          <p:nvPr/>
        </p:nvSpPr>
        <p:spPr>
          <a:xfrm>
            <a:off x="6643116" y="2816352"/>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An agent session (claude-code) cannot set the track.</a:t>
            </a:r>
            <a:endParaRPr lang="en-US" sz="1100" dirty="0"/>
          </a:p>
        </p:txBody>
      </p:sp>
      <p:sp>
        <p:nvSpPr>
          <p:cNvPr id="28" name="Shape 26"/>
          <p:cNvSpPr/>
          <p:nvPr/>
        </p:nvSpPr>
        <p:spPr>
          <a:xfrm>
            <a:off x="457200" y="3218688"/>
            <a:ext cx="5500116" cy="676656"/>
          </a:xfrm>
          <a:prstGeom prst="roundRect">
            <a:avLst>
              <a:gd name="adj" fmla="val 10811"/>
            </a:avLst>
          </a:prstGeom>
          <a:solidFill>
            <a:srgbClr val="F3F5F8"/>
          </a:solidFill>
          <a:ln w="12700">
            <a:solidFill>
              <a:srgbClr val="F3F5F8"/>
            </a:solidFill>
            <a:prstDash val="solid"/>
          </a:ln>
        </p:spPr>
      </p:sp>
      <p:sp>
        <p:nvSpPr>
          <p:cNvPr id="29" name="Text 27"/>
          <p:cNvSpPr txBox="1"/>
          <p:nvPr/>
        </p:nvSpPr>
        <p:spPr>
          <a:xfrm>
            <a:off x="566928" y="3291840"/>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30" name="Shape 28"/>
          <p:cNvSpPr/>
          <p:nvPr/>
        </p:nvSpPr>
        <p:spPr>
          <a:xfrm>
            <a:off x="868680" y="3300984"/>
            <a:ext cx="1097280" cy="256032"/>
          </a:xfrm>
          <a:prstGeom prst="roundRect">
            <a:avLst>
              <a:gd name="adj" fmla="val 50000"/>
            </a:avLst>
          </a:prstGeom>
          <a:solidFill>
            <a:srgbClr val="F2A541"/>
          </a:solidFill>
          <a:ln w="12700">
            <a:solidFill>
              <a:srgbClr val="F2A541"/>
            </a:solidFill>
            <a:prstDash val="solid"/>
          </a:ln>
        </p:spPr>
      </p:sp>
      <p:sp>
        <p:nvSpPr>
          <p:cNvPr id="31" name="Text 29"/>
          <p:cNvSpPr txBox="1"/>
          <p:nvPr/>
        </p:nvSpPr>
        <p:spPr>
          <a:xfrm>
            <a:off x="868680" y="3300984"/>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32" name="Text 30"/>
          <p:cNvSpPr txBox="1"/>
          <p:nvPr/>
        </p:nvSpPr>
        <p:spPr>
          <a:xfrm>
            <a:off x="2057400" y="3291840"/>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approve intent --change basic-arithmetic</a:t>
            </a:r>
            <a:endParaRPr lang="en-US" sz="1100" dirty="0"/>
          </a:p>
        </p:txBody>
      </p:sp>
      <p:sp>
        <p:nvSpPr>
          <p:cNvPr id="33" name="Text 31"/>
          <p:cNvSpPr txBox="1"/>
          <p:nvPr/>
        </p:nvSpPr>
        <p:spPr>
          <a:xfrm>
            <a:off x="868680" y="3602736"/>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`sdlc approve` records a human decision and cannot run inside an agen…</a:t>
            </a:r>
            <a:endParaRPr lang="en-US" sz="1100" dirty="0"/>
          </a:p>
        </p:txBody>
      </p:sp>
      <p:sp>
        <p:nvSpPr>
          <p:cNvPr id="34" name="Shape 32"/>
          <p:cNvSpPr/>
          <p:nvPr/>
        </p:nvSpPr>
        <p:spPr>
          <a:xfrm>
            <a:off x="6231636" y="3218688"/>
            <a:ext cx="5500116" cy="676656"/>
          </a:xfrm>
          <a:prstGeom prst="roundRect">
            <a:avLst>
              <a:gd name="adj" fmla="val 10811"/>
            </a:avLst>
          </a:prstGeom>
          <a:solidFill>
            <a:srgbClr val="F3F5F8"/>
          </a:solidFill>
          <a:ln w="12700">
            <a:solidFill>
              <a:srgbClr val="F3F5F8"/>
            </a:solidFill>
            <a:prstDash val="solid"/>
          </a:ln>
        </p:spPr>
      </p:sp>
      <p:sp>
        <p:nvSpPr>
          <p:cNvPr id="35" name="Text 33"/>
          <p:cNvSpPr txBox="1"/>
          <p:nvPr/>
        </p:nvSpPr>
        <p:spPr>
          <a:xfrm>
            <a:off x="6341364" y="3291840"/>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36" name="Shape 34"/>
          <p:cNvSpPr/>
          <p:nvPr/>
        </p:nvSpPr>
        <p:spPr>
          <a:xfrm>
            <a:off x="6643116" y="3300984"/>
            <a:ext cx="1097280" cy="256032"/>
          </a:xfrm>
          <a:prstGeom prst="roundRect">
            <a:avLst>
              <a:gd name="adj" fmla="val 50000"/>
            </a:avLst>
          </a:prstGeom>
          <a:solidFill>
            <a:srgbClr val="2D8CFF"/>
          </a:solidFill>
          <a:ln w="12700">
            <a:solidFill>
              <a:srgbClr val="2D8CFF"/>
            </a:solidFill>
            <a:prstDash val="solid"/>
          </a:ln>
        </p:spPr>
      </p:sp>
      <p:sp>
        <p:nvSpPr>
          <p:cNvPr id="37" name="Text 35"/>
          <p:cNvSpPr txBox="1"/>
          <p:nvPr/>
        </p:nvSpPr>
        <p:spPr>
          <a:xfrm>
            <a:off x="6643116" y="3300984"/>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38" name="Text 36"/>
          <p:cNvSpPr txBox="1"/>
          <p:nvPr/>
        </p:nvSpPr>
        <p:spPr>
          <a:xfrm>
            <a:off x="7831836" y="3291840"/>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approve intent --change basic-arithmetic</a:t>
            </a:r>
            <a:endParaRPr lang="en-US" sz="1100" dirty="0"/>
          </a:p>
        </p:txBody>
      </p:sp>
      <p:sp>
        <p:nvSpPr>
          <p:cNvPr id="39" name="Text 37"/>
          <p:cNvSpPr txBox="1"/>
          <p:nvPr/>
        </p:nvSpPr>
        <p:spPr>
          <a:xfrm>
            <a:off x="6643116" y="3602736"/>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Bob Turner does not hold product-owner; ask Alice Walker.</a:t>
            </a:r>
            <a:endParaRPr lang="en-US" sz="1100" dirty="0"/>
          </a:p>
        </p:txBody>
      </p:sp>
      <p:sp>
        <p:nvSpPr>
          <p:cNvPr id="40" name="Shape 38"/>
          <p:cNvSpPr/>
          <p:nvPr/>
        </p:nvSpPr>
        <p:spPr>
          <a:xfrm>
            <a:off x="457200" y="4005072"/>
            <a:ext cx="5500116" cy="676656"/>
          </a:xfrm>
          <a:prstGeom prst="roundRect">
            <a:avLst>
              <a:gd name="adj" fmla="val 10811"/>
            </a:avLst>
          </a:prstGeom>
          <a:solidFill>
            <a:srgbClr val="F3F5F8"/>
          </a:solidFill>
          <a:ln w="12700">
            <a:solidFill>
              <a:srgbClr val="F3F5F8"/>
            </a:solidFill>
            <a:prstDash val="solid"/>
          </a:ln>
        </p:spPr>
      </p:sp>
      <p:sp>
        <p:nvSpPr>
          <p:cNvPr id="41" name="Text 39"/>
          <p:cNvSpPr txBox="1"/>
          <p:nvPr/>
        </p:nvSpPr>
        <p:spPr>
          <a:xfrm>
            <a:off x="566928" y="4078224"/>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42" name="Shape 40"/>
          <p:cNvSpPr/>
          <p:nvPr/>
        </p:nvSpPr>
        <p:spPr>
          <a:xfrm>
            <a:off x="868680" y="4087368"/>
            <a:ext cx="1097280" cy="256032"/>
          </a:xfrm>
          <a:prstGeom prst="roundRect">
            <a:avLst>
              <a:gd name="adj" fmla="val 50000"/>
            </a:avLst>
          </a:prstGeom>
          <a:solidFill>
            <a:srgbClr val="F2A541"/>
          </a:solidFill>
          <a:ln w="12700">
            <a:solidFill>
              <a:srgbClr val="F2A541"/>
            </a:solidFill>
            <a:prstDash val="solid"/>
          </a:ln>
        </p:spPr>
      </p:sp>
      <p:sp>
        <p:nvSpPr>
          <p:cNvPr id="43" name="Text 41"/>
          <p:cNvSpPr txBox="1"/>
          <p:nvPr/>
        </p:nvSpPr>
        <p:spPr>
          <a:xfrm>
            <a:off x="868680" y="4087368"/>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44" name="Text 42"/>
          <p:cNvSpPr txBox="1"/>
          <p:nvPr/>
        </p:nvSpPr>
        <p:spPr>
          <a:xfrm>
            <a:off x="2057400" y="4078224"/>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validate --change basic-arithmetic</a:t>
            </a:r>
            <a:endParaRPr lang="en-US" sz="1100" dirty="0"/>
          </a:p>
        </p:txBody>
      </p:sp>
      <p:sp>
        <p:nvSpPr>
          <p:cNvPr id="45" name="Text 43"/>
          <p:cNvSpPr txBox="1"/>
          <p:nvPr/>
        </p:nvSpPr>
        <p:spPr>
          <a:xfrm>
            <a:off x="868680" y="4389120"/>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 basic-arithmetic</a:t>
            </a:r>
            <a:endParaRPr lang="en-US" sz="1100" dirty="0"/>
          </a:p>
        </p:txBody>
      </p:sp>
      <p:sp>
        <p:nvSpPr>
          <p:cNvPr id="46" name="Shape 44"/>
          <p:cNvSpPr/>
          <p:nvPr/>
        </p:nvSpPr>
        <p:spPr>
          <a:xfrm>
            <a:off x="6231636" y="4005072"/>
            <a:ext cx="5500116" cy="676656"/>
          </a:xfrm>
          <a:prstGeom prst="roundRect">
            <a:avLst>
              <a:gd name="adj" fmla="val 10811"/>
            </a:avLst>
          </a:prstGeom>
          <a:solidFill>
            <a:srgbClr val="F3F5F8"/>
          </a:solidFill>
          <a:ln w="12700">
            <a:solidFill>
              <a:srgbClr val="F3F5F8"/>
            </a:solidFill>
            <a:prstDash val="solid"/>
          </a:ln>
        </p:spPr>
      </p:sp>
      <p:sp>
        <p:nvSpPr>
          <p:cNvPr id="47" name="Text 45"/>
          <p:cNvSpPr txBox="1"/>
          <p:nvPr/>
        </p:nvSpPr>
        <p:spPr>
          <a:xfrm>
            <a:off x="6341364" y="4078224"/>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48" name="Shape 46"/>
          <p:cNvSpPr/>
          <p:nvPr/>
        </p:nvSpPr>
        <p:spPr>
          <a:xfrm>
            <a:off x="6643116" y="4087368"/>
            <a:ext cx="1097280" cy="256032"/>
          </a:xfrm>
          <a:prstGeom prst="roundRect">
            <a:avLst>
              <a:gd name="adj" fmla="val 50000"/>
            </a:avLst>
          </a:prstGeom>
          <a:solidFill>
            <a:srgbClr val="2D8CFF"/>
          </a:solidFill>
          <a:ln w="12700">
            <a:solidFill>
              <a:srgbClr val="2D8CFF"/>
            </a:solidFill>
            <a:prstDash val="solid"/>
          </a:ln>
        </p:spPr>
      </p:sp>
      <p:sp>
        <p:nvSpPr>
          <p:cNvPr id="49" name="Text 47"/>
          <p:cNvSpPr txBox="1"/>
          <p:nvPr/>
        </p:nvSpPr>
        <p:spPr>
          <a:xfrm>
            <a:off x="6643116" y="4087368"/>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50" name="Text 48"/>
          <p:cNvSpPr txBox="1"/>
          <p:nvPr/>
        </p:nvSpPr>
        <p:spPr>
          <a:xfrm>
            <a:off x="7831836" y="4078224"/>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approve review --change basic-arithmetic</a:t>
            </a:r>
            <a:endParaRPr lang="en-US" sz="1100" dirty="0"/>
          </a:p>
        </p:txBody>
      </p:sp>
      <p:sp>
        <p:nvSpPr>
          <p:cNvPr id="51" name="Text 49"/>
          <p:cNvSpPr txBox="1"/>
          <p:nvPr/>
        </p:nvSpPr>
        <p:spPr>
          <a:xfrm>
            <a:off x="6643116" y="4389120"/>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Bob Turner authored code in this change. Bob Turner already approved …</a:t>
            </a:r>
            <a:endParaRPr lang="en-US" sz="1100" dirty="0"/>
          </a:p>
        </p:txBody>
      </p:sp>
      <p:sp>
        <p:nvSpPr>
          <p:cNvPr id="52" name="Shape 50"/>
          <p:cNvSpPr/>
          <p:nvPr/>
        </p:nvSpPr>
        <p:spPr>
          <a:xfrm>
            <a:off x="457200" y="4791456"/>
            <a:ext cx="5500116" cy="676656"/>
          </a:xfrm>
          <a:prstGeom prst="roundRect">
            <a:avLst>
              <a:gd name="adj" fmla="val 10811"/>
            </a:avLst>
          </a:prstGeom>
          <a:solidFill>
            <a:srgbClr val="F3F5F8"/>
          </a:solidFill>
          <a:ln w="12700">
            <a:solidFill>
              <a:srgbClr val="F3F5F8"/>
            </a:solidFill>
            <a:prstDash val="solid"/>
          </a:ln>
        </p:spPr>
      </p:sp>
      <p:sp>
        <p:nvSpPr>
          <p:cNvPr id="53" name="Text 51"/>
          <p:cNvSpPr txBox="1"/>
          <p:nvPr/>
        </p:nvSpPr>
        <p:spPr>
          <a:xfrm>
            <a:off x="566928" y="4864608"/>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54" name="Shape 52"/>
          <p:cNvSpPr/>
          <p:nvPr/>
        </p:nvSpPr>
        <p:spPr>
          <a:xfrm>
            <a:off x="868680" y="4873752"/>
            <a:ext cx="1097280" cy="256032"/>
          </a:xfrm>
          <a:prstGeom prst="roundRect">
            <a:avLst>
              <a:gd name="adj" fmla="val 50000"/>
            </a:avLst>
          </a:prstGeom>
          <a:solidFill>
            <a:srgbClr val="F2A541"/>
          </a:solidFill>
          <a:ln w="12700">
            <a:solidFill>
              <a:srgbClr val="F2A541"/>
            </a:solidFill>
            <a:prstDash val="solid"/>
          </a:ln>
        </p:spPr>
      </p:sp>
      <p:sp>
        <p:nvSpPr>
          <p:cNvPr id="55" name="Text 53"/>
          <p:cNvSpPr txBox="1"/>
          <p:nvPr/>
        </p:nvSpPr>
        <p:spPr>
          <a:xfrm>
            <a:off x="868680" y="4873752"/>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56" name="Text 54"/>
          <p:cNvSpPr txBox="1"/>
          <p:nvPr/>
        </p:nvSpPr>
        <p:spPr>
          <a:xfrm>
            <a:off x="2057400" y="4864608"/>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tests unlock --change fix-rounding</a:t>
            </a:r>
            <a:endParaRPr lang="en-US" sz="1100" dirty="0"/>
          </a:p>
        </p:txBody>
      </p:sp>
      <p:sp>
        <p:nvSpPr>
          <p:cNvPr id="57" name="Text 55"/>
          <p:cNvSpPr txBox="1"/>
          <p:nvPr/>
        </p:nvSpPr>
        <p:spPr>
          <a:xfrm>
            <a:off x="868680" y="5175504"/>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`sdlc tests unlock` records a human decision and cannot run inside an…</a:t>
            </a:r>
            <a:endParaRPr lang="en-US" sz="1100" dirty="0"/>
          </a:p>
        </p:txBody>
      </p:sp>
      <p:sp>
        <p:nvSpPr>
          <p:cNvPr id="58" name="Shape 56"/>
          <p:cNvSpPr/>
          <p:nvPr/>
        </p:nvSpPr>
        <p:spPr>
          <a:xfrm>
            <a:off x="6231636" y="4791456"/>
            <a:ext cx="5500116" cy="676656"/>
          </a:xfrm>
          <a:prstGeom prst="roundRect">
            <a:avLst>
              <a:gd name="adj" fmla="val 10811"/>
            </a:avLst>
          </a:prstGeom>
          <a:solidFill>
            <a:srgbClr val="F3F5F8"/>
          </a:solidFill>
          <a:ln w="12700">
            <a:solidFill>
              <a:srgbClr val="F3F5F8"/>
            </a:solidFill>
            <a:prstDash val="solid"/>
          </a:ln>
        </p:spPr>
      </p:sp>
      <p:sp>
        <p:nvSpPr>
          <p:cNvPr id="59" name="Text 57"/>
          <p:cNvSpPr txBox="1"/>
          <p:nvPr/>
        </p:nvSpPr>
        <p:spPr>
          <a:xfrm>
            <a:off x="6341364" y="4864608"/>
            <a:ext cx="274320" cy="274320"/>
          </a:xfrm>
          <a:prstGeom prst="rect">
            <a:avLst/>
          </a:prstGeom>
          <a:noFill/>
          <a:ln/>
        </p:spPr>
        <p:txBody>
          <a:bodyPr wrap="square" lIns="0" tIns="0" rIns="0" bIns="0" rtlCol="0" anchor="ctr"/>
          <a:lstStyle/>
          <a:p>
            <a:pPr indent="0" marL="0">
              <a:buNone/>
            </a:pPr>
            <a:r>
              <a:rPr lang="en-US" sz="1600" b="1" dirty="0">
                <a:solidFill>
                  <a:srgbClr val="D64545"/>
                </a:solidFill>
                <a:latin typeface="Calibri" pitchFamily="34" charset="0"/>
                <a:ea typeface="Calibri" pitchFamily="34" charset="-122"/>
                <a:cs typeface="Calibri" pitchFamily="34" charset="-120"/>
              </a:rPr>
              <a:t>✗</a:t>
            </a:r>
            <a:endParaRPr lang="en-US" sz="1600" dirty="0"/>
          </a:p>
        </p:txBody>
      </p:sp>
      <p:sp>
        <p:nvSpPr>
          <p:cNvPr id="60" name="Shape 58"/>
          <p:cNvSpPr/>
          <p:nvPr/>
        </p:nvSpPr>
        <p:spPr>
          <a:xfrm>
            <a:off x="6643116" y="4873752"/>
            <a:ext cx="1097280" cy="256032"/>
          </a:xfrm>
          <a:prstGeom prst="roundRect">
            <a:avLst>
              <a:gd name="adj" fmla="val 50000"/>
            </a:avLst>
          </a:prstGeom>
          <a:solidFill>
            <a:srgbClr val="F2A541"/>
          </a:solidFill>
          <a:ln w="12700">
            <a:solidFill>
              <a:srgbClr val="F2A541"/>
            </a:solidFill>
            <a:prstDash val="solid"/>
          </a:ln>
        </p:spPr>
      </p:sp>
      <p:sp>
        <p:nvSpPr>
          <p:cNvPr id="61" name="Text 59"/>
          <p:cNvSpPr txBox="1"/>
          <p:nvPr/>
        </p:nvSpPr>
        <p:spPr>
          <a:xfrm>
            <a:off x="6643116" y="4873752"/>
            <a:ext cx="10972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62" name="Text 60"/>
          <p:cNvSpPr txBox="1"/>
          <p:nvPr/>
        </p:nvSpPr>
        <p:spPr>
          <a:xfrm>
            <a:off x="7831836" y="4864608"/>
            <a:ext cx="3808476" cy="274320"/>
          </a:xfrm>
          <a:prstGeom prst="rect">
            <a:avLst/>
          </a:prstGeom>
          <a:noFill/>
          <a:ln/>
        </p:spPr>
        <p:txBody>
          <a:bodyPr wrap="square" lIns="0" tIns="0" rIns="0" bIns="0" rtlCol="0" anchor="ctr"/>
          <a:lstStyle/>
          <a:p>
            <a:pPr indent="0" marL="0">
              <a:buNone/>
            </a:pPr>
            <a:r>
              <a:rPr lang="en-US" sz="1100" dirty="0">
                <a:solidFill>
                  <a:srgbClr val="1F2430"/>
                </a:solidFill>
                <a:latin typeface="Courier New" pitchFamily="34" charset="0"/>
                <a:ea typeface="Courier New" pitchFamily="34" charset="-122"/>
                <a:cs typeface="Courier New" pitchFamily="34" charset="-120"/>
              </a:rPr>
              <a:t>sdlc team accept tester</a:t>
            </a:r>
            <a:endParaRPr lang="en-US" sz="1100" dirty="0"/>
          </a:p>
        </p:txBody>
      </p:sp>
      <p:sp>
        <p:nvSpPr>
          <p:cNvPr id="63" name="Text 61"/>
          <p:cNvSpPr txBox="1"/>
          <p:nvPr/>
        </p:nvSpPr>
        <p:spPr>
          <a:xfrm>
            <a:off x="6643116" y="5175504"/>
            <a:ext cx="4951476" cy="237744"/>
          </a:xfrm>
          <a:prstGeom prst="rect">
            <a:avLst/>
          </a:prstGeom>
          <a:noFill/>
          <a:ln/>
        </p:spPr>
        <p:txBody>
          <a:bodyPr wrap="square" lIns="0" tIns="0" rIns="0" bIns="0" rtlCol="0" anchor="ctr"/>
          <a:lstStyle/>
          <a:p>
            <a:pPr indent="0" marL="0">
              <a:buNone/>
            </a:pPr>
            <a:r>
              <a:rPr lang="en-US" sz="1100" dirty="0">
                <a:solidFill>
                  <a:srgbClr val="D64545"/>
                </a:solidFill>
                <a:latin typeface="Calibri" pitchFamily="34" charset="0"/>
                <a:ea typeface="Calibri" pitchFamily="34" charset="-122"/>
                <a:cs typeface="Calibri" pitchFamily="34" charset="-120"/>
              </a:rPr>
              <a:t>`sdlc team accept` records a human decision and cannot run inside an …</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A bug fix, a rejected idea, a waiver</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Bug fixes go on the lite track with tests locked first. Alice rejects voice input with a reason and waives the release step</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for an internal fix.</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tests lock --change fix-rounding</a:t>
            </a:r>
            <a:endParaRPr lang="en-US" sz="1100" dirty="0"/>
          </a:p>
        </p:txBody>
      </p:sp>
      <p:sp>
        <p:nvSpPr>
          <p:cNvPr id="9" name="Text 7"/>
          <p:cNvSpPr txBox="1"/>
          <p:nvPr/>
        </p:nvSpPr>
        <p:spPr>
          <a:xfrm>
            <a:off x="594360"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tests locked for fix-rounding: edits to</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test files (enforcement.test_paths) are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blocked until a person runs `sdlc tests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unlock --change fix-rounding`.</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Tests are locked: the failing test is the proof.</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7C5CFF"/>
          </a:solidFill>
          <a:ln w="12700">
            <a:solidFill>
              <a:srgbClr val="7C5CFF"/>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reject intent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voice-input --note Tills are in noisy …</a:t>
            </a:r>
            <a:endParaRPr lang="en-US" sz="1100" dirty="0"/>
          </a:p>
        </p:txBody>
      </p:sp>
      <p:sp>
        <p:nvSpPr>
          <p:cNvPr id="16" name="Text 14"/>
          <p:cNvSpPr txBox="1"/>
          <p:nvPr/>
        </p:nvSpPr>
        <p:spPr>
          <a:xfrm>
            <a:off x="4443984"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intent gate rejected by Alice Walker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&lt;alice@calc.example&gt;: Tills are in noisy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shops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The intent gate was rejected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by Alice Walker &lt;alice@calc.example&gt;: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Tills are in noisy shops. Revise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 artifact(s), then ask for approval</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again. (/sdlc:intent)</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Alice rejects it with a reason.</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7C5CFF"/>
          </a:solidFill>
          <a:ln w="12700">
            <a:solidFill>
              <a:srgbClr val="7C5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36576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waive release --change</a:t>
            </a:r>
            <a:endParaRPr lang="en-US" sz="1100" dirty="0"/>
          </a:p>
          <a:p>
            <a:pPr indent="0" marL="0">
              <a:buNone/>
            </a:pPr>
            <a:r>
              <a:rPr lang="en-US" sz="1100" dirty="0">
                <a:solidFill>
                  <a:srgbClr val="F2A541"/>
                </a:solidFill>
                <a:latin typeface="Courier New" pitchFamily="34" charset="0"/>
                <a:ea typeface="Courier New" pitchFamily="34" charset="-122"/>
                <a:cs typeface="Courier New" pitchFamily="34" charset="-120"/>
              </a:rPr>
              <a:t>fix-rounding --note Internal library, …</a:t>
            </a:r>
            <a:endParaRPr lang="en-US" sz="1100" dirty="0"/>
          </a:p>
        </p:txBody>
      </p:sp>
      <p:sp>
        <p:nvSpPr>
          <p:cNvPr id="23" name="Text 21"/>
          <p:cNvSpPr txBox="1"/>
          <p:nvPr/>
        </p:nvSpPr>
        <p:spPr>
          <a:xfrm>
            <a:off x="8293608" y="2651760"/>
            <a:ext cx="3300984" cy="260604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release gate waived by Alice Walker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&lt;alice@calc.example&gt;: Internal library,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no release step</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Write plan (plan.md) for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plan gate. (/sdlc:plan)</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A recorded waiver.</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41757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41757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new</a:t>
            </a:r>
            <a:endParaRPr lang="en-US" sz="1000" dirty="0"/>
          </a:p>
        </p:txBody>
      </p:sp>
      <p:sp>
        <p:nvSpPr>
          <p:cNvPr id="28" name="Shape 26"/>
          <p:cNvSpPr/>
          <p:nvPr/>
        </p:nvSpPr>
        <p:spPr>
          <a:xfrm>
            <a:off x="2749296" y="6053328"/>
            <a:ext cx="81381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2749296"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track set</a:t>
            </a:r>
            <a:endParaRPr lang="en-US" sz="1000" dirty="0"/>
          </a:p>
        </p:txBody>
      </p:sp>
      <p:sp>
        <p:nvSpPr>
          <p:cNvPr id="30" name="Shape 28"/>
          <p:cNvSpPr/>
          <p:nvPr/>
        </p:nvSpPr>
        <p:spPr>
          <a:xfrm>
            <a:off x="3654552" y="6053328"/>
            <a:ext cx="54965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3654552" y="6053328"/>
            <a:ext cx="5496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tests</a:t>
            </a:r>
            <a:endParaRPr lang="en-US" sz="1000" dirty="0"/>
          </a:p>
        </p:txBody>
      </p:sp>
      <p:sp>
        <p:nvSpPr>
          <p:cNvPr id="32" name="Shape 30"/>
          <p:cNvSpPr/>
          <p:nvPr/>
        </p:nvSpPr>
        <p:spPr>
          <a:xfrm>
            <a:off x="4295648" y="6053328"/>
            <a:ext cx="94589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4295648" y="6053328"/>
            <a:ext cx="9458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defer close</a:t>
            </a:r>
            <a:endParaRPr lang="en-US" sz="1000" dirty="0"/>
          </a:p>
        </p:txBody>
      </p:sp>
      <p:sp>
        <p:nvSpPr>
          <p:cNvPr id="34" name="Shape 32"/>
          <p:cNvSpPr/>
          <p:nvPr/>
        </p:nvSpPr>
        <p:spPr>
          <a:xfrm>
            <a:off x="5332984" y="6053328"/>
            <a:ext cx="101193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5332984"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backlog done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BMAD planning comes in as backlog items</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An epic and its tickets from BMAD-METHOD become backlog items with their dependencies.</a:t>
            </a:r>
            <a:endParaRPr lang="en-US" sz="1400" dirty="0"/>
          </a:p>
        </p:txBody>
      </p:sp>
      <p:sp>
        <p:nvSpPr>
          <p:cNvPr id="4" name="Shape 2"/>
          <p:cNvSpPr/>
          <p:nvPr/>
        </p:nvSpPr>
        <p:spPr>
          <a:xfrm>
            <a:off x="457200" y="1645920"/>
            <a:ext cx="11274552" cy="4206240"/>
          </a:xfrm>
          <a:prstGeom prst="roundRect">
            <a:avLst>
              <a:gd name="adj" fmla="val 2174"/>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F2A541"/>
          </a:solidFill>
          <a:ln w="12700">
            <a:solidFill>
              <a:srgbClr val="F2A541"/>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7" name="Text 5"/>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11000232"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import bmad _bmad-output/epic-scientific --to-backlog</a:t>
            </a:r>
            <a:endParaRPr lang="en-US" sz="1100" dirty="0"/>
          </a:p>
        </p:txBody>
      </p:sp>
      <p:sp>
        <p:nvSpPr>
          <p:cNvPr id="9" name="Text 7"/>
          <p:cNvSpPr txBox="1"/>
          <p:nvPr/>
        </p:nvSpPr>
        <p:spPr>
          <a:xfrm>
            <a:off x="594360" y="2468880"/>
            <a:ext cx="11000232" cy="32461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Imported 1 epics and 2 backlog items.</a:t>
            </a:r>
            <a:endParaRPr lang="en-US" sz="1000" dirty="0"/>
          </a:p>
        </p:txBody>
      </p:sp>
      <p:sp>
        <p:nvSpPr>
          <p:cNvPr id="10" name="Text 8"/>
          <p:cNvSpPr txBox="1"/>
          <p:nvPr/>
        </p:nvSpPr>
        <p:spPr>
          <a:xfrm>
            <a:off x="457200" y="5925312"/>
            <a:ext cx="11274552"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Epic and tickets from BMAD become backlog items.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The whole picture, always current</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Status, a report with diagrams, an offline dashboard, metrics and a log. A background script keeps the dashboard page fresh.</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2D8CFF"/>
          </a:solidFill>
          <a:ln w="12700">
            <a:solidFill>
              <a:srgbClr val="2D8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status</a:t>
            </a:r>
            <a:endParaRPr lang="en-US" sz="1100" dirty="0"/>
          </a:p>
        </p:txBody>
      </p:sp>
      <p:sp>
        <p:nvSpPr>
          <p:cNvPr id="9" name="Text 7"/>
          <p:cNvSpPr txBox="1"/>
          <p:nvPr/>
        </p:nvSpPr>
        <p:spPr>
          <a:xfrm>
            <a:off x="594360"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CHANGE        STAGE     NEXT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fix-rounding  build     agent: /sdlc:plan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Write plan (plan.md) for the plan gate.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voice-input   plan      agent: /sdlc:intent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The intent gate was rejected by Alice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Walker &lt;alice@calc.example&gt;: Tills are in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noisy shops. Revise the intent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artifact(s), then ask for approval again.</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Every active change.</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7C5CFF"/>
          </a:solidFill>
          <a:ln w="12700">
            <a:solidFill>
              <a:srgbClr val="7C5CFF"/>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audit</a:t>
            </a:r>
            <a:endParaRPr lang="en-US" sz="1100" dirty="0"/>
          </a:p>
        </p:txBody>
      </p:sp>
      <p:sp>
        <p:nvSpPr>
          <p:cNvPr id="16" name="Text 14"/>
          <p:cNvSpPr txBox="1"/>
          <p:nvPr/>
        </p:nvSpPr>
        <p:spPr>
          <a:xfrm>
            <a:off x="4443984"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SDLC metrics across 3 change(s) (1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archived) · sdlc 0.25.0, license: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community (PolyForm-Noncommercial-1.0.0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sdlc-Additional-Permissions-1.0)</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median hours: intent→spec 0 · spec→plan 0</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 plan→verified 0 · verified→review 0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total 0</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verification first-pass rate: 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rejections 1; waivers 1 (+0 by policy)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agent commits: 0 of 13 (SDLC-Agent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trailer)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agent log events: 33 of 65</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median wait for a person (seconds):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intent 3 · spec 4 · plan 18 · review 3;</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rework reasons: missing-requirement 1</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Lead times and first-pass rate.</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7C5CFF"/>
          </a:solidFill>
          <a:ln w="12700">
            <a:solidFill>
              <a:srgbClr val="7C5CFF"/>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Alice</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log --limit 15</a:t>
            </a:r>
            <a:endParaRPr lang="en-US" sz="1100" dirty="0"/>
          </a:p>
        </p:txBody>
      </p:sp>
      <p:sp>
        <p:nvSpPr>
          <p:cNvPr id="23" name="Text 21"/>
          <p:cNvSpPr txBox="1"/>
          <p:nvPr/>
        </p:nvSpPr>
        <p:spPr>
          <a:xfrm>
            <a:off x="8293608"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(last 15 of 65 entries; --limit to see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more)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2026-10-21T08:11:15.845Z  gate.review.await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ing       basic-arithmetic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sha256:46bc4626e33e438391481df9e302fecf79</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04a4f5118eda0a84614092b59889a5 [sdlc</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0.25.0 · community]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2026-10-21T08:11:18.945Z  gate.review.appro</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ved       basic-arithmetic Carol Hughes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&lt;carol@calc.example&gt; - role code-owner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[sdlc 0.25.0 · community]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2026-10-21T08:11:25.441Z  gate.release.appr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oved      basic-arithmetic Alice Walker</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&lt;alice@calc.example&gt; - role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release-manager [sdlc 0.25.0 · community]</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Who did what, with the sdlc version and license.</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61569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status</a:t>
            </a:r>
            <a:endParaRPr lang="en-US" sz="1000" dirty="0"/>
          </a:p>
        </p:txBody>
      </p:sp>
      <p:sp>
        <p:nvSpPr>
          <p:cNvPr id="28" name="Shape 26"/>
          <p:cNvSpPr/>
          <p:nvPr/>
        </p:nvSpPr>
        <p:spPr>
          <a:xfrm>
            <a:off x="2947416" y="6053328"/>
            <a:ext cx="61569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2947416" y="6053328"/>
            <a:ext cx="6156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report</a:t>
            </a:r>
            <a:endParaRPr lang="en-US" sz="1000" dirty="0"/>
          </a:p>
        </p:txBody>
      </p:sp>
      <p:sp>
        <p:nvSpPr>
          <p:cNvPr id="30" name="Shape 28"/>
          <p:cNvSpPr/>
          <p:nvPr/>
        </p:nvSpPr>
        <p:spPr>
          <a:xfrm>
            <a:off x="3654552" y="6053328"/>
            <a:ext cx="81381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3654552"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dashboard</a:t>
            </a:r>
            <a:endParaRPr lang="en-US" sz="1000" dirty="0"/>
          </a:p>
        </p:txBody>
      </p:sp>
      <p:sp>
        <p:nvSpPr>
          <p:cNvPr id="32" name="Shape 30"/>
          <p:cNvSpPr/>
          <p:nvPr/>
        </p:nvSpPr>
        <p:spPr>
          <a:xfrm>
            <a:off x="4559808" y="6053328"/>
            <a:ext cx="87985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4559808" y="6053328"/>
            <a:ext cx="8798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statusline</a:t>
            </a:r>
            <a:endParaRPr lang="en-US" sz="1000" dirty="0"/>
          </a:p>
        </p:txBody>
      </p:sp>
      <p:sp>
        <p:nvSpPr>
          <p:cNvPr id="34" name="Shape 32"/>
          <p:cNvSpPr/>
          <p:nvPr/>
        </p:nvSpPr>
        <p:spPr>
          <a:xfrm>
            <a:off x="5531104" y="6053328"/>
            <a:ext cx="48361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5531104" y="6053328"/>
            <a:ext cx="4836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hook</a:t>
            </a:r>
            <a:endParaRPr lang="en-US" sz="1000" dirty="0"/>
          </a:p>
        </p:txBody>
      </p:sp>
      <p:sp>
        <p:nvSpPr>
          <p:cNvPr id="36" name="Shape 34"/>
          <p:cNvSpPr/>
          <p:nvPr/>
        </p:nvSpPr>
        <p:spPr>
          <a:xfrm>
            <a:off x="6106160" y="6053328"/>
            <a:ext cx="1011936" cy="256032"/>
          </a:xfrm>
          <a:prstGeom prst="roundRect">
            <a:avLst>
              <a:gd name="adj" fmla="val 50000"/>
            </a:avLst>
          </a:prstGeom>
          <a:solidFill>
            <a:srgbClr val="F3F5F8"/>
          </a:solidFill>
          <a:ln w="12700">
            <a:solidFill>
              <a:srgbClr val="F3F5F8"/>
            </a:solidFill>
            <a:prstDash val="solid"/>
          </a:ln>
        </p:spPr>
      </p:sp>
      <p:sp>
        <p:nvSpPr>
          <p:cNvPr id="37" name="Text 35"/>
          <p:cNvSpPr txBox="1"/>
          <p:nvPr/>
        </p:nvSpPr>
        <p:spPr>
          <a:xfrm>
            <a:off x="6106160"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plugin build</a:t>
            </a:r>
            <a:endParaRPr lang="en-US" sz="1000" dirty="0"/>
          </a:p>
        </p:txBody>
      </p:sp>
      <p:sp>
        <p:nvSpPr>
          <p:cNvPr id="38" name="Shape 36"/>
          <p:cNvSpPr/>
          <p:nvPr/>
        </p:nvSpPr>
        <p:spPr>
          <a:xfrm>
            <a:off x="7209536" y="6053328"/>
            <a:ext cx="681736" cy="256032"/>
          </a:xfrm>
          <a:prstGeom prst="roundRect">
            <a:avLst>
              <a:gd name="adj" fmla="val 50000"/>
            </a:avLst>
          </a:prstGeom>
          <a:solidFill>
            <a:srgbClr val="F3F5F8"/>
          </a:solidFill>
          <a:ln w="12700">
            <a:solidFill>
              <a:srgbClr val="F3F5F8"/>
            </a:solidFill>
            <a:prstDash val="solid"/>
          </a:ln>
        </p:spPr>
      </p:sp>
      <p:sp>
        <p:nvSpPr>
          <p:cNvPr id="39" name="Text 37"/>
          <p:cNvSpPr txBox="1"/>
          <p:nvPr/>
        </p:nvSpPr>
        <p:spPr>
          <a:xfrm>
            <a:off x="7209536" y="6053328"/>
            <a:ext cx="6817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ci init</a:t>
            </a:r>
            <a:endParaRPr lang="en-US" sz="1000" dirty="0"/>
          </a:p>
        </p:txBody>
      </p:sp>
      <p:sp>
        <p:nvSpPr>
          <p:cNvPr id="40" name="Shape 38"/>
          <p:cNvSpPr/>
          <p:nvPr/>
        </p:nvSpPr>
        <p:spPr>
          <a:xfrm>
            <a:off x="7982712" y="6053328"/>
            <a:ext cx="813816" cy="256032"/>
          </a:xfrm>
          <a:prstGeom prst="roundRect">
            <a:avLst>
              <a:gd name="adj" fmla="val 50000"/>
            </a:avLst>
          </a:prstGeom>
          <a:solidFill>
            <a:srgbClr val="F3F5F8"/>
          </a:solidFill>
          <a:ln w="12700">
            <a:solidFill>
              <a:srgbClr val="F3F5F8"/>
            </a:solidFill>
            <a:prstDash val="solid"/>
          </a:ln>
        </p:spPr>
      </p:sp>
      <p:sp>
        <p:nvSpPr>
          <p:cNvPr id="41" name="Text 39"/>
          <p:cNvSpPr txBox="1"/>
          <p:nvPr/>
        </p:nvSpPr>
        <p:spPr>
          <a:xfrm>
            <a:off x="7982712"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uninstall</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Other AI systems, over MCP</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Other systems read the process over MCP; sdlc calls their servers itself. CI status becomes gate evidence, and results wait in</a:t>
            </a:r>
            <a:endParaRPr lang="en-US" sz="1400" dirty="0"/>
          </a:p>
          <a:p>
            <a:pPr indent="0" marL="0">
              <a:buNone/>
            </a:pPr>
            <a:r>
              <a:rPr lang="en-US" sz="1400" dirty="0">
                <a:solidFill>
                  <a:srgbClr val="5B6475"/>
                </a:solidFill>
                <a:latin typeface="Calibri" pitchFamily="34" charset="0"/>
                <a:ea typeface="Calibri" pitchFamily="34" charset="-122"/>
                <a:cs typeface="Calibri" pitchFamily="34" charset="-120"/>
              </a:rPr>
              <a:t>the agent inbox.</a:t>
            </a:r>
            <a:endParaRPr lang="en-US" sz="1400" dirty="0"/>
          </a:p>
        </p:txBody>
      </p:sp>
      <p:sp>
        <p:nvSpPr>
          <p:cNvPr id="4" name="Shape 2"/>
          <p:cNvSpPr/>
          <p:nvPr/>
        </p:nvSpPr>
        <p:spPr>
          <a:xfrm>
            <a:off x="457200" y="1645920"/>
            <a:ext cx="3575304" cy="3749040"/>
          </a:xfrm>
          <a:prstGeom prst="roundRect">
            <a:avLst>
              <a:gd name="adj" fmla="val 2558"/>
            </a:avLst>
          </a:prstGeom>
          <a:solidFill>
            <a:srgbClr val="1F2430"/>
          </a:solidFill>
          <a:ln w="12700">
            <a:solidFill>
              <a:srgbClr val="1F2430"/>
            </a:solidFill>
            <a:prstDash val="solid"/>
          </a:ln>
        </p:spPr>
      </p:sp>
      <p:sp>
        <p:nvSpPr>
          <p:cNvPr id="5" name="Shape 3"/>
          <p:cNvSpPr/>
          <p:nvPr/>
        </p:nvSpPr>
        <p:spPr>
          <a:xfrm>
            <a:off x="594360" y="1783080"/>
            <a:ext cx="1371600" cy="274320"/>
          </a:xfrm>
          <a:prstGeom prst="roundRect">
            <a:avLst>
              <a:gd name="adj" fmla="val 50000"/>
            </a:avLst>
          </a:prstGeom>
          <a:solidFill>
            <a:srgbClr val="2D8CFF"/>
          </a:solidFill>
          <a:ln w="12700">
            <a:solidFill>
              <a:srgbClr val="2D8CFF"/>
            </a:solidFill>
            <a:prstDash val="solid"/>
          </a:ln>
        </p:spPr>
      </p:sp>
      <p:sp>
        <p:nvSpPr>
          <p:cNvPr id="6" name="Text 4"/>
          <p:cNvSpPr txBox="1"/>
          <p:nvPr/>
        </p:nvSpPr>
        <p:spPr>
          <a:xfrm>
            <a:off x="594360"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7" name="Text 5"/>
          <p:cNvSpPr txBox="1"/>
          <p:nvPr/>
        </p:nvSpPr>
        <p:spPr>
          <a:xfrm>
            <a:off x="2889504"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8" name="Text 6"/>
          <p:cNvSpPr txBox="1"/>
          <p:nvPr/>
        </p:nvSpPr>
        <p:spPr>
          <a:xfrm>
            <a:off x="594360"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mcp check</a:t>
            </a:r>
            <a:endParaRPr lang="en-US" sz="1100" dirty="0"/>
          </a:p>
        </p:txBody>
      </p:sp>
      <p:sp>
        <p:nvSpPr>
          <p:cNvPr id="9" name="Text 7"/>
          <p:cNvSpPr txBox="1"/>
          <p:nvPr/>
        </p:nvSpPr>
        <p:spPr>
          <a:xfrm>
            <a:off x="594360"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github (stdio): available, 3 tool(s)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list_issues, add_issue_comment,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update_issue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ci (stdio): available, 1 tool(s)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pipeline_status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kb (stdio): available, 1 tool(s)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search_docs</a:t>
            </a:r>
            <a:endParaRPr lang="en-US" sz="1000" dirty="0"/>
          </a:p>
        </p:txBody>
      </p:sp>
      <p:sp>
        <p:nvSpPr>
          <p:cNvPr id="10" name="Text 8"/>
          <p:cNvSpPr txBox="1"/>
          <p:nvPr/>
        </p:nvSpPr>
        <p:spPr>
          <a:xfrm>
            <a:off x="457200"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team's MCP servers: reachable, tools listed,</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file writers flagged.</a:t>
            </a:r>
            <a:endParaRPr lang="en-US" sz="1100" dirty="0"/>
          </a:p>
        </p:txBody>
      </p:sp>
      <p:sp>
        <p:nvSpPr>
          <p:cNvPr id="11" name="Shape 9"/>
          <p:cNvSpPr/>
          <p:nvPr/>
        </p:nvSpPr>
        <p:spPr>
          <a:xfrm>
            <a:off x="4306824" y="1645920"/>
            <a:ext cx="3575304" cy="3749040"/>
          </a:xfrm>
          <a:prstGeom prst="roundRect">
            <a:avLst>
              <a:gd name="adj" fmla="val 2558"/>
            </a:avLst>
          </a:prstGeom>
          <a:solidFill>
            <a:srgbClr val="1F2430"/>
          </a:solidFill>
          <a:ln w="12700">
            <a:solidFill>
              <a:srgbClr val="1F2430"/>
            </a:solidFill>
            <a:prstDash val="solid"/>
          </a:ln>
        </p:spPr>
      </p:sp>
      <p:sp>
        <p:nvSpPr>
          <p:cNvPr id="12" name="Shape 10"/>
          <p:cNvSpPr/>
          <p:nvPr/>
        </p:nvSpPr>
        <p:spPr>
          <a:xfrm>
            <a:off x="4443984" y="1783080"/>
            <a:ext cx="1371600" cy="274320"/>
          </a:xfrm>
          <a:prstGeom prst="roundRect">
            <a:avLst>
              <a:gd name="adj" fmla="val 50000"/>
            </a:avLst>
          </a:prstGeom>
          <a:solidFill>
            <a:srgbClr val="2D8CFF"/>
          </a:solidFill>
          <a:ln w="12700">
            <a:solidFill>
              <a:srgbClr val="2D8CFF"/>
            </a:solidFill>
            <a:prstDash val="solid"/>
          </a:ln>
        </p:spPr>
      </p:sp>
      <p:sp>
        <p:nvSpPr>
          <p:cNvPr id="13" name="Text 11"/>
          <p:cNvSpPr txBox="1"/>
          <p:nvPr/>
        </p:nvSpPr>
        <p:spPr>
          <a:xfrm>
            <a:off x="4443984"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Bob</a:t>
            </a:r>
            <a:endParaRPr lang="en-US" sz="1100" dirty="0"/>
          </a:p>
        </p:txBody>
      </p:sp>
      <p:sp>
        <p:nvSpPr>
          <p:cNvPr id="14" name="Text 12"/>
          <p:cNvSpPr txBox="1"/>
          <p:nvPr/>
        </p:nvSpPr>
        <p:spPr>
          <a:xfrm>
            <a:off x="6739128"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15" name="Text 13"/>
          <p:cNvSpPr txBox="1"/>
          <p:nvPr/>
        </p:nvSpPr>
        <p:spPr>
          <a:xfrm>
            <a:off x="4443984"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verify --change fix-rounding</a:t>
            </a:r>
            <a:endParaRPr lang="en-US" sz="1100" dirty="0"/>
          </a:p>
        </p:txBody>
      </p:sp>
      <p:sp>
        <p:nvSpPr>
          <p:cNvPr id="16" name="Text 14"/>
          <p:cNvSpPr txBox="1"/>
          <p:nvPr/>
        </p:nvSpPr>
        <p:spPr>
          <a:xfrm>
            <a:off x="4443984"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 test (1.0s)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ci-green (ci/pipeline_status, 0.5s)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Verification passed - evidence recorded in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openspec\changes\fix-rounding\verificatio</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n.md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Next: agent — Write plan (plan.md) for the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plan gate. (/sdlc:plan)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running test: npm test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ci-green: ci/pipeline_status (MCP)</a:t>
            </a:r>
            <a:endParaRPr lang="en-US" sz="1000" dirty="0"/>
          </a:p>
        </p:txBody>
      </p:sp>
      <p:sp>
        <p:nvSpPr>
          <p:cNvPr id="17" name="Text 15"/>
          <p:cNvSpPr txBox="1"/>
          <p:nvPr/>
        </p:nvSpPr>
        <p:spPr>
          <a:xfrm>
            <a:off x="4306824"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Bob verifies himself: the CLI calls the CI server</a:t>
            </a:r>
            <a:endParaRPr lang="en-US" sz="1100" dirty="0"/>
          </a:p>
          <a:p>
            <a:pPr indent="0" marL="0">
              <a:buNone/>
            </a:pPr>
            <a:r>
              <a:rPr lang="en-US" sz="1100" i="1" dirty="0">
                <a:solidFill>
                  <a:srgbClr val="5B6475"/>
                </a:solidFill>
                <a:latin typeface="Calibri" pitchFamily="34" charset="0"/>
                <a:ea typeface="Calibri" pitchFamily="34" charset="-122"/>
                <a:cs typeface="Calibri" pitchFamily="34" charset="-120"/>
              </a:rPr>
              <a:t>over MCP and keeps the result for the agent.</a:t>
            </a:r>
            <a:endParaRPr lang="en-US" sz="1100" dirty="0"/>
          </a:p>
        </p:txBody>
      </p:sp>
      <p:sp>
        <p:nvSpPr>
          <p:cNvPr id="18" name="Shape 16"/>
          <p:cNvSpPr/>
          <p:nvPr/>
        </p:nvSpPr>
        <p:spPr>
          <a:xfrm>
            <a:off x="8156448" y="1645920"/>
            <a:ext cx="3575304" cy="3749040"/>
          </a:xfrm>
          <a:prstGeom prst="roundRect">
            <a:avLst>
              <a:gd name="adj" fmla="val 2558"/>
            </a:avLst>
          </a:prstGeom>
          <a:solidFill>
            <a:srgbClr val="1F2430"/>
          </a:solidFill>
          <a:ln w="12700">
            <a:solidFill>
              <a:srgbClr val="1F2430"/>
            </a:solidFill>
            <a:prstDash val="solid"/>
          </a:ln>
        </p:spPr>
      </p:sp>
      <p:sp>
        <p:nvSpPr>
          <p:cNvPr id="19" name="Shape 17"/>
          <p:cNvSpPr/>
          <p:nvPr/>
        </p:nvSpPr>
        <p:spPr>
          <a:xfrm>
            <a:off x="8293608" y="1783080"/>
            <a:ext cx="1371600" cy="274320"/>
          </a:xfrm>
          <a:prstGeom prst="roundRect">
            <a:avLst>
              <a:gd name="adj" fmla="val 50000"/>
            </a:avLst>
          </a:prstGeom>
          <a:solidFill>
            <a:srgbClr val="F2A541"/>
          </a:solidFill>
          <a:ln w="12700">
            <a:solidFill>
              <a:srgbClr val="F2A541"/>
            </a:solidFill>
            <a:prstDash val="solid"/>
          </a:ln>
        </p:spPr>
      </p:sp>
      <p:sp>
        <p:nvSpPr>
          <p:cNvPr id="20" name="Text 18"/>
          <p:cNvSpPr txBox="1"/>
          <p:nvPr/>
        </p:nvSpPr>
        <p:spPr>
          <a:xfrm>
            <a:off x="8293608" y="1783080"/>
            <a:ext cx="13716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AI agent</a:t>
            </a:r>
            <a:endParaRPr lang="en-US" sz="1100" dirty="0"/>
          </a:p>
        </p:txBody>
      </p:sp>
      <p:sp>
        <p:nvSpPr>
          <p:cNvPr id="21" name="Text 19"/>
          <p:cNvSpPr txBox="1"/>
          <p:nvPr/>
        </p:nvSpPr>
        <p:spPr>
          <a:xfrm>
            <a:off x="10588752" y="1783080"/>
            <a:ext cx="1005840" cy="274320"/>
          </a:xfrm>
          <a:prstGeom prst="rect">
            <a:avLst/>
          </a:prstGeom>
          <a:noFill/>
          <a:ln/>
        </p:spPr>
        <p:txBody>
          <a:bodyPr wrap="square" lIns="0" tIns="0" rIns="0" bIns="0" rtlCol="0" anchor="ctr"/>
          <a:lstStyle/>
          <a:p>
            <a:pPr algn="r" indent="0" marL="0">
              <a:buNone/>
            </a:pPr>
            <a:r>
              <a:rPr lang="en-US" sz="1100" b="1" dirty="0">
                <a:solidFill>
                  <a:srgbClr val="2FA66A"/>
                </a:solidFill>
                <a:latin typeface="Calibri" pitchFamily="34" charset="0"/>
                <a:ea typeface="Calibri" pitchFamily="34" charset="-122"/>
                <a:cs typeface="Calibri" pitchFamily="34" charset="-120"/>
              </a:rPr>
              <a:t>✓ exit 0</a:t>
            </a:r>
            <a:endParaRPr lang="en-US" sz="1100" dirty="0"/>
          </a:p>
        </p:txBody>
      </p:sp>
      <p:sp>
        <p:nvSpPr>
          <p:cNvPr id="22" name="Text 20"/>
          <p:cNvSpPr txBox="1"/>
          <p:nvPr/>
        </p:nvSpPr>
        <p:spPr>
          <a:xfrm>
            <a:off x="8293608" y="2176272"/>
            <a:ext cx="3300984" cy="182880"/>
          </a:xfrm>
          <a:prstGeom prst="rect">
            <a:avLst/>
          </a:prstGeom>
          <a:noFill/>
          <a:ln/>
        </p:spPr>
        <p:txBody>
          <a:bodyPr wrap="square" lIns="0" tIns="0" rIns="0" bIns="0" rtlCol="0" anchor="t"/>
          <a:lstStyle/>
          <a:p>
            <a:pPr indent="0" marL="0">
              <a:buNone/>
            </a:pPr>
            <a:r>
              <a:rPr lang="en-US" sz="1100" dirty="0">
                <a:solidFill>
                  <a:srgbClr val="F2A541"/>
                </a:solidFill>
                <a:latin typeface="Courier New" pitchFamily="34" charset="0"/>
                <a:ea typeface="Courier New" pitchFamily="34" charset="-122"/>
                <a:cs typeface="Courier New" pitchFamily="34" charset="-120"/>
              </a:rPr>
              <a:t>$ sdlc inbox list --json</a:t>
            </a:r>
            <a:endParaRPr lang="en-US" sz="1100" dirty="0"/>
          </a:p>
        </p:txBody>
      </p:sp>
      <p:sp>
        <p:nvSpPr>
          <p:cNvPr id="23" name="Text 21"/>
          <p:cNvSpPr txBox="1"/>
          <p:nvPr/>
        </p:nvSpPr>
        <p:spPr>
          <a:xfrm>
            <a:off x="8293608" y="2468880"/>
            <a:ext cx="3300984" cy="2788920"/>
          </a:xfrm>
          <a:prstGeom prst="rect">
            <a:avLst/>
          </a:prstGeom>
          <a:noFill/>
          <a:ln/>
        </p:spPr>
        <p:txBody>
          <a:bodyPr wrap="square" lIns="0" tIns="0" rIns="0" bIns="0" rtlCol="0" anchor="t"/>
          <a:lstStyle/>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"items":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"id": "20261021T081224375Z-ci-green-3</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eb7ae",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"change": "fix-rounding",</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"check": "ci-green",</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"server": "ci",</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"tool": "pipeline_status",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"ok": true,</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"result": {</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"status": "success",</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"ref": "622db90eb1aca4573ef67294a2b</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20b4b9741d4cd",</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        "token": "absent"</a:t>
            </a:r>
            <a:endParaRPr lang="en-US" sz="1000" dirty="0"/>
          </a:p>
          <a:p>
            <a:pPr indent="0" marL="0">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24" name="Text 22"/>
          <p:cNvSpPr txBox="1"/>
          <p:nvPr/>
        </p:nvSpPr>
        <p:spPr>
          <a:xfrm>
            <a:off x="8156448" y="5468112"/>
            <a:ext cx="3575304" cy="384048"/>
          </a:xfrm>
          <a:prstGeom prst="rect">
            <a:avLst/>
          </a:prstGeom>
          <a:noFill/>
          <a:ln/>
        </p:spPr>
        <p:txBody>
          <a:bodyPr wrap="square" lIns="0" tIns="0" rIns="0" bIns="0" rtlCol="0" anchor="t"/>
          <a:lstStyle/>
          <a:p>
            <a:pPr indent="0" marL="0">
              <a:buNone/>
            </a:pPr>
            <a:r>
              <a:rPr lang="en-US" sz="1100" i="1" dirty="0">
                <a:solidFill>
                  <a:srgbClr val="5B6475"/>
                </a:solidFill>
                <a:latin typeface="Calibri" pitchFamily="34" charset="0"/>
                <a:ea typeface="Calibri" pitchFamily="34" charset="-122"/>
                <a:cs typeface="Calibri" pitchFamily="34" charset="-120"/>
              </a:rPr>
              <a:t>The agent finds the result in its inbox.</a:t>
            </a:r>
            <a:endParaRPr lang="en-US" sz="1100" dirty="0"/>
          </a:p>
        </p:txBody>
      </p:sp>
      <p:sp>
        <p:nvSpPr>
          <p:cNvPr id="25" name="Text 23"/>
          <p:cNvSpPr txBox="1"/>
          <p:nvPr/>
        </p:nvSpPr>
        <p:spPr>
          <a:xfrm>
            <a:off x="457200" y="6053328"/>
            <a:ext cx="1737360" cy="256032"/>
          </a:xfrm>
          <a:prstGeom prst="rect">
            <a:avLst/>
          </a:prstGeom>
          <a:noFill/>
          <a:ln/>
        </p:spPr>
        <p:txBody>
          <a:bodyPr wrap="square" lIns="0" tIns="0" rIns="0" bIns="0" rtlCol="0" anchor="ctr"/>
          <a:lstStyle/>
          <a:p>
            <a:pPr indent="0" marL="0">
              <a:buNone/>
            </a:pPr>
            <a:r>
              <a:rPr lang="en-US" sz="1100" dirty="0">
                <a:solidFill>
                  <a:srgbClr val="5B6475"/>
                </a:solidFill>
                <a:latin typeface="Calibri" pitchFamily="34" charset="0"/>
                <a:ea typeface="Calibri" pitchFamily="34" charset="-122"/>
                <a:cs typeface="Calibri" pitchFamily="34" charset="-120"/>
              </a:rPr>
              <a:t>Also in this part:</a:t>
            </a:r>
            <a:endParaRPr lang="en-US" sz="1100" dirty="0"/>
          </a:p>
        </p:txBody>
      </p:sp>
      <p:sp>
        <p:nvSpPr>
          <p:cNvPr id="26" name="Shape 24"/>
          <p:cNvSpPr/>
          <p:nvPr/>
        </p:nvSpPr>
        <p:spPr>
          <a:xfrm>
            <a:off x="2240280" y="6053328"/>
            <a:ext cx="87985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2240280" y="6053328"/>
            <a:ext cx="87985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inbox done</a:t>
            </a:r>
            <a:endParaRPr lang="en-US" sz="1000" dirty="0"/>
          </a:p>
        </p:txBody>
      </p:sp>
      <p:sp>
        <p:nvSpPr>
          <p:cNvPr id="28" name="Shape 26"/>
          <p:cNvSpPr/>
          <p:nvPr/>
        </p:nvSpPr>
        <p:spPr>
          <a:xfrm>
            <a:off x="3211576" y="6053328"/>
            <a:ext cx="94589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3211576" y="6053328"/>
            <a:ext cx="94589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events list</a:t>
            </a:r>
            <a:endParaRPr lang="en-US" sz="1000" dirty="0"/>
          </a:p>
        </p:txBody>
      </p:sp>
      <p:sp>
        <p:nvSpPr>
          <p:cNvPr id="30" name="Shape 28"/>
          <p:cNvSpPr/>
          <p:nvPr/>
        </p:nvSpPr>
        <p:spPr>
          <a:xfrm>
            <a:off x="4248912" y="6053328"/>
            <a:ext cx="101193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4248912"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events flush</a:t>
            </a:r>
            <a:endParaRPr lang="en-US" sz="1000" dirty="0"/>
          </a:p>
        </p:txBody>
      </p:sp>
      <p:sp>
        <p:nvSpPr>
          <p:cNvPr id="32" name="Shape 30"/>
          <p:cNvSpPr/>
          <p:nvPr/>
        </p:nvSpPr>
        <p:spPr>
          <a:xfrm>
            <a:off x="5352288" y="6053328"/>
            <a:ext cx="114401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5352288" y="6053328"/>
            <a:ext cx="11440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events summary</a:t>
            </a:r>
            <a:endParaRPr lang="en-US" sz="1000" dirty="0"/>
          </a:p>
        </p:txBody>
      </p:sp>
      <p:sp>
        <p:nvSpPr>
          <p:cNvPr id="34" name="Shape 32"/>
          <p:cNvSpPr/>
          <p:nvPr/>
        </p:nvSpPr>
        <p:spPr>
          <a:xfrm>
            <a:off x="6587744" y="6053328"/>
            <a:ext cx="107797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6587744" y="6053328"/>
            <a:ext cx="107797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triage intake</a:t>
            </a:r>
            <a:endParaRPr lang="en-US" sz="1000" dirty="0"/>
          </a:p>
        </p:txBody>
      </p:sp>
      <p:sp>
        <p:nvSpPr>
          <p:cNvPr id="36" name="Shape 34"/>
          <p:cNvSpPr/>
          <p:nvPr/>
        </p:nvSpPr>
        <p:spPr>
          <a:xfrm>
            <a:off x="7757160" y="6053328"/>
            <a:ext cx="813816" cy="256032"/>
          </a:xfrm>
          <a:prstGeom prst="roundRect">
            <a:avLst>
              <a:gd name="adj" fmla="val 50000"/>
            </a:avLst>
          </a:prstGeom>
          <a:solidFill>
            <a:srgbClr val="F3F5F8"/>
          </a:solidFill>
          <a:ln w="12700">
            <a:solidFill>
              <a:srgbClr val="F3F5F8"/>
            </a:solidFill>
            <a:prstDash val="solid"/>
          </a:ln>
        </p:spPr>
      </p:sp>
      <p:sp>
        <p:nvSpPr>
          <p:cNvPr id="37" name="Text 35"/>
          <p:cNvSpPr txBox="1"/>
          <p:nvPr/>
        </p:nvSpPr>
        <p:spPr>
          <a:xfrm>
            <a:off x="7757160" y="6053328"/>
            <a:ext cx="81381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mcp serve</a:t>
            </a:r>
            <a:endParaRPr lang="en-US" sz="1000" dirty="0"/>
          </a:p>
        </p:txBody>
      </p:sp>
      <p:sp>
        <p:nvSpPr>
          <p:cNvPr id="38" name="Shape 36"/>
          <p:cNvSpPr/>
          <p:nvPr/>
        </p:nvSpPr>
        <p:spPr>
          <a:xfrm>
            <a:off x="8662416" y="6053328"/>
            <a:ext cx="1011936" cy="256032"/>
          </a:xfrm>
          <a:prstGeom prst="roundRect">
            <a:avLst>
              <a:gd name="adj" fmla="val 50000"/>
            </a:avLst>
          </a:prstGeom>
          <a:solidFill>
            <a:srgbClr val="F3F5F8"/>
          </a:solidFill>
          <a:ln w="12700">
            <a:solidFill>
              <a:srgbClr val="F3F5F8"/>
            </a:solidFill>
            <a:prstDash val="solid"/>
          </a:ln>
        </p:spPr>
      </p:sp>
      <p:sp>
        <p:nvSpPr>
          <p:cNvPr id="39" name="Text 37"/>
          <p:cNvSpPr txBox="1"/>
          <p:nvPr/>
        </p:nvSpPr>
        <p:spPr>
          <a:xfrm>
            <a:off x="8662416" y="6053328"/>
            <a:ext cx="1011936" cy="256032"/>
          </a:xfrm>
          <a:prstGeom prst="rect">
            <a:avLst/>
          </a:prstGeom>
          <a:noFill/>
          <a:ln/>
        </p:spPr>
        <p:txBody>
          <a:bodyPr wrap="square" lIns="0" tIns="0" rIns="0" bIns="0" rtlCol="0" anchor="ctr"/>
          <a:lstStyle/>
          <a:p>
            <a:pPr algn="ctr" indent="0" marL="0">
              <a:buNone/>
            </a:pPr>
            <a:r>
              <a:rPr lang="en-US" sz="1000" dirty="0">
                <a:solidFill>
                  <a:srgbClr val="5B6475"/>
                </a:solidFill>
                <a:latin typeface="Calibri" pitchFamily="34" charset="0"/>
                <a:ea typeface="Calibri" pitchFamily="34" charset="-122"/>
                <a:cs typeface="Calibri" pitchFamily="34" charset="-120"/>
              </a:rPr>
              <a:t>context pull</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74552" cy="566928"/>
          </a:xfrm>
          <a:prstGeom prst="rect">
            <a:avLst/>
          </a:prstGeom>
          <a:noFill/>
          <a:ln/>
        </p:spPr>
        <p:txBody>
          <a:bodyPr wrap="square" lIns="0" tIns="0" rIns="0" bIns="0" rtlCol="0" anchor="ctr"/>
          <a:lstStyle/>
          <a:p>
            <a:pPr indent="0" marL="0">
              <a:buNone/>
            </a:pPr>
            <a:r>
              <a:rPr lang="en-US" sz="3000" b="1" dirty="0">
                <a:solidFill>
                  <a:srgbClr val="1F2430"/>
                </a:solidFill>
                <a:latin typeface="Cambria" pitchFamily="34" charset="0"/>
                <a:ea typeface="Cambria" pitchFamily="34" charset="-122"/>
                <a:cs typeface="Cambria" pitchFamily="34" charset="-120"/>
              </a:rPr>
              <a:t>Every command, one scenario</a:t>
            </a:r>
            <a:endParaRPr lang="en-US" sz="3000" dirty="0"/>
          </a:p>
        </p:txBody>
      </p:sp>
      <p:sp>
        <p:nvSpPr>
          <p:cNvPr id="3" name="Text 1"/>
          <p:cNvSpPr txBox="1"/>
          <p:nvPr/>
        </p:nvSpPr>
        <p:spPr>
          <a:xfrm>
            <a:off x="457200" y="960120"/>
            <a:ext cx="11274552" cy="457200"/>
          </a:xfrm>
          <a:prstGeom prst="rect">
            <a:avLst/>
          </a:prstGeom>
          <a:noFill/>
          <a:ln/>
        </p:spPr>
        <p:txBody>
          <a:bodyPr wrap="square" lIns="0" tIns="0" rIns="0" bIns="0" rtlCol="0" anchor="t"/>
          <a:lstStyle/>
          <a:p>
            <a:pPr indent="0" marL="0">
              <a:buNone/>
            </a:pPr>
            <a:r>
              <a:rPr lang="en-US" sz="1400" dirty="0">
                <a:solidFill>
                  <a:srgbClr val="5B6475"/>
                </a:solidFill>
                <a:latin typeface="Calibri" pitchFamily="34" charset="0"/>
                <a:ea typeface="Calibri" pitchFamily="34" charset="-122"/>
                <a:cs typeface="Calibri" pitchFamily="34" charset="-120"/>
              </a:rPr>
              <a:t>The demo is an acceptance test: it fails if a command is missing from the story.</a:t>
            </a:r>
            <a:endParaRPr lang="en-US" sz="1400" dirty="0"/>
          </a:p>
        </p:txBody>
      </p:sp>
      <p:sp>
        <p:nvSpPr>
          <p:cNvPr id="4" name="Shape 2"/>
          <p:cNvSpPr/>
          <p:nvPr/>
        </p:nvSpPr>
        <p:spPr>
          <a:xfrm>
            <a:off x="457200" y="1645920"/>
            <a:ext cx="2647188" cy="1737360"/>
          </a:xfrm>
          <a:prstGeom prst="roundRect">
            <a:avLst>
              <a:gd name="adj" fmla="val 5263"/>
            </a:avLst>
          </a:prstGeom>
          <a:solidFill>
            <a:srgbClr val="F3F5F8"/>
          </a:solidFill>
          <a:ln w="12700">
            <a:solidFill>
              <a:srgbClr val="F3F5F8"/>
            </a:solidFill>
            <a:prstDash val="solid"/>
          </a:ln>
        </p:spPr>
      </p:sp>
      <p:sp>
        <p:nvSpPr>
          <p:cNvPr id="5" name="Text 3"/>
          <p:cNvSpPr txBox="1"/>
          <p:nvPr/>
        </p:nvSpPr>
        <p:spPr>
          <a:xfrm>
            <a:off x="457200" y="1737360"/>
            <a:ext cx="2647188" cy="1005840"/>
          </a:xfrm>
          <a:prstGeom prst="rect">
            <a:avLst/>
          </a:prstGeom>
          <a:noFill/>
          <a:ln/>
        </p:spPr>
        <p:txBody>
          <a:bodyPr wrap="square" lIns="0" tIns="0" rIns="0" bIns="0" rtlCol="0" anchor="ctr"/>
          <a:lstStyle/>
          <a:p>
            <a:pPr algn="ctr" indent="0" marL="0">
              <a:buNone/>
            </a:pPr>
            <a:r>
              <a:rPr lang="en-US" sz="6000" b="1" dirty="0">
                <a:solidFill>
                  <a:srgbClr val="F2A541"/>
                </a:solidFill>
                <a:latin typeface="Cambria" pitchFamily="34" charset="0"/>
                <a:ea typeface="Cambria" pitchFamily="34" charset="-122"/>
                <a:cs typeface="Cambria" pitchFamily="34" charset="-120"/>
              </a:rPr>
              <a:t>136</a:t>
            </a:r>
            <a:endParaRPr lang="en-US" sz="6000" dirty="0"/>
          </a:p>
        </p:txBody>
      </p:sp>
      <p:sp>
        <p:nvSpPr>
          <p:cNvPr id="6" name="Text 4"/>
          <p:cNvSpPr txBox="1"/>
          <p:nvPr/>
        </p:nvSpPr>
        <p:spPr>
          <a:xfrm>
            <a:off x="457200" y="2788920"/>
            <a:ext cx="2647188" cy="365760"/>
          </a:xfrm>
          <a:prstGeom prst="rect">
            <a:avLst/>
          </a:prstGeom>
          <a:noFill/>
          <a:ln/>
        </p:spPr>
        <p:txBody>
          <a:bodyPr wrap="square" lIns="0" tIns="0" rIns="0" bIns="0" rtlCol="0" anchor="ctr"/>
          <a:lstStyle/>
          <a:p>
            <a:pPr algn="ctr" indent="0" marL="0">
              <a:buNone/>
            </a:pPr>
            <a:r>
              <a:rPr lang="en-US" sz="1600" dirty="0">
                <a:solidFill>
                  <a:srgbClr val="1F2430"/>
                </a:solidFill>
                <a:latin typeface="Calibri" pitchFamily="34" charset="0"/>
                <a:ea typeface="Calibri" pitchFamily="34" charset="-122"/>
                <a:cs typeface="Calibri" pitchFamily="34" charset="-120"/>
              </a:rPr>
              <a:t>steps</a:t>
            </a:r>
            <a:endParaRPr lang="en-US" sz="1600" dirty="0"/>
          </a:p>
        </p:txBody>
      </p:sp>
      <p:sp>
        <p:nvSpPr>
          <p:cNvPr id="7" name="Shape 5"/>
          <p:cNvSpPr/>
          <p:nvPr/>
        </p:nvSpPr>
        <p:spPr>
          <a:xfrm>
            <a:off x="3332988" y="1645920"/>
            <a:ext cx="2647188" cy="1737360"/>
          </a:xfrm>
          <a:prstGeom prst="roundRect">
            <a:avLst>
              <a:gd name="adj" fmla="val 5263"/>
            </a:avLst>
          </a:prstGeom>
          <a:solidFill>
            <a:srgbClr val="F3F5F8"/>
          </a:solidFill>
          <a:ln w="12700">
            <a:solidFill>
              <a:srgbClr val="F3F5F8"/>
            </a:solidFill>
            <a:prstDash val="solid"/>
          </a:ln>
        </p:spPr>
      </p:sp>
      <p:sp>
        <p:nvSpPr>
          <p:cNvPr id="8" name="Text 6"/>
          <p:cNvSpPr txBox="1"/>
          <p:nvPr/>
        </p:nvSpPr>
        <p:spPr>
          <a:xfrm>
            <a:off x="3332988" y="1737360"/>
            <a:ext cx="2647188" cy="1005840"/>
          </a:xfrm>
          <a:prstGeom prst="rect">
            <a:avLst/>
          </a:prstGeom>
          <a:noFill/>
          <a:ln/>
        </p:spPr>
        <p:txBody>
          <a:bodyPr wrap="square" lIns="0" tIns="0" rIns="0" bIns="0" rtlCol="0" anchor="ctr"/>
          <a:lstStyle/>
          <a:p>
            <a:pPr algn="ctr" indent="0" marL="0">
              <a:buNone/>
            </a:pPr>
            <a:r>
              <a:rPr lang="en-US" sz="6000" b="1" dirty="0">
                <a:solidFill>
                  <a:srgbClr val="F2A541"/>
                </a:solidFill>
                <a:latin typeface="Cambria" pitchFamily="34" charset="0"/>
                <a:ea typeface="Cambria" pitchFamily="34" charset="-122"/>
                <a:cs typeface="Cambria" pitchFamily="34" charset="-120"/>
              </a:rPr>
              <a:t>96</a:t>
            </a:r>
            <a:endParaRPr lang="en-US" sz="6000" dirty="0"/>
          </a:p>
        </p:txBody>
      </p:sp>
      <p:sp>
        <p:nvSpPr>
          <p:cNvPr id="9" name="Text 7"/>
          <p:cNvSpPr txBox="1"/>
          <p:nvPr/>
        </p:nvSpPr>
        <p:spPr>
          <a:xfrm>
            <a:off x="3332988" y="2788920"/>
            <a:ext cx="2647188" cy="365760"/>
          </a:xfrm>
          <a:prstGeom prst="rect">
            <a:avLst/>
          </a:prstGeom>
          <a:noFill/>
          <a:ln/>
        </p:spPr>
        <p:txBody>
          <a:bodyPr wrap="square" lIns="0" tIns="0" rIns="0" bIns="0" rtlCol="0" anchor="ctr"/>
          <a:lstStyle/>
          <a:p>
            <a:pPr algn="ctr" indent="0" marL="0">
              <a:buNone/>
            </a:pPr>
            <a:r>
              <a:rPr lang="en-US" sz="1600" dirty="0">
                <a:solidFill>
                  <a:srgbClr val="1F2430"/>
                </a:solidFill>
                <a:latin typeface="Calibri" pitchFamily="34" charset="0"/>
                <a:ea typeface="Calibri" pitchFamily="34" charset="-122"/>
                <a:cs typeface="Calibri" pitchFamily="34" charset="-120"/>
              </a:rPr>
              <a:t>of 96 commands</a:t>
            </a:r>
            <a:endParaRPr lang="en-US" sz="1600" dirty="0"/>
          </a:p>
        </p:txBody>
      </p:sp>
      <p:sp>
        <p:nvSpPr>
          <p:cNvPr id="10" name="Shape 8"/>
          <p:cNvSpPr/>
          <p:nvPr/>
        </p:nvSpPr>
        <p:spPr>
          <a:xfrm>
            <a:off x="6208776" y="1645920"/>
            <a:ext cx="2647188" cy="1737360"/>
          </a:xfrm>
          <a:prstGeom prst="roundRect">
            <a:avLst>
              <a:gd name="adj" fmla="val 5263"/>
            </a:avLst>
          </a:prstGeom>
          <a:solidFill>
            <a:srgbClr val="F3F5F8"/>
          </a:solidFill>
          <a:ln w="12700">
            <a:solidFill>
              <a:srgbClr val="F3F5F8"/>
            </a:solidFill>
            <a:prstDash val="solid"/>
          </a:ln>
        </p:spPr>
      </p:sp>
      <p:sp>
        <p:nvSpPr>
          <p:cNvPr id="11" name="Text 9"/>
          <p:cNvSpPr txBox="1"/>
          <p:nvPr/>
        </p:nvSpPr>
        <p:spPr>
          <a:xfrm>
            <a:off x="6208776" y="1737360"/>
            <a:ext cx="2647188" cy="1005840"/>
          </a:xfrm>
          <a:prstGeom prst="rect">
            <a:avLst/>
          </a:prstGeom>
          <a:noFill/>
          <a:ln/>
        </p:spPr>
        <p:txBody>
          <a:bodyPr wrap="square" lIns="0" tIns="0" rIns="0" bIns="0" rtlCol="0" anchor="ctr"/>
          <a:lstStyle/>
          <a:p>
            <a:pPr algn="ctr" indent="0" marL="0">
              <a:buNone/>
            </a:pPr>
            <a:r>
              <a:rPr lang="en-US" sz="6000" b="1" dirty="0">
                <a:solidFill>
                  <a:srgbClr val="F2A541"/>
                </a:solidFill>
                <a:latin typeface="Cambria" pitchFamily="34" charset="0"/>
                <a:ea typeface="Cambria" pitchFamily="34" charset="-122"/>
                <a:cs typeface="Cambria" pitchFamily="34" charset="-120"/>
              </a:rPr>
              <a:t>10</a:t>
            </a:r>
            <a:endParaRPr lang="en-US" sz="6000" dirty="0"/>
          </a:p>
        </p:txBody>
      </p:sp>
      <p:sp>
        <p:nvSpPr>
          <p:cNvPr id="12" name="Text 10"/>
          <p:cNvSpPr txBox="1"/>
          <p:nvPr/>
        </p:nvSpPr>
        <p:spPr>
          <a:xfrm>
            <a:off x="6208776" y="2788920"/>
            <a:ext cx="2647188" cy="365760"/>
          </a:xfrm>
          <a:prstGeom prst="rect">
            <a:avLst/>
          </a:prstGeom>
          <a:noFill/>
          <a:ln/>
        </p:spPr>
        <p:txBody>
          <a:bodyPr wrap="square" lIns="0" tIns="0" rIns="0" bIns="0" rtlCol="0" anchor="ctr"/>
          <a:lstStyle/>
          <a:p>
            <a:pPr algn="ctr" indent="0" marL="0">
              <a:buNone/>
            </a:pPr>
            <a:r>
              <a:rPr lang="en-US" sz="1600" dirty="0">
                <a:solidFill>
                  <a:srgbClr val="1F2430"/>
                </a:solidFill>
                <a:latin typeface="Calibri" pitchFamily="34" charset="0"/>
                <a:ea typeface="Calibri" pitchFamily="34" charset="-122"/>
                <a:cs typeface="Calibri" pitchFamily="34" charset="-120"/>
              </a:rPr>
              <a:t>refusals</a:t>
            </a:r>
            <a:endParaRPr lang="en-US" sz="1600" dirty="0"/>
          </a:p>
        </p:txBody>
      </p:sp>
      <p:sp>
        <p:nvSpPr>
          <p:cNvPr id="13" name="Shape 11"/>
          <p:cNvSpPr/>
          <p:nvPr/>
        </p:nvSpPr>
        <p:spPr>
          <a:xfrm>
            <a:off x="9084564" y="1645920"/>
            <a:ext cx="2647188" cy="1737360"/>
          </a:xfrm>
          <a:prstGeom prst="roundRect">
            <a:avLst>
              <a:gd name="adj" fmla="val 5263"/>
            </a:avLst>
          </a:prstGeom>
          <a:solidFill>
            <a:srgbClr val="F3F5F8"/>
          </a:solidFill>
          <a:ln w="12700">
            <a:solidFill>
              <a:srgbClr val="F3F5F8"/>
            </a:solidFill>
            <a:prstDash val="solid"/>
          </a:ln>
        </p:spPr>
      </p:sp>
      <p:sp>
        <p:nvSpPr>
          <p:cNvPr id="14" name="Text 12"/>
          <p:cNvSpPr txBox="1"/>
          <p:nvPr/>
        </p:nvSpPr>
        <p:spPr>
          <a:xfrm>
            <a:off x="9084564" y="1737360"/>
            <a:ext cx="2647188" cy="1005840"/>
          </a:xfrm>
          <a:prstGeom prst="rect">
            <a:avLst/>
          </a:prstGeom>
          <a:noFill/>
          <a:ln/>
        </p:spPr>
        <p:txBody>
          <a:bodyPr wrap="square" lIns="0" tIns="0" rIns="0" bIns="0" rtlCol="0" anchor="ctr"/>
          <a:lstStyle/>
          <a:p>
            <a:pPr algn="ctr" indent="0" marL="0">
              <a:buNone/>
            </a:pPr>
            <a:r>
              <a:rPr lang="en-US" sz="6000" b="1" dirty="0">
                <a:solidFill>
                  <a:srgbClr val="F2A541"/>
                </a:solidFill>
                <a:latin typeface="Cambria" pitchFamily="34" charset="0"/>
                <a:ea typeface="Cambria" pitchFamily="34" charset="-122"/>
                <a:cs typeface="Cambria" pitchFamily="34" charset="-120"/>
              </a:rPr>
              <a:t>3</a:t>
            </a:r>
            <a:endParaRPr lang="en-US" sz="6000" dirty="0"/>
          </a:p>
        </p:txBody>
      </p:sp>
      <p:sp>
        <p:nvSpPr>
          <p:cNvPr id="15" name="Text 13"/>
          <p:cNvSpPr txBox="1"/>
          <p:nvPr/>
        </p:nvSpPr>
        <p:spPr>
          <a:xfrm>
            <a:off x="9084564" y="2788920"/>
            <a:ext cx="2647188" cy="365760"/>
          </a:xfrm>
          <a:prstGeom prst="rect">
            <a:avLst/>
          </a:prstGeom>
          <a:noFill/>
          <a:ln/>
        </p:spPr>
        <p:txBody>
          <a:bodyPr wrap="square" lIns="0" tIns="0" rIns="0" bIns="0" rtlCol="0" anchor="ctr"/>
          <a:lstStyle/>
          <a:p>
            <a:pPr algn="ctr" indent="0" marL="0">
              <a:buNone/>
            </a:pPr>
            <a:r>
              <a:rPr lang="en-US" sz="1600" dirty="0">
                <a:solidFill>
                  <a:srgbClr val="1F2430"/>
                </a:solidFill>
                <a:latin typeface="Calibri" pitchFamily="34" charset="0"/>
                <a:ea typeface="Calibri" pitchFamily="34" charset="-122"/>
                <a:cs typeface="Calibri" pitchFamily="34" charset="-120"/>
              </a:rPr>
              <a:t>people (and agents)</a:t>
            </a:r>
            <a:endParaRPr lang="en-US" sz="1600" dirty="0"/>
          </a:p>
        </p:txBody>
      </p:sp>
      <p:sp>
        <p:nvSpPr>
          <p:cNvPr id="16" name="Shape 14"/>
          <p:cNvSpPr/>
          <p:nvPr/>
        </p:nvSpPr>
        <p:spPr>
          <a:xfrm>
            <a:off x="457200" y="3749040"/>
            <a:ext cx="549656" cy="256032"/>
          </a:xfrm>
          <a:prstGeom prst="roundRect">
            <a:avLst>
              <a:gd name="adj" fmla="val 50000"/>
            </a:avLst>
          </a:prstGeom>
          <a:solidFill>
            <a:srgbClr val="F3F5F8"/>
          </a:solidFill>
          <a:ln w="12700">
            <a:solidFill>
              <a:srgbClr val="F3F5F8"/>
            </a:solidFill>
            <a:prstDash val="solid"/>
          </a:ln>
        </p:spPr>
      </p:sp>
      <p:sp>
        <p:nvSpPr>
          <p:cNvPr id="17" name="Text 15"/>
          <p:cNvSpPr txBox="1"/>
          <p:nvPr/>
        </p:nvSpPr>
        <p:spPr>
          <a:xfrm>
            <a:off x="457200" y="3749040"/>
            <a:ext cx="5496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adopt</a:t>
            </a:r>
            <a:endParaRPr lang="en-US" sz="1000" dirty="0"/>
          </a:p>
        </p:txBody>
      </p:sp>
      <p:sp>
        <p:nvSpPr>
          <p:cNvPr id="18" name="Shape 16"/>
          <p:cNvSpPr/>
          <p:nvPr/>
        </p:nvSpPr>
        <p:spPr>
          <a:xfrm>
            <a:off x="1098296" y="3749040"/>
            <a:ext cx="1144016" cy="256032"/>
          </a:xfrm>
          <a:prstGeom prst="roundRect">
            <a:avLst>
              <a:gd name="adj" fmla="val 50000"/>
            </a:avLst>
          </a:prstGeom>
          <a:solidFill>
            <a:srgbClr val="F3F5F8"/>
          </a:solidFill>
          <a:ln w="12700">
            <a:solidFill>
              <a:srgbClr val="F3F5F8"/>
            </a:solidFill>
            <a:prstDash val="solid"/>
          </a:ln>
        </p:spPr>
      </p:sp>
      <p:sp>
        <p:nvSpPr>
          <p:cNvPr id="19" name="Text 17"/>
          <p:cNvSpPr txBox="1"/>
          <p:nvPr/>
        </p:nvSpPr>
        <p:spPr>
          <a:xfrm>
            <a:off x="1098296" y="3749040"/>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config propose</a:t>
            </a:r>
            <a:endParaRPr lang="en-US" sz="1000" dirty="0"/>
          </a:p>
        </p:txBody>
      </p:sp>
      <p:sp>
        <p:nvSpPr>
          <p:cNvPr id="20" name="Shape 18"/>
          <p:cNvSpPr/>
          <p:nvPr/>
        </p:nvSpPr>
        <p:spPr>
          <a:xfrm>
            <a:off x="2333752" y="3749040"/>
            <a:ext cx="945896" cy="256032"/>
          </a:xfrm>
          <a:prstGeom prst="roundRect">
            <a:avLst>
              <a:gd name="adj" fmla="val 50000"/>
            </a:avLst>
          </a:prstGeom>
          <a:solidFill>
            <a:srgbClr val="F3F5F8"/>
          </a:solidFill>
          <a:ln w="12700">
            <a:solidFill>
              <a:srgbClr val="F3F5F8"/>
            </a:solidFill>
            <a:prstDash val="solid"/>
          </a:ln>
        </p:spPr>
      </p:sp>
      <p:sp>
        <p:nvSpPr>
          <p:cNvPr id="21" name="Text 19"/>
          <p:cNvSpPr txBox="1"/>
          <p:nvPr/>
        </p:nvSpPr>
        <p:spPr>
          <a:xfrm>
            <a:off x="2333752" y="3749040"/>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config show</a:t>
            </a:r>
            <a:endParaRPr lang="en-US" sz="1000" dirty="0"/>
          </a:p>
        </p:txBody>
      </p:sp>
      <p:sp>
        <p:nvSpPr>
          <p:cNvPr id="22" name="Shape 20"/>
          <p:cNvSpPr/>
          <p:nvPr/>
        </p:nvSpPr>
        <p:spPr>
          <a:xfrm>
            <a:off x="3371088" y="3749040"/>
            <a:ext cx="1011936" cy="256032"/>
          </a:xfrm>
          <a:prstGeom prst="roundRect">
            <a:avLst>
              <a:gd name="adj" fmla="val 50000"/>
            </a:avLst>
          </a:prstGeom>
          <a:solidFill>
            <a:srgbClr val="F3F5F8"/>
          </a:solidFill>
          <a:ln w="12700">
            <a:solidFill>
              <a:srgbClr val="F3F5F8"/>
            </a:solidFill>
            <a:prstDash val="solid"/>
          </a:ln>
        </p:spPr>
      </p:sp>
      <p:sp>
        <p:nvSpPr>
          <p:cNvPr id="23" name="Text 21"/>
          <p:cNvSpPr txBox="1"/>
          <p:nvPr/>
        </p:nvSpPr>
        <p:spPr>
          <a:xfrm>
            <a:off x="3371088" y="3749040"/>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config apply</a:t>
            </a:r>
            <a:endParaRPr lang="en-US" sz="1000" dirty="0"/>
          </a:p>
        </p:txBody>
      </p:sp>
      <p:sp>
        <p:nvSpPr>
          <p:cNvPr id="24" name="Shape 22"/>
          <p:cNvSpPr/>
          <p:nvPr/>
        </p:nvSpPr>
        <p:spPr>
          <a:xfrm>
            <a:off x="4474464" y="3749040"/>
            <a:ext cx="1144016" cy="256032"/>
          </a:xfrm>
          <a:prstGeom prst="roundRect">
            <a:avLst>
              <a:gd name="adj" fmla="val 50000"/>
            </a:avLst>
          </a:prstGeom>
          <a:solidFill>
            <a:srgbClr val="F3F5F8"/>
          </a:solidFill>
          <a:ln w="12700">
            <a:solidFill>
              <a:srgbClr val="F3F5F8"/>
            </a:solidFill>
            <a:prstDash val="solid"/>
          </a:ln>
        </p:spPr>
      </p:sp>
      <p:sp>
        <p:nvSpPr>
          <p:cNvPr id="25" name="Text 23"/>
          <p:cNvSpPr txBox="1"/>
          <p:nvPr/>
        </p:nvSpPr>
        <p:spPr>
          <a:xfrm>
            <a:off x="4474464" y="3749040"/>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config dismiss</a:t>
            </a:r>
            <a:endParaRPr lang="en-US" sz="1000" dirty="0"/>
          </a:p>
        </p:txBody>
      </p:sp>
      <p:sp>
        <p:nvSpPr>
          <p:cNvPr id="26" name="Shape 24"/>
          <p:cNvSpPr/>
          <p:nvPr/>
        </p:nvSpPr>
        <p:spPr>
          <a:xfrm>
            <a:off x="5709920" y="3749040"/>
            <a:ext cx="945896" cy="256032"/>
          </a:xfrm>
          <a:prstGeom prst="roundRect">
            <a:avLst>
              <a:gd name="adj" fmla="val 50000"/>
            </a:avLst>
          </a:prstGeom>
          <a:solidFill>
            <a:srgbClr val="F3F5F8"/>
          </a:solidFill>
          <a:ln w="12700">
            <a:solidFill>
              <a:srgbClr val="F3F5F8"/>
            </a:solidFill>
            <a:prstDash val="solid"/>
          </a:ln>
        </p:spPr>
      </p:sp>
      <p:sp>
        <p:nvSpPr>
          <p:cNvPr id="27" name="Text 25"/>
          <p:cNvSpPr txBox="1"/>
          <p:nvPr/>
        </p:nvSpPr>
        <p:spPr>
          <a:xfrm>
            <a:off x="5709920" y="3749040"/>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roles check</a:t>
            </a:r>
            <a:endParaRPr lang="en-US" sz="1000" dirty="0"/>
          </a:p>
        </p:txBody>
      </p:sp>
      <p:sp>
        <p:nvSpPr>
          <p:cNvPr id="28" name="Shape 26"/>
          <p:cNvSpPr/>
          <p:nvPr/>
        </p:nvSpPr>
        <p:spPr>
          <a:xfrm>
            <a:off x="6747256" y="3749040"/>
            <a:ext cx="813816" cy="256032"/>
          </a:xfrm>
          <a:prstGeom prst="roundRect">
            <a:avLst>
              <a:gd name="adj" fmla="val 50000"/>
            </a:avLst>
          </a:prstGeom>
          <a:solidFill>
            <a:srgbClr val="F3F5F8"/>
          </a:solidFill>
          <a:ln w="12700">
            <a:solidFill>
              <a:srgbClr val="F3F5F8"/>
            </a:solidFill>
            <a:prstDash val="solid"/>
          </a:ln>
        </p:spPr>
      </p:sp>
      <p:sp>
        <p:nvSpPr>
          <p:cNvPr id="29" name="Text 27"/>
          <p:cNvSpPr txBox="1"/>
          <p:nvPr/>
        </p:nvSpPr>
        <p:spPr>
          <a:xfrm>
            <a:off x="6747256" y="3749040"/>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roles who</a:t>
            </a:r>
            <a:endParaRPr lang="en-US" sz="1000" dirty="0"/>
          </a:p>
        </p:txBody>
      </p:sp>
      <p:sp>
        <p:nvSpPr>
          <p:cNvPr id="30" name="Shape 28"/>
          <p:cNvSpPr/>
          <p:nvPr/>
        </p:nvSpPr>
        <p:spPr>
          <a:xfrm>
            <a:off x="7652512" y="3749040"/>
            <a:ext cx="1077976" cy="256032"/>
          </a:xfrm>
          <a:prstGeom prst="roundRect">
            <a:avLst>
              <a:gd name="adj" fmla="val 50000"/>
            </a:avLst>
          </a:prstGeom>
          <a:solidFill>
            <a:srgbClr val="F3F5F8"/>
          </a:solidFill>
          <a:ln w="12700">
            <a:solidFill>
              <a:srgbClr val="F3F5F8"/>
            </a:solidFill>
            <a:prstDash val="solid"/>
          </a:ln>
        </p:spPr>
      </p:sp>
      <p:sp>
        <p:nvSpPr>
          <p:cNvPr id="31" name="Text 29"/>
          <p:cNvSpPr txBox="1"/>
          <p:nvPr/>
        </p:nvSpPr>
        <p:spPr>
          <a:xfrm>
            <a:off x="7652512" y="3749040"/>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roles migrate</a:t>
            </a:r>
            <a:endParaRPr lang="en-US" sz="1000" dirty="0"/>
          </a:p>
        </p:txBody>
      </p:sp>
      <p:sp>
        <p:nvSpPr>
          <p:cNvPr id="32" name="Shape 30"/>
          <p:cNvSpPr/>
          <p:nvPr/>
        </p:nvSpPr>
        <p:spPr>
          <a:xfrm>
            <a:off x="8821928" y="3749040"/>
            <a:ext cx="681736" cy="256032"/>
          </a:xfrm>
          <a:prstGeom prst="roundRect">
            <a:avLst>
              <a:gd name="adj" fmla="val 50000"/>
            </a:avLst>
          </a:prstGeom>
          <a:solidFill>
            <a:srgbClr val="F3F5F8"/>
          </a:solidFill>
          <a:ln w="12700">
            <a:solidFill>
              <a:srgbClr val="F3F5F8"/>
            </a:solidFill>
            <a:prstDash val="solid"/>
          </a:ln>
        </p:spPr>
      </p:sp>
      <p:sp>
        <p:nvSpPr>
          <p:cNvPr id="33" name="Text 31"/>
          <p:cNvSpPr txBox="1"/>
          <p:nvPr/>
        </p:nvSpPr>
        <p:spPr>
          <a:xfrm>
            <a:off x="8821928" y="3749040"/>
            <a:ext cx="6817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ci init</a:t>
            </a:r>
            <a:endParaRPr lang="en-US" sz="1000" dirty="0"/>
          </a:p>
        </p:txBody>
      </p:sp>
      <p:sp>
        <p:nvSpPr>
          <p:cNvPr id="34" name="Shape 32"/>
          <p:cNvSpPr/>
          <p:nvPr/>
        </p:nvSpPr>
        <p:spPr>
          <a:xfrm>
            <a:off x="9595104" y="3749040"/>
            <a:ext cx="813816" cy="256032"/>
          </a:xfrm>
          <a:prstGeom prst="roundRect">
            <a:avLst>
              <a:gd name="adj" fmla="val 50000"/>
            </a:avLst>
          </a:prstGeom>
          <a:solidFill>
            <a:srgbClr val="F3F5F8"/>
          </a:solidFill>
          <a:ln w="12700">
            <a:solidFill>
              <a:srgbClr val="F3F5F8"/>
            </a:solidFill>
            <a:prstDash val="solid"/>
          </a:ln>
        </p:spPr>
      </p:sp>
      <p:sp>
        <p:nvSpPr>
          <p:cNvPr id="35" name="Text 33"/>
          <p:cNvSpPr txBox="1"/>
          <p:nvPr/>
        </p:nvSpPr>
        <p:spPr>
          <a:xfrm>
            <a:off x="9595104" y="3749040"/>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team sync</a:t>
            </a:r>
            <a:endParaRPr lang="en-US" sz="1000" dirty="0"/>
          </a:p>
        </p:txBody>
      </p:sp>
      <p:sp>
        <p:nvSpPr>
          <p:cNvPr id="36" name="Shape 34"/>
          <p:cNvSpPr/>
          <p:nvPr/>
        </p:nvSpPr>
        <p:spPr>
          <a:xfrm>
            <a:off x="10500360" y="3749040"/>
            <a:ext cx="945896" cy="256032"/>
          </a:xfrm>
          <a:prstGeom prst="roundRect">
            <a:avLst>
              <a:gd name="adj" fmla="val 50000"/>
            </a:avLst>
          </a:prstGeom>
          <a:solidFill>
            <a:srgbClr val="F3F5F8"/>
          </a:solidFill>
          <a:ln w="12700">
            <a:solidFill>
              <a:srgbClr val="F3F5F8"/>
            </a:solidFill>
            <a:prstDash val="solid"/>
          </a:ln>
        </p:spPr>
      </p:sp>
      <p:sp>
        <p:nvSpPr>
          <p:cNvPr id="37" name="Text 35"/>
          <p:cNvSpPr txBox="1"/>
          <p:nvPr/>
        </p:nvSpPr>
        <p:spPr>
          <a:xfrm>
            <a:off x="10500360" y="3749040"/>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team accept</a:t>
            </a:r>
            <a:endParaRPr lang="en-US" sz="1000" dirty="0"/>
          </a:p>
        </p:txBody>
      </p:sp>
      <p:sp>
        <p:nvSpPr>
          <p:cNvPr id="38" name="Shape 36"/>
          <p:cNvSpPr/>
          <p:nvPr/>
        </p:nvSpPr>
        <p:spPr>
          <a:xfrm>
            <a:off x="457200" y="4096512"/>
            <a:ext cx="813816" cy="256032"/>
          </a:xfrm>
          <a:prstGeom prst="roundRect">
            <a:avLst>
              <a:gd name="adj" fmla="val 50000"/>
            </a:avLst>
          </a:prstGeom>
          <a:solidFill>
            <a:srgbClr val="F3F5F8"/>
          </a:solidFill>
          <a:ln w="12700">
            <a:solidFill>
              <a:srgbClr val="F3F5F8"/>
            </a:solidFill>
            <a:prstDash val="solid"/>
          </a:ln>
        </p:spPr>
      </p:sp>
      <p:sp>
        <p:nvSpPr>
          <p:cNvPr id="39" name="Text 37"/>
          <p:cNvSpPr txBox="1"/>
          <p:nvPr/>
        </p:nvSpPr>
        <p:spPr>
          <a:xfrm>
            <a:off x="457200" y="4096512"/>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team list</a:t>
            </a:r>
            <a:endParaRPr lang="en-US" sz="1000" dirty="0"/>
          </a:p>
        </p:txBody>
      </p:sp>
      <p:sp>
        <p:nvSpPr>
          <p:cNvPr id="40" name="Shape 38"/>
          <p:cNvSpPr/>
          <p:nvPr/>
        </p:nvSpPr>
        <p:spPr>
          <a:xfrm>
            <a:off x="1362456" y="4096512"/>
            <a:ext cx="879856" cy="256032"/>
          </a:xfrm>
          <a:prstGeom prst="roundRect">
            <a:avLst>
              <a:gd name="adj" fmla="val 50000"/>
            </a:avLst>
          </a:prstGeom>
          <a:solidFill>
            <a:srgbClr val="F3F5F8"/>
          </a:solidFill>
          <a:ln w="12700">
            <a:solidFill>
              <a:srgbClr val="F3F5F8"/>
            </a:solidFill>
            <a:prstDash val="solid"/>
          </a:ln>
        </p:spPr>
      </p:sp>
      <p:sp>
        <p:nvSpPr>
          <p:cNvPr id="41" name="Text 39"/>
          <p:cNvSpPr txBox="1"/>
          <p:nvPr/>
        </p:nvSpPr>
        <p:spPr>
          <a:xfrm>
            <a:off x="1362456" y="4096512"/>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team check</a:t>
            </a:r>
            <a:endParaRPr lang="en-US" sz="1000" dirty="0"/>
          </a:p>
        </p:txBody>
      </p:sp>
      <p:sp>
        <p:nvSpPr>
          <p:cNvPr id="42" name="Shape 40"/>
          <p:cNvSpPr/>
          <p:nvPr/>
        </p:nvSpPr>
        <p:spPr>
          <a:xfrm>
            <a:off x="2333752" y="4096512"/>
            <a:ext cx="1276096" cy="256032"/>
          </a:xfrm>
          <a:prstGeom prst="roundRect">
            <a:avLst>
              <a:gd name="adj" fmla="val 50000"/>
            </a:avLst>
          </a:prstGeom>
          <a:solidFill>
            <a:srgbClr val="F3F5F8"/>
          </a:solidFill>
          <a:ln w="12700">
            <a:solidFill>
              <a:srgbClr val="F3F5F8"/>
            </a:solidFill>
            <a:prstDash val="solid"/>
          </a:ln>
        </p:spPr>
      </p:sp>
      <p:sp>
        <p:nvSpPr>
          <p:cNvPr id="43" name="Text 41"/>
          <p:cNvSpPr txBox="1"/>
          <p:nvPr/>
        </p:nvSpPr>
        <p:spPr>
          <a:xfrm>
            <a:off x="2333752" y="4096512"/>
            <a:ext cx="12760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epic add</a:t>
            </a:r>
            <a:endParaRPr lang="en-US" sz="1000" dirty="0"/>
          </a:p>
        </p:txBody>
      </p:sp>
      <p:sp>
        <p:nvSpPr>
          <p:cNvPr id="44" name="Shape 42"/>
          <p:cNvSpPr/>
          <p:nvPr/>
        </p:nvSpPr>
        <p:spPr>
          <a:xfrm>
            <a:off x="3701288" y="4096512"/>
            <a:ext cx="1342136" cy="256032"/>
          </a:xfrm>
          <a:prstGeom prst="roundRect">
            <a:avLst>
              <a:gd name="adj" fmla="val 50000"/>
            </a:avLst>
          </a:prstGeom>
          <a:solidFill>
            <a:srgbClr val="F3F5F8"/>
          </a:solidFill>
          <a:ln w="12700">
            <a:solidFill>
              <a:srgbClr val="F3F5F8"/>
            </a:solidFill>
            <a:prstDash val="solid"/>
          </a:ln>
        </p:spPr>
      </p:sp>
      <p:sp>
        <p:nvSpPr>
          <p:cNvPr id="45" name="Text 43"/>
          <p:cNvSpPr txBox="1"/>
          <p:nvPr/>
        </p:nvSpPr>
        <p:spPr>
          <a:xfrm>
            <a:off x="3701288" y="4096512"/>
            <a:ext cx="13421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epic edit</a:t>
            </a:r>
            <a:endParaRPr lang="en-US" sz="1000" dirty="0"/>
          </a:p>
        </p:txBody>
      </p:sp>
      <p:sp>
        <p:nvSpPr>
          <p:cNvPr id="46" name="Shape 44"/>
          <p:cNvSpPr/>
          <p:nvPr/>
        </p:nvSpPr>
        <p:spPr>
          <a:xfrm>
            <a:off x="5134864" y="4096512"/>
            <a:ext cx="945896" cy="256032"/>
          </a:xfrm>
          <a:prstGeom prst="roundRect">
            <a:avLst>
              <a:gd name="adj" fmla="val 50000"/>
            </a:avLst>
          </a:prstGeom>
          <a:solidFill>
            <a:srgbClr val="F3F5F8"/>
          </a:solidFill>
          <a:ln w="12700">
            <a:solidFill>
              <a:srgbClr val="F3F5F8"/>
            </a:solidFill>
            <a:prstDash val="solid"/>
          </a:ln>
        </p:spPr>
      </p:sp>
      <p:sp>
        <p:nvSpPr>
          <p:cNvPr id="47" name="Text 45"/>
          <p:cNvSpPr txBox="1"/>
          <p:nvPr/>
        </p:nvSpPr>
        <p:spPr>
          <a:xfrm>
            <a:off x="5134864" y="4096512"/>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add</a:t>
            </a:r>
            <a:endParaRPr lang="en-US" sz="1000" dirty="0"/>
          </a:p>
        </p:txBody>
      </p:sp>
      <p:sp>
        <p:nvSpPr>
          <p:cNvPr id="48" name="Shape 46"/>
          <p:cNvSpPr/>
          <p:nvPr/>
        </p:nvSpPr>
        <p:spPr>
          <a:xfrm>
            <a:off x="6172200" y="4096512"/>
            <a:ext cx="1011936" cy="256032"/>
          </a:xfrm>
          <a:prstGeom prst="roundRect">
            <a:avLst>
              <a:gd name="adj" fmla="val 50000"/>
            </a:avLst>
          </a:prstGeom>
          <a:solidFill>
            <a:srgbClr val="F3F5F8"/>
          </a:solidFill>
          <a:ln w="12700">
            <a:solidFill>
              <a:srgbClr val="F3F5F8"/>
            </a:solidFill>
            <a:prstDash val="solid"/>
          </a:ln>
        </p:spPr>
      </p:sp>
      <p:sp>
        <p:nvSpPr>
          <p:cNvPr id="49" name="Text 47"/>
          <p:cNvSpPr txBox="1"/>
          <p:nvPr/>
        </p:nvSpPr>
        <p:spPr>
          <a:xfrm>
            <a:off x="6172200" y="4096512"/>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edit</a:t>
            </a:r>
            <a:endParaRPr lang="en-US" sz="1000" dirty="0"/>
          </a:p>
        </p:txBody>
      </p:sp>
      <p:sp>
        <p:nvSpPr>
          <p:cNvPr id="50" name="Shape 48"/>
          <p:cNvSpPr/>
          <p:nvPr/>
        </p:nvSpPr>
        <p:spPr>
          <a:xfrm>
            <a:off x="7275576" y="4096512"/>
            <a:ext cx="1011936" cy="256032"/>
          </a:xfrm>
          <a:prstGeom prst="roundRect">
            <a:avLst>
              <a:gd name="adj" fmla="val 50000"/>
            </a:avLst>
          </a:prstGeom>
          <a:solidFill>
            <a:srgbClr val="F3F5F8"/>
          </a:solidFill>
          <a:ln w="12700">
            <a:solidFill>
              <a:srgbClr val="F3F5F8"/>
            </a:solidFill>
            <a:prstDash val="solid"/>
          </a:ln>
        </p:spPr>
      </p:sp>
      <p:sp>
        <p:nvSpPr>
          <p:cNvPr id="51" name="Text 49"/>
          <p:cNvSpPr txBox="1"/>
          <p:nvPr/>
        </p:nvSpPr>
        <p:spPr>
          <a:xfrm>
            <a:off x="7275576" y="4096512"/>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list</a:t>
            </a:r>
            <a:endParaRPr lang="en-US" sz="1000" dirty="0"/>
          </a:p>
        </p:txBody>
      </p:sp>
      <p:sp>
        <p:nvSpPr>
          <p:cNvPr id="52" name="Shape 50"/>
          <p:cNvSpPr/>
          <p:nvPr/>
        </p:nvSpPr>
        <p:spPr>
          <a:xfrm>
            <a:off x="8378952" y="4096512"/>
            <a:ext cx="1011936" cy="256032"/>
          </a:xfrm>
          <a:prstGeom prst="roundRect">
            <a:avLst>
              <a:gd name="adj" fmla="val 50000"/>
            </a:avLst>
          </a:prstGeom>
          <a:solidFill>
            <a:srgbClr val="F3F5F8"/>
          </a:solidFill>
          <a:ln w="12700">
            <a:solidFill>
              <a:srgbClr val="F3F5F8"/>
            </a:solidFill>
            <a:prstDash val="solid"/>
          </a:ln>
        </p:spPr>
      </p:sp>
      <p:sp>
        <p:nvSpPr>
          <p:cNvPr id="53" name="Text 51"/>
          <p:cNvSpPr txBox="1"/>
          <p:nvPr/>
        </p:nvSpPr>
        <p:spPr>
          <a:xfrm>
            <a:off x="8378952" y="4096512"/>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next</a:t>
            </a:r>
            <a:endParaRPr lang="en-US" sz="1000" dirty="0"/>
          </a:p>
        </p:txBody>
      </p:sp>
      <p:sp>
        <p:nvSpPr>
          <p:cNvPr id="54" name="Shape 52"/>
          <p:cNvSpPr/>
          <p:nvPr/>
        </p:nvSpPr>
        <p:spPr>
          <a:xfrm>
            <a:off x="9482328" y="4096512"/>
            <a:ext cx="1077976" cy="256032"/>
          </a:xfrm>
          <a:prstGeom prst="roundRect">
            <a:avLst>
              <a:gd name="adj" fmla="val 50000"/>
            </a:avLst>
          </a:prstGeom>
          <a:solidFill>
            <a:srgbClr val="F3F5F8"/>
          </a:solidFill>
          <a:ln w="12700">
            <a:solidFill>
              <a:srgbClr val="F3F5F8"/>
            </a:solidFill>
            <a:prstDash val="solid"/>
          </a:ln>
        </p:spPr>
      </p:sp>
      <p:sp>
        <p:nvSpPr>
          <p:cNvPr id="55" name="Text 53"/>
          <p:cNvSpPr txBox="1"/>
          <p:nvPr/>
        </p:nvSpPr>
        <p:spPr>
          <a:xfrm>
            <a:off x="9482328" y="4096512"/>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start</a:t>
            </a:r>
            <a:endParaRPr lang="en-US" sz="1000" dirty="0"/>
          </a:p>
        </p:txBody>
      </p:sp>
      <p:sp>
        <p:nvSpPr>
          <p:cNvPr id="56" name="Shape 54"/>
          <p:cNvSpPr/>
          <p:nvPr/>
        </p:nvSpPr>
        <p:spPr>
          <a:xfrm>
            <a:off x="10651744" y="4096512"/>
            <a:ext cx="1011936" cy="256032"/>
          </a:xfrm>
          <a:prstGeom prst="roundRect">
            <a:avLst>
              <a:gd name="adj" fmla="val 50000"/>
            </a:avLst>
          </a:prstGeom>
          <a:solidFill>
            <a:srgbClr val="F3F5F8"/>
          </a:solidFill>
          <a:ln w="12700">
            <a:solidFill>
              <a:srgbClr val="F3F5F8"/>
            </a:solidFill>
            <a:prstDash val="solid"/>
          </a:ln>
        </p:spPr>
      </p:sp>
      <p:sp>
        <p:nvSpPr>
          <p:cNvPr id="57" name="Text 55"/>
          <p:cNvSpPr txBox="1"/>
          <p:nvPr/>
        </p:nvSpPr>
        <p:spPr>
          <a:xfrm>
            <a:off x="10651744" y="4096512"/>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link</a:t>
            </a:r>
            <a:endParaRPr lang="en-US" sz="1000" dirty="0"/>
          </a:p>
        </p:txBody>
      </p:sp>
      <p:sp>
        <p:nvSpPr>
          <p:cNvPr id="58" name="Shape 56"/>
          <p:cNvSpPr/>
          <p:nvPr/>
        </p:nvSpPr>
        <p:spPr>
          <a:xfrm>
            <a:off x="457200" y="4443984"/>
            <a:ext cx="1011936" cy="256032"/>
          </a:xfrm>
          <a:prstGeom prst="roundRect">
            <a:avLst>
              <a:gd name="adj" fmla="val 50000"/>
            </a:avLst>
          </a:prstGeom>
          <a:solidFill>
            <a:srgbClr val="F3F5F8"/>
          </a:solidFill>
          <a:ln w="12700">
            <a:solidFill>
              <a:srgbClr val="F3F5F8"/>
            </a:solidFill>
            <a:prstDash val="solid"/>
          </a:ln>
        </p:spPr>
      </p:sp>
      <p:sp>
        <p:nvSpPr>
          <p:cNvPr id="59" name="Text 57"/>
          <p:cNvSpPr txBox="1"/>
          <p:nvPr/>
        </p:nvSpPr>
        <p:spPr>
          <a:xfrm>
            <a:off x="457200" y="4443984"/>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move</a:t>
            </a:r>
            <a:endParaRPr lang="en-US" sz="1000" dirty="0"/>
          </a:p>
        </p:txBody>
      </p:sp>
      <p:sp>
        <p:nvSpPr>
          <p:cNvPr id="60" name="Shape 58"/>
          <p:cNvSpPr/>
          <p:nvPr/>
        </p:nvSpPr>
        <p:spPr>
          <a:xfrm>
            <a:off x="1560576" y="4443984"/>
            <a:ext cx="1011936" cy="256032"/>
          </a:xfrm>
          <a:prstGeom prst="roundRect">
            <a:avLst>
              <a:gd name="adj" fmla="val 50000"/>
            </a:avLst>
          </a:prstGeom>
          <a:solidFill>
            <a:srgbClr val="F3F5F8"/>
          </a:solidFill>
          <a:ln w="12700">
            <a:solidFill>
              <a:srgbClr val="F3F5F8"/>
            </a:solidFill>
            <a:prstDash val="solid"/>
          </a:ln>
        </p:spPr>
      </p:sp>
      <p:sp>
        <p:nvSpPr>
          <p:cNvPr id="61" name="Text 59"/>
          <p:cNvSpPr txBox="1"/>
          <p:nvPr/>
        </p:nvSpPr>
        <p:spPr>
          <a:xfrm>
            <a:off x="1560576" y="4443984"/>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drop</a:t>
            </a:r>
            <a:endParaRPr lang="en-US" sz="1000" dirty="0"/>
          </a:p>
        </p:txBody>
      </p:sp>
      <p:sp>
        <p:nvSpPr>
          <p:cNvPr id="62" name="Shape 60"/>
          <p:cNvSpPr/>
          <p:nvPr/>
        </p:nvSpPr>
        <p:spPr>
          <a:xfrm>
            <a:off x="2663952" y="4443984"/>
            <a:ext cx="1011936" cy="256032"/>
          </a:xfrm>
          <a:prstGeom prst="roundRect">
            <a:avLst>
              <a:gd name="adj" fmla="val 50000"/>
            </a:avLst>
          </a:prstGeom>
          <a:solidFill>
            <a:srgbClr val="F3F5F8"/>
          </a:solidFill>
          <a:ln w="12700">
            <a:solidFill>
              <a:srgbClr val="F3F5F8"/>
            </a:solidFill>
            <a:prstDash val="solid"/>
          </a:ln>
        </p:spPr>
      </p:sp>
      <p:sp>
        <p:nvSpPr>
          <p:cNvPr id="63" name="Text 61"/>
          <p:cNvSpPr txBox="1"/>
          <p:nvPr/>
        </p:nvSpPr>
        <p:spPr>
          <a:xfrm>
            <a:off x="2663952" y="4443984"/>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done</a:t>
            </a:r>
            <a:endParaRPr lang="en-US" sz="1000" dirty="0"/>
          </a:p>
        </p:txBody>
      </p:sp>
      <p:sp>
        <p:nvSpPr>
          <p:cNvPr id="64" name="Shape 62"/>
          <p:cNvSpPr/>
          <p:nvPr/>
        </p:nvSpPr>
        <p:spPr>
          <a:xfrm>
            <a:off x="3767328" y="4443984"/>
            <a:ext cx="1144016" cy="256032"/>
          </a:xfrm>
          <a:prstGeom prst="roundRect">
            <a:avLst>
              <a:gd name="adj" fmla="val 50000"/>
            </a:avLst>
          </a:prstGeom>
          <a:solidFill>
            <a:srgbClr val="F3F5F8"/>
          </a:solidFill>
          <a:ln w="12700">
            <a:solidFill>
              <a:srgbClr val="F3F5F8"/>
            </a:solidFill>
            <a:prstDash val="solid"/>
          </a:ln>
        </p:spPr>
      </p:sp>
      <p:sp>
        <p:nvSpPr>
          <p:cNvPr id="65" name="Text 63"/>
          <p:cNvSpPr txBox="1"/>
          <p:nvPr/>
        </p:nvSpPr>
        <p:spPr>
          <a:xfrm>
            <a:off x="3767328" y="4443984"/>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backlog import</a:t>
            </a:r>
            <a:endParaRPr lang="en-US" sz="1000" dirty="0"/>
          </a:p>
        </p:txBody>
      </p:sp>
      <p:sp>
        <p:nvSpPr>
          <p:cNvPr id="66" name="Shape 64"/>
          <p:cNvSpPr/>
          <p:nvPr/>
        </p:nvSpPr>
        <p:spPr>
          <a:xfrm>
            <a:off x="5002784" y="4443984"/>
            <a:ext cx="813816" cy="256032"/>
          </a:xfrm>
          <a:prstGeom prst="roundRect">
            <a:avLst>
              <a:gd name="adj" fmla="val 50000"/>
            </a:avLst>
          </a:prstGeom>
          <a:solidFill>
            <a:srgbClr val="F3F5F8"/>
          </a:solidFill>
          <a:ln w="12700">
            <a:solidFill>
              <a:srgbClr val="F3F5F8"/>
            </a:solidFill>
            <a:prstDash val="solid"/>
          </a:ln>
        </p:spPr>
      </p:sp>
      <p:sp>
        <p:nvSpPr>
          <p:cNvPr id="67" name="Text 65"/>
          <p:cNvSpPr txBox="1"/>
          <p:nvPr/>
        </p:nvSpPr>
        <p:spPr>
          <a:xfrm>
            <a:off x="5002784" y="4443984"/>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defer add</a:t>
            </a:r>
            <a:endParaRPr lang="en-US" sz="1000" dirty="0"/>
          </a:p>
        </p:txBody>
      </p:sp>
      <p:sp>
        <p:nvSpPr>
          <p:cNvPr id="68" name="Shape 66"/>
          <p:cNvSpPr/>
          <p:nvPr/>
        </p:nvSpPr>
        <p:spPr>
          <a:xfrm>
            <a:off x="5908040" y="4443984"/>
            <a:ext cx="879856" cy="256032"/>
          </a:xfrm>
          <a:prstGeom prst="roundRect">
            <a:avLst>
              <a:gd name="adj" fmla="val 50000"/>
            </a:avLst>
          </a:prstGeom>
          <a:solidFill>
            <a:srgbClr val="F3F5F8"/>
          </a:solidFill>
          <a:ln w="12700">
            <a:solidFill>
              <a:srgbClr val="F3F5F8"/>
            </a:solidFill>
            <a:prstDash val="solid"/>
          </a:ln>
        </p:spPr>
      </p:sp>
      <p:sp>
        <p:nvSpPr>
          <p:cNvPr id="69" name="Text 67"/>
          <p:cNvSpPr txBox="1"/>
          <p:nvPr/>
        </p:nvSpPr>
        <p:spPr>
          <a:xfrm>
            <a:off x="5908040" y="4443984"/>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defer list</a:t>
            </a:r>
            <a:endParaRPr lang="en-US" sz="1000" dirty="0"/>
          </a:p>
        </p:txBody>
      </p:sp>
      <p:sp>
        <p:nvSpPr>
          <p:cNvPr id="70" name="Shape 68"/>
          <p:cNvSpPr/>
          <p:nvPr/>
        </p:nvSpPr>
        <p:spPr>
          <a:xfrm>
            <a:off x="6879336" y="4443984"/>
            <a:ext cx="945896" cy="256032"/>
          </a:xfrm>
          <a:prstGeom prst="roundRect">
            <a:avLst>
              <a:gd name="adj" fmla="val 50000"/>
            </a:avLst>
          </a:prstGeom>
          <a:solidFill>
            <a:srgbClr val="F3F5F8"/>
          </a:solidFill>
          <a:ln w="12700">
            <a:solidFill>
              <a:srgbClr val="F3F5F8"/>
            </a:solidFill>
            <a:prstDash val="solid"/>
          </a:ln>
        </p:spPr>
      </p:sp>
      <p:sp>
        <p:nvSpPr>
          <p:cNvPr id="71" name="Text 69"/>
          <p:cNvSpPr txBox="1"/>
          <p:nvPr/>
        </p:nvSpPr>
        <p:spPr>
          <a:xfrm>
            <a:off x="6879336" y="4443984"/>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defer close</a:t>
            </a:r>
            <a:endParaRPr lang="en-US" sz="1000" dirty="0"/>
          </a:p>
        </p:txBody>
      </p:sp>
      <p:sp>
        <p:nvSpPr>
          <p:cNvPr id="72" name="Shape 70"/>
          <p:cNvSpPr/>
          <p:nvPr/>
        </p:nvSpPr>
        <p:spPr>
          <a:xfrm>
            <a:off x="7916672" y="4443984"/>
            <a:ext cx="1011936" cy="256032"/>
          </a:xfrm>
          <a:prstGeom prst="roundRect">
            <a:avLst>
              <a:gd name="adj" fmla="val 50000"/>
            </a:avLst>
          </a:prstGeom>
          <a:solidFill>
            <a:srgbClr val="F3F5F8"/>
          </a:solidFill>
          <a:ln w="12700">
            <a:solidFill>
              <a:srgbClr val="F3F5F8"/>
            </a:solidFill>
            <a:prstDash val="solid"/>
          </a:ln>
        </p:spPr>
      </p:sp>
      <p:sp>
        <p:nvSpPr>
          <p:cNvPr id="73" name="Text 71"/>
          <p:cNvSpPr txBox="1"/>
          <p:nvPr/>
        </p:nvSpPr>
        <p:spPr>
          <a:xfrm>
            <a:off x="7916672" y="4443984"/>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layout check</a:t>
            </a:r>
            <a:endParaRPr lang="en-US" sz="1000" dirty="0"/>
          </a:p>
        </p:txBody>
      </p:sp>
      <p:sp>
        <p:nvSpPr>
          <p:cNvPr id="74" name="Shape 72"/>
          <p:cNvSpPr/>
          <p:nvPr/>
        </p:nvSpPr>
        <p:spPr>
          <a:xfrm>
            <a:off x="9020048" y="4443984"/>
            <a:ext cx="1210056" cy="256032"/>
          </a:xfrm>
          <a:prstGeom prst="roundRect">
            <a:avLst>
              <a:gd name="adj" fmla="val 50000"/>
            </a:avLst>
          </a:prstGeom>
          <a:solidFill>
            <a:srgbClr val="F3F5F8"/>
          </a:solidFill>
          <a:ln w="12700">
            <a:solidFill>
              <a:srgbClr val="F3F5F8"/>
            </a:solidFill>
            <a:prstDash val="solid"/>
          </a:ln>
        </p:spPr>
      </p:sp>
      <p:sp>
        <p:nvSpPr>
          <p:cNvPr id="75" name="Text 73"/>
          <p:cNvSpPr txBox="1"/>
          <p:nvPr/>
        </p:nvSpPr>
        <p:spPr>
          <a:xfrm>
            <a:off x="9020048" y="4443984"/>
            <a:ext cx="12100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layout scaffold</a:t>
            </a:r>
            <a:endParaRPr lang="en-US" sz="1000" dirty="0"/>
          </a:p>
        </p:txBody>
      </p:sp>
      <p:sp>
        <p:nvSpPr>
          <p:cNvPr id="76" name="Shape 74"/>
          <p:cNvSpPr/>
          <p:nvPr/>
        </p:nvSpPr>
        <p:spPr>
          <a:xfrm>
            <a:off x="10321544" y="4443984"/>
            <a:ext cx="1011936" cy="256032"/>
          </a:xfrm>
          <a:prstGeom prst="roundRect">
            <a:avLst>
              <a:gd name="adj" fmla="val 50000"/>
            </a:avLst>
          </a:prstGeom>
          <a:solidFill>
            <a:srgbClr val="F3F5F8"/>
          </a:solidFill>
          <a:ln w="12700">
            <a:solidFill>
              <a:srgbClr val="F3F5F8"/>
            </a:solidFill>
            <a:prstDash val="solid"/>
          </a:ln>
        </p:spPr>
      </p:sp>
      <p:sp>
        <p:nvSpPr>
          <p:cNvPr id="77" name="Text 75"/>
          <p:cNvSpPr txBox="1"/>
          <p:nvPr/>
        </p:nvSpPr>
        <p:spPr>
          <a:xfrm>
            <a:off x="10321544" y="4443984"/>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layout adapt</a:t>
            </a:r>
            <a:endParaRPr lang="en-US" sz="1000" dirty="0"/>
          </a:p>
        </p:txBody>
      </p:sp>
      <p:sp>
        <p:nvSpPr>
          <p:cNvPr id="78" name="Shape 76"/>
          <p:cNvSpPr/>
          <p:nvPr/>
        </p:nvSpPr>
        <p:spPr>
          <a:xfrm>
            <a:off x="457200" y="4791456"/>
            <a:ext cx="1144016" cy="256032"/>
          </a:xfrm>
          <a:prstGeom prst="roundRect">
            <a:avLst>
              <a:gd name="adj" fmla="val 50000"/>
            </a:avLst>
          </a:prstGeom>
          <a:solidFill>
            <a:srgbClr val="F3F5F8"/>
          </a:solidFill>
          <a:ln w="12700">
            <a:solidFill>
              <a:srgbClr val="F3F5F8"/>
            </a:solidFill>
            <a:prstDash val="solid"/>
          </a:ln>
        </p:spPr>
      </p:sp>
      <p:sp>
        <p:nvSpPr>
          <p:cNvPr id="79" name="Text 77"/>
          <p:cNvSpPr txBox="1"/>
          <p:nvPr/>
        </p:nvSpPr>
        <p:spPr>
          <a:xfrm>
            <a:off x="457200" y="4791456"/>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layout convert</a:t>
            </a:r>
            <a:endParaRPr lang="en-US" sz="1000" dirty="0"/>
          </a:p>
        </p:txBody>
      </p:sp>
      <p:sp>
        <p:nvSpPr>
          <p:cNvPr id="80" name="Shape 78"/>
          <p:cNvSpPr/>
          <p:nvPr/>
        </p:nvSpPr>
        <p:spPr>
          <a:xfrm>
            <a:off x="1692656" y="4791456"/>
            <a:ext cx="483616" cy="256032"/>
          </a:xfrm>
          <a:prstGeom prst="roundRect">
            <a:avLst>
              <a:gd name="adj" fmla="val 50000"/>
            </a:avLst>
          </a:prstGeom>
          <a:solidFill>
            <a:srgbClr val="F3F5F8"/>
          </a:solidFill>
          <a:ln w="12700">
            <a:solidFill>
              <a:srgbClr val="F3F5F8"/>
            </a:solidFill>
            <a:prstDash val="solid"/>
          </a:ln>
        </p:spPr>
      </p:sp>
      <p:sp>
        <p:nvSpPr>
          <p:cNvPr id="81" name="Text 79"/>
          <p:cNvSpPr txBox="1"/>
          <p:nvPr/>
        </p:nvSpPr>
        <p:spPr>
          <a:xfrm>
            <a:off x="1692656" y="4791456"/>
            <a:ext cx="4836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init</a:t>
            </a:r>
            <a:endParaRPr lang="en-US" sz="1000" dirty="0"/>
          </a:p>
        </p:txBody>
      </p:sp>
      <p:sp>
        <p:nvSpPr>
          <p:cNvPr id="82" name="Shape 80"/>
          <p:cNvSpPr/>
          <p:nvPr/>
        </p:nvSpPr>
        <p:spPr>
          <a:xfrm>
            <a:off x="2267712" y="4791456"/>
            <a:ext cx="615696" cy="256032"/>
          </a:xfrm>
          <a:prstGeom prst="roundRect">
            <a:avLst>
              <a:gd name="adj" fmla="val 50000"/>
            </a:avLst>
          </a:prstGeom>
          <a:solidFill>
            <a:srgbClr val="F3F5F8"/>
          </a:solidFill>
          <a:ln w="12700">
            <a:solidFill>
              <a:srgbClr val="F3F5F8"/>
            </a:solidFill>
            <a:prstDash val="solid"/>
          </a:ln>
        </p:spPr>
      </p:sp>
      <p:sp>
        <p:nvSpPr>
          <p:cNvPr id="83" name="Text 81"/>
          <p:cNvSpPr txBox="1"/>
          <p:nvPr/>
        </p:nvSpPr>
        <p:spPr>
          <a:xfrm>
            <a:off x="2267712" y="4791456"/>
            <a:ext cx="6156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update</a:t>
            </a:r>
            <a:endParaRPr lang="en-US" sz="1000" dirty="0"/>
          </a:p>
        </p:txBody>
      </p:sp>
      <p:sp>
        <p:nvSpPr>
          <p:cNvPr id="84" name="Shape 82"/>
          <p:cNvSpPr/>
          <p:nvPr/>
        </p:nvSpPr>
        <p:spPr>
          <a:xfrm>
            <a:off x="2974848" y="4791456"/>
            <a:ext cx="813816" cy="256032"/>
          </a:xfrm>
          <a:prstGeom prst="roundRect">
            <a:avLst>
              <a:gd name="adj" fmla="val 50000"/>
            </a:avLst>
          </a:prstGeom>
          <a:solidFill>
            <a:srgbClr val="F3F5F8"/>
          </a:solidFill>
          <a:ln w="12700">
            <a:solidFill>
              <a:srgbClr val="F3F5F8"/>
            </a:solidFill>
            <a:prstDash val="solid"/>
          </a:ln>
        </p:spPr>
      </p:sp>
      <p:sp>
        <p:nvSpPr>
          <p:cNvPr id="85" name="Text 83"/>
          <p:cNvSpPr txBox="1"/>
          <p:nvPr/>
        </p:nvSpPr>
        <p:spPr>
          <a:xfrm>
            <a:off x="2974848" y="4791456"/>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uninstall</a:t>
            </a:r>
            <a:endParaRPr lang="en-US" sz="1000" dirty="0"/>
          </a:p>
        </p:txBody>
      </p:sp>
      <p:sp>
        <p:nvSpPr>
          <p:cNvPr id="86" name="Shape 84"/>
          <p:cNvSpPr/>
          <p:nvPr/>
        </p:nvSpPr>
        <p:spPr>
          <a:xfrm>
            <a:off x="3880104" y="4791456"/>
            <a:ext cx="417576" cy="256032"/>
          </a:xfrm>
          <a:prstGeom prst="roundRect">
            <a:avLst>
              <a:gd name="adj" fmla="val 50000"/>
            </a:avLst>
          </a:prstGeom>
          <a:solidFill>
            <a:srgbClr val="F3F5F8"/>
          </a:solidFill>
          <a:ln w="12700">
            <a:solidFill>
              <a:srgbClr val="F3F5F8"/>
            </a:solidFill>
            <a:prstDash val="solid"/>
          </a:ln>
        </p:spPr>
      </p:sp>
      <p:sp>
        <p:nvSpPr>
          <p:cNvPr id="87" name="Text 85"/>
          <p:cNvSpPr txBox="1"/>
          <p:nvPr/>
        </p:nvSpPr>
        <p:spPr>
          <a:xfrm>
            <a:off x="3880104" y="4791456"/>
            <a:ext cx="4175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new</a:t>
            </a:r>
            <a:endParaRPr lang="en-US" sz="1000" dirty="0"/>
          </a:p>
        </p:txBody>
      </p:sp>
      <p:sp>
        <p:nvSpPr>
          <p:cNvPr id="88" name="Shape 86"/>
          <p:cNvSpPr/>
          <p:nvPr/>
        </p:nvSpPr>
        <p:spPr>
          <a:xfrm>
            <a:off x="4389120" y="4791456"/>
            <a:ext cx="1011936" cy="256032"/>
          </a:xfrm>
          <a:prstGeom prst="roundRect">
            <a:avLst>
              <a:gd name="adj" fmla="val 50000"/>
            </a:avLst>
          </a:prstGeom>
          <a:solidFill>
            <a:srgbClr val="F3F5F8"/>
          </a:solidFill>
          <a:ln w="12700">
            <a:solidFill>
              <a:srgbClr val="F3F5F8"/>
            </a:solidFill>
            <a:prstDash val="solid"/>
          </a:ln>
        </p:spPr>
      </p:sp>
      <p:sp>
        <p:nvSpPr>
          <p:cNvPr id="89" name="Text 87"/>
          <p:cNvSpPr txBox="1"/>
          <p:nvPr/>
        </p:nvSpPr>
        <p:spPr>
          <a:xfrm>
            <a:off x="4389120" y="4791456"/>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explore list</a:t>
            </a:r>
            <a:endParaRPr lang="en-US" sz="1000" dirty="0"/>
          </a:p>
        </p:txBody>
      </p:sp>
      <p:sp>
        <p:nvSpPr>
          <p:cNvPr id="90" name="Shape 88"/>
          <p:cNvSpPr/>
          <p:nvPr/>
        </p:nvSpPr>
        <p:spPr>
          <a:xfrm>
            <a:off x="5492496" y="4791456"/>
            <a:ext cx="945896" cy="256032"/>
          </a:xfrm>
          <a:prstGeom prst="roundRect">
            <a:avLst>
              <a:gd name="adj" fmla="val 50000"/>
            </a:avLst>
          </a:prstGeom>
          <a:solidFill>
            <a:srgbClr val="F3F5F8"/>
          </a:solidFill>
          <a:ln w="12700">
            <a:solidFill>
              <a:srgbClr val="F3F5F8"/>
            </a:solidFill>
            <a:prstDash val="solid"/>
          </a:ln>
        </p:spPr>
      </p:sp>
      <p:sp>
        <p:nvSpPr>
          <p:cNvPr id="91" name="Text 89"/>
          <p:cNvSpPr txBox="1"/>
          <p:nvPr/>
        </p:nvSpPr>
        <p:spPr>
          <a:xfrm>
            <a:off x="5492496" y="4791456"/>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import bmad</a:t>
            </a:r>
            <a:endParaRPr lang="en-US" sz="1000" dirty="0"/>
          </a:p>
        </p:txBody>
      </p:sp>
      <p:sp>
        <p:nvSpPr>
          <p:cNvPr id="92" name="Shape 90"/>
          <p:cNvSpPr/>
          <p:nvPr/>
        </p:nvSpPr>
        <p:spPr>
          <a:xfrm>
            <a:off x="6529832" y="4791456"/>
            <a:ext cx="615696" cy="256032"/>
          </a:xfrm>
          <a:prstGeom prst="roundRect">
            <a:avLst>
              <a:gd name="adj" fmla="val 50000"/>
            </a:avLst>
          </a:prstGeom>
          <a:solidFill>
            <a:srgbClr val="F3F5F8"/>
          </a:solidFill>
          <a:ln w="12700">
            <a:solidFill>
              <a:srgbClr val="F3F5F8"/>
            </a:solidFill>
            <a:prstDash val="solid"/>
          </a:ln>
        </p:spPr>
      </p:sp>
      <p:sp>
        <p:nvSpPr>
          <p:cNvPr id="93" name="Text 91"/>
          <p:cNvSpPr txBox="1"/>
          <p:nvPr/>
        </p:nvSpPr>
        <p:spPr>
          <a:xfrm>
            <a:off x="6529832" y="4791456"/>
            <a:ext cx="6156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status</a:t>
            </a:r>
            <a:endParaRPr lang="en-US" sz="1000" dirty="0"/>
          </a:p>
        </p:txBody>
      </p:sp>
      <p:sp>
        <p:nvSpPr>
          <p:cNvPr id="94" name="Shape 92"/>
          <p:cNvSpPr/>
          <p:nvPr/>
        </p:nvSpPr>
        <p:spPr>
          <a:xfrm>
            <a:off x="7236968" y="4791456"/>
            <a:ext cx="681736" cy="256032"/>
          </a:xfrm>
          <a:prstGeom prst="roundRect">
            <a:avLst>
              <a:gd name="adj" fmla="val 50000"/>
            </a:avLst>
          </a:prstGeom>
          <a:solidFill>
            <a:srgbClr val="F3F5F8"/>
          </a:solidFill>
          <a:ln w="12700">
            <a:solidFill>
              <a:srgbClr val="F3F5F8"/>
            </a:solidFill>
            <a:prstDash val="solid"/>
          </a:ln>
        </p:spPr>
      </p:sp>
      <p:sp>
        <p:nvSpPr>
          <p:cNvPr id="95" name="Text 93"/>
          <p:cNvSpPr txBox="1"/>
          <p:nvPr/>
        </p:nvSpPr>
        <p:spPr>
          <a:xfrm>
            <a:off x="7236968" y="4791456"/>
            <a:ext cx="6817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explain</a:t>
            </a:r>
            <a:endParaRPr lang="en-US" sz="1000" dirty="0"/>
          </a:p>
        </p:txBody>
      </p:sp>
      <p:sp>
        <p:nvSpPr>
          <p:cNvPr id="96" name="Shape 94"/>
          <p:cNvSpPr/>
          <p:nvPr/>
        </p:nvSpPr>
        <p:spPr>
          <a:xfrm>
            <a:off x="8010144" y="4791456"/>
            <a:ext cx="483616" cy="256032"/>
          </a:xfrm>
          <a:prstGeom prst="roundRect">
            <a:avLst>
              <a:gd name="adj" fmla="val 50000"/>
            </a:avLst>
          </a:prstGeom>
          <a:solidFill>
            <a:srgbClr val="F3F5F8"/>
          </a:solidFill>
          <a:ln w="12700">
            <a:solidFill>
              <a:srgbClr val="F3F5F8"/>
            </a:solidFill>
            <a:prstDash val="solid"/>
          </a:ln>
        </p:spPr>
      </p:sp>
      <p:sp>
        <p:nvSpPr>
          <p:cNvPr id="97" name="Text 95"/>
          <p:cNvSpPr txBox="1"/>
          <p:nvPr/>
        </p:nvSpPr>
        <p:spPr>
          <a:xfrm>
            <a:off x="8010144" y="4791456"/>
            <a:ext cx="4836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help</a:t>
            </a:r>
            <a:endParaRPr lang="en-US" sz="1000" dirty="0"/>
          </a:p>
        </p:txBody>
      </p:sp>
      <p:sp>
        <p:nvSpPr>
          <p:cNvPr id="98" name="Shape 96"/>
          <p:cNvSpPr/>
          <p:nvPr/>
        </p:nvSpPr>
        <p:spPr>
          <a:xfrm>
            <a:off x="8585200" y="4791456"/>
            <a:ext cx="549656" cy="256032"/>
          </a:xfrm>
          <a:prstGeom prst="roundRect">
            <a:avLst>
              <a:gd name="adj" fmla="val 50000"/>
            </a:avLst>
          </a:prstGeom>
          <a:solidFill>
            <a:srgbClr val="F3F5F8"/>
          </a:solidFill>
          <a:ln w="12700">
            <a:solidFill>
              <a:srgbClr val="F3F5F8"/>
            </a:solidFill>
            <a:prstDash val="solid"/>
          </a:ln>
        </p:spPr>
      </p:sp>
      <p:sp>
        <p:nvSpPr>
          <p:cNvPr id="99" name="Text 97"/>
          <p:cNvSpPr txBox="1"/>
          <p:nvPr/>
        </p:nvSpPr>
        <p:spPr>
          <a:xfrm>
            <a:off x="8585200" y="4791456"/>
            <a:ext cx="5496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guide</a:t>
            </a:r>
            <a:endParaRPr lang="en-US" sz="1000" dirty="0"/>
          </a:p>
        </p:txBody>
      </p:sp>
      <p:sp>
        <p:nvSpPr>
          <p:cNvPr id="100" name="Shape 98"/>
          <p:cNvSpPr/>
          <p:nvPr/>
        </p:nvSpPr>
        <p:spPr>
          <a:xfrm>
            <a:off x="9226296" y="4791456"/>
            <a:ext cx="879856" cy="256032"/>
          </a:xfrm>
          <a:prstGeom prst="roundRect">
            <a:avLst>
              <a:gd name="adj" fmla="val 50000"/>
            </a:avLst>
          </a:prstGeom>
          <a:solidFill>
            <a:srgbClr val="F3F5F8"/>
          </a:solidFill>
          <a:ln w="12700">
            <a:solidFill>
              <a:srgbClr val="F3F5F8"/>
            </a:solidFill>
            <a:prstDash val="solid"/>
          </a:ln>
        </p:spPr>
      </p:sp>
      <p:sp>
        <p:nvSpPr>
          <p:cNvPr id="101" name="Text 99"/>
          <p:cNvSpPr txBox="1"/>
          <p:nvPr/>
        </p:nvSpPr>
        <p:spPr>
          <a:xfrm>
            <a:off x="9226296" y="4791456"/>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statusline</a:t>
            </a:r>
            <a:endParaRPr lang="en-US" sz="1000" dirty="0"/>
          </a:p>
        </p:txBody>
      </p:sp>
      <p:sp>
        <p:nvSpPr>
          <p:cNvPr id="102" name="Shape 100"/>
          <p:cNvSpPr/>
          <p:nvPr/>
        </p:nvSpPr>
        <p:spPr>
          <a:xfrm>
            <a:off x="10197592" y="4791456"/>
            <a:ext cx="1011936" cy="256032"/>
          </a:xfrm>
          <a:prstGeom prst="roundRect">
            <a:avLst>
              <a:gd name="adj" fmla="val 50000"/>
            </a:avLst>
          </a:prstGeom>
          <a:solidFill>
            <a:srgbClr val="F3F5F8"/>
          </a:solidFill>
          <a:ln w="12700">
            <a:solidFill>
              <a:srgbClr val="F3F5F8"/>
            </a:solidFill>
            <a:prstDash val="solid"/>
          </a:ln>
        </p:spPr>
      </p:sp>
      <p:sp>
        <p:nvSpPr>
          <p:cNvPr id="103" name="Text 101"/>
          <p:cNvSpPr txBox="1"/>
          <p:nvPr/>
        </p:nvSpPr>
        <p:spPr>
          <a:xfrm>
            <a:off x="10197592" y="4791456"/>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context pull</a:t>
            </a:r>
            <a:endParaRPr lang="en-US" sz="1000" dirty="0"/>
          </a:p>
        </p:txBody>
      </p:sp>
      <p:sp>
        <p:nvSpPr>
          <p:cNvPr id="104" name="Shape 102"/>
          <p:cNvSpPr/>
          <p:nvPr/>
        </p:nvSpPr>
        <p:spPr>
          <a:xfrm>
            <a:off x="457200" y="5138928"/>
            <a:ext cx="813816" cy="256032"/>
          </a:xfrm>
          <a:prstGeom prst="roundRect">
            <a:avLst>
              <a:gd name="adj" fmla="val 50000"/>
            </a:avLst>
          </a:prstGeom>
          <a:solidFill>
            <a:srgbClr val="F3F5F8"/>
          </a:solidFill>
          <a:ln w="12700">
            <a:solidFill>
              <a:srgbClr val="F3F5F8"/>
            </a:solidFill>
            <a:prstDash val="solid"/>
          </a:ln>
        </p:spPr>
      </p:sp>
      <p:sp>
        <p:nvSpPr>
          <p:cNvPr id="105" name="Text 103"/>
          <p:cNvSpPr txBox="1"/>
          <p:nvPr/>
        </p:nvSpPr>
        <p:spPr>
          <a:xfrm>
            <a:off x="457200" y="5138928"/>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mcp serve</a:t>
            </a:r>
            <a:endParaRPr lang="en-US" sz="1000" dirty="0"/>
          </a:p>
        </p:txBody>
      </p:sp>
      <p:sp>
        <p:nvSpPr>
          <p:cNvPr id="106" name="Shape 104"/>
          <p:cNvSpPr/>
          <p:nvPr/>
        </p:nvSpPr>
        <p:spPr>
          <a:xfrm>
            <a:off x="1362456" y="5138928"/>
            <a:ext cx="813816" cy="256032"/>
          </a:xfrm>
          <a:prstGeom prst="roundRect">
            <a:avLst>
              <a:gd name="adj" fmla="val 50000"/>
            </a:avLst>
          </a:prstGeom>
          <a:solidFill>
            <a:srgbClr val="F3F5F8"/>
          </a:solidFill>
          <a:ln w="12700">
            <a:solidFill>
              <a:srgbClr val="F3F5F8"/>
            </a:solidFill>
            <a:prstDash val="solid"/>
          </a:ln>
        </p:spPr>
      </p:sp>
      <p:sp>
        <p:nvSpPr>
          <p:cNvPr id="107" name="Text 105"/>
          <p:cNvSpPr txBox="1"/>
          <p:nvPr/>
        </p:nvSpPr>
        <p:spPr>
          <a:xfrm>
            <a:off x="1362456" y="5138928"/>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mcp check</a:t>
            </a:r>
            <a:endParaRPr lang="en-US" sz="1000" dirty="0"/>
          </a:p>
        </p:txBody>
      </p:sp>
      <p:sp>
        <p:nvSpPr>
          <p:cNvPr id="108" name="Shape 106"/>
          <p:cNvSpPr/>
          <p:nvPr/>
        </p:nvSpPr>
        <p:spPr>
          <a:xfrm>
            <a:off x="2267712" y="5138928"/>
            <a:ext cx="879856" cy="256032"/>
          </a:xfrm>
          <a:prstGeom prst="roundRect">
            <a:avLst>
              <a:gd name="adj" fmla="val 50000"/>
            </a:avLst>
          </a:prstGeom>
          <a:solidFill>
            <a:srgbClr val="F3F5F8"/>
          </a:solidFill>
          <a:ln w="12700">
            <a:solidFill>
              <a:srgbClr val="F3F5F8"/>
            </a:solidFill>
            <a:prstDash val="solid"/>
          </a:ln>
        </p:spPr>
      </p:sp>
      <p:sp>
        <p:nvSpPr>
          <p:cNvPr id="109" name="Text 107"/>
          <p:cNvSpPr txBox="1"/>
          <p:nvPr/>
        </p:nvSpPr>
        <p:spPr>
          <a:xfrm>
            <a:off x="2267712" y="5138928"/>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inbox list</a:t>
            </a:r>
            <a:endParaRPr lang="en-US" sz="1000" dirty="0"/>
          </a:p>
        </p:txBody>
      </p:sp>
      <p:sp>
        <p:nvSpPr>
          <p:cNvPr id="110" name="Shape 108"/>
          <p:cNvSpPr/>
          <p:nvPr/>
        </p:nvSpPr>
        <p:spPr>
          <a:xfrm>
            <a:off x="3239008" y="5138928"/>
            <a:ext cx="879856" cy="256032"/>
          </a:xfrm>
          <a:prstGeom prst="roundRect">
            <a:avLst>
              <a:gd name="adj" fmla="val 50000"/>
            </a:avLst>
          </a:prstGeom>
          <a:solidFill>
            <a:srgbClr val="F3F5F8"/>
          </a:solidFill>
          <a:ln w="12700">
            <a:solidFill>
              <a:srgbClr val="F3F5F8"/>
            </a:solidFill>
            <a:prstDash val="solid"/>
          </a:ln>
        </p:spPr>
      </p:sp>
      <p:sp>
        <p:nvSpPr>
          <p:cNvPr id="111" name="Text 109"/>
          <p:cNvSpPr txBox="1"/>
          <p:nvPr/>
        </p:nvSpPr>
        <p:spPr>
          <a:xfrm>
            <a:off x="3239008" y="5138928"/>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inbox done</a:t>
            </a:r>
            <a:endParaRPr lang="en-US" sz="1000" dirty="0"/>
          </a:p>
        </p:txBody>
      </p:sp>
      <p:sp>
        <p:nvSpPr>
          <p:cNvPr id="112" name="Shape 110"/>
          <p:cNvSpPr/>
          <p:nvPr/>
        </p:nvSpPr>
        <p:spPr>
          <a:xfrm>
            <a:off x="4210304" y="5138928"/>
            <a:ext cx="945896" cy="256032"/>
          </a:xfrm>
          <a:prstGeom prst="roundRect">
            <a:avLst>
              <a:gd name="adj" fmla="val 50000"/>
            </a:avLst>
          </a:prstGeom>
          <a:solidFill>
            <a:srgbClr val="F3F5F8"/>
          </a:solidFill>
          <a:ln w="12700">
            <a:solidFill>
              <a:srgbClr val="F3F5F8"/>
            </a:solidFill>
            <a:prstDash val="solid"/>
          </a:ln>
        </p:spPr>
      </p:sp>
      <p:sp>
        <p:nvSpPr>
          <p:cNvPr id="113" name="Text 111"/>
          <p:cNvSpPr txBox="1"/>
          <p:nvPr/>
        </p:nvSpPr>
        <p:spPr>
          <a:xfrm>
            <a:off x="4210304" y="5138928"/>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events list</a:t>
            </a:r>
            <a:endParaRPr lang="en-US" sz="1000" dirty="0"/>
          </a:p>
        </p:txBody>
      </p:sp>
      <p:sp>
        <p:nvSpPr>
          <p:cNvPr id="114" name="Shape 112"/>
          <p:cNvSpPr/>
          <p:nvPr/>
        </p:nvSpPr>
        <p:spPr>
          <a:xfrm>
            <a:off x="5247640" y="5138928"/>
            <a:ext cx="1011936" cy="256032"/>
          </a:xfrm>
          <a:prstGeom prst="roundRect">
            <a:avLst>
              <a:gd name="adj" fmla="val 50000"/>
            </a:avLst>
          </a:prstGeom>
          <a:solidFill>
            <a:srgbClr val="F3F5F8"/>
          </a:solidFill>
          <a:ln w="12700">
            <a:solidFill>
              <a:srgbClr val="F3F5F8"/>
            </a:solidFill>
            <a:prstDash val="solid"/>
          </a:ln>
        </p:spPr>
      </p:sp>
      <p:sp>
        <p:nvSpPr>
          <p:cNvPr id="115" name="Text 113"/>
          <p:cNvSpPr txBox="1"/>
          <p:nvPr/>
        </p:nvSpPr>
        <p:spPr>
          <a:xfrm>
            <a:off x="5247640" y="5138928"/>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events flush</a:t>
            </a:r>
            <a:endParaRPr lang="en-US" sz="1000" dirty="0"/>
          </a:p>
        </p:txBody>
      </p:sp>
      <p:sp>
        <p:nvSpPr>
          <p:cNvPr id="116" name="Shape 114"/>
          <p:cNvSpPr/>
          <p:nvPr/>
        </p:nvSpPr>
        <p:spPr>
          <a:xfrm>
            <a:off x="6351016" y="5138928"/>
            <a:ext cx="1144016" cy="256032"/>
          </a:xfrm>
          <a:prstGeom prst="roundRect">
            <a:avLst>
              <a:gd name="adj" fmla="val 50000"/>
            </a:avLst>
          </a:prstGeom>
          <a:solidFill>
            <a:srgbClr val="F3F5F8"/>
          </a:solidFill>
          <a:ln w="12700">
            <a:solidFill>
              <a:srgbClr val="F3F5F8"/>
            </a:solidFill>
            <a:prstDash val="solid"/>
          </a:ln>
        </p:spPr>
      </p:sp>
      <p:sp>
        <p:nvSpPr>
          <p:cNvPr id="117" name="Text 115"/>
          <p:cNvSpPr txBox="1"/>
          <p:nvPr/>
        </p:nvSpPr>
        <p:spPr>
          <a:xfrm>
            <a:off x="6351016" y="5138928"/>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events summary</a:t>
            </a:r>
            <a:endParaRPr lang="en-US" sz="1000" dirty="0"/>
          </a:p>
        </p:txBody>
      </p:sp>
      <p:sp>
        <p:nvSpPr>
          <p:cNvPr id="118" name="Shape 116"/>
          <p:cNvSpPr/>
          <p:nvPr/>
        </p:nvSpPr>
        <p:spPr>
          <a:xfrm>
            <a:off x="7586472" y="5138928"/>
            <a:ext cx="1077976" cy="256032"/>
          </a:xfrm>
          <a:prstGeom prst="roundRect">
            <a:avLst>
              <a:gd name="adj" fmla="val 50000"/>
            </a:avLst>
          </a:prstGeom>
          <a:solidFill>
            <a:srgbClr val="F3F5F8"/>
          </a:solidFill>
          <a:ln w="12700">
            <a:solidFill>
              <a:srgbClr val="F3F5F8"/>
            </a:solidFill>
            <a:prstDash val="solid"/>
          </a:ln>
        </p:spPr>
      </p:sp>
      <p:sp>
        <p:nvSpPr>
          <p:cNvPr id="119" name="Text 117"/>
          <p:cNvSpPr txBox="1"/>
          <p:nvPr/>
        </p:nvSpPr>
        <p:spPr>
          <a:xfrm>
            <a:off x="7586472" y="5138928"/>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triage intake</a:t>
            </a:r>
            <a:endParaRPr lang="en-US" sz="1000" dirty="0"/>
          </a:p>
        </p:txBody>
      </p:sp>
      <p:sp>
        <p:nvSpPr>
          <p:cNvPr id="120" name="Shape 118"/>
          <p:cNvSpPr/>
          <p:nvPr/>
        </p:nvSpPr>
        <p:spPr>
          <a:xfrm>
            <a:off x="8755888" y="5138928"/>
            <a:ext cx="1077976" cy="256032"/>
          </a:xfrm>
          <a:prstGeom prst="roundRect">
            <a:avLst>
              <a:gd name="adj" fmla="val 50000"/>
            </a:avLst>
          </a:prstGeom>
          <a:solidFill>
            <a:srgbClr val="F3F5F8"/>
          </a:solidFill>
          <a:ln w="12700">
            <a:solidFill>
              <a:srgbClr val="F3F5F8"/>
            </a:solidFill>
            <a:prstDash val="solid"/>
          </a:ln>
        </p:spPr>
      </p:sp>
      <p:sp>
        <p:nvSpPr>
          <p:cNvPr id="121" name="Text 119"/>
          <p:cNvSpPr txBox="1"/>
          <p:nvPr/>
        </p:nvSpPr>
        <p:spPr>
          <a:xfrm>
            <a:off x="8755888" y="5138928"/>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release check</a:t>
            </a:r>
            <a:endParaRPr lang="en-US" sz="1000" dirty="0"/>
          </a:p>
        </p:txBody>
      </p:sp>
      <p:sp>
        <p:nvSpPr>
          <p:cNvPr id="122" name="Shape 120"/>
          <p:cNvSpPr/>
          <p:nvPr/>
        </p:nvSpPr>
        <p:spPr>
          <a:xfrm>
            <a:off x="9925304" y="5138928"/>
            <a:ext cx="813816" cy="256032"/>
          </a:xfrm>
          <a:prstGeom prst="roundRect">
            <a:avLst>
              <a:gd name="adj" fmla="val 50000"/>
            </a:avLst>
          </a:prstGeom>
          <a:solidFill>
            <a:srgbClr val="F3F5F8"/>
          </a:solidFill>
          <a:ln w="12700">
            <a:solidFill>
              <a:srgbClr val="F3F5F8"/>
            </a:solidFill>
            <a:prstDash val="solid"/>
          </a:ln>
        </p:spPr>
      </p:sp>
      <p:sp>
        <p:nvSpPr>
          <p:cNvPr id="123" name="Text 121"/>
          <p:cNvSpPr txBox="1"/>
          <p:nvPr/>
        </p:nvSpPr>
        <p:spPr>
          <a:xfrm>
            <a:off x="9925304" y="5138928"/>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track set</a:t>
            </a:r>
            <a:endParaRPr lang="en-US" sz="1000" dirty="0"/>
          </a:p>
        </p:txBody>
      </p:sp>
      <p:sp>
        <p:nvSpPr>
          <p:cNvPr id="124" name="Shape 122"/>
          <p:cNvSpPr/>
          <p:nvPr/>
        </p:nvSpPr>
        <p:spPr>
          <a:xfrm>
            <a:off x="10830560" y="5138928"/>
            <a:ext cx="483616" cy="256032"/>
          </a:xfrm>
          <a:prstGeom prst="roundRect">
            <a:avLst>
              <a:gd name="adj" fmla="val 50000"/>
            </a:avLst>
          </a:prstGeom>
          <a:solidFill>
            <a:srgbClr val="F3F5F8"/>
          </a:solidFill>
          <a:ln w="12700">
            <a:solidFill>
              <a:srgbClr val="F3F5F8"/>
            </a:solidFill>
            <a:prstDash val="solid"/>
          </a:ln>
        </p:spPr>
      </p:sp>
      <p:sp>
        <p:nvSpPr>
          <p:cNvPr id="125" name="Text 123"/>
          <p:cNvSpPr txBox="1"/>
          <p:nvPr/>
        </p:nvSpPr>
        <p:spPr>
          <a:xfrm>
            <a:off x="10830560" y="5138928"/>
            <a:ext cx="4836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next</a:t>
            </a:r>
            <a:endParaRPr lang="en-US" sz="1000" dirty="0"/>
          </a:p>
        </p:txBody>
      </p:sp>
      <p:sp>
        <p:nvSpPr>
          <p:cNvPr id="126" name="Shape 124"/>
          <p:cNvSpPr/>
          <p:nvPr/>
        </p:nvSpPr>
        <p:spPr>
          <a:xfrm>
            <a:off x="457200" y="5486400"/>
            <a:ext cx="1011936" cy="256032"/>
          </a:xfrm>
          <a:prstGeom prst="roundRect">
            <a:avLst>
              <a:gd name="adj" fmla="val 50000"/>
            </a:avLst>
          </a:prstGeom>
          <a:solidFill>
            <a:srgbClr val="F3F5F8"/>
          </a:solidFill>
          <a:ln w="12700">
            <a:solidFill>
              <a:srgbClr val="F3F5F8"/>
            </a:solidFill>
            <a:prstDash val="solid"/>
          </a:ln>
        </p:spPr>
      </p:sp>
      <p:sp>
        <p:nvSpPr>
          <p:cNvPr id="127" name="Text 125"/>
          <p:cNvSpPr txBox="1"/>
          <p:nvPr/>
        </p:nvSpPr>
        <p:spPr>
          <a:xfrm>
            <a:off x="457200" y="5486400"/>
            <a:ext cx="10119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instructions</a:t>
            </a:r>
            <a:endParaRPr lang="en-US" sz="1000" dirty="0"/>
          </a:p>
        </p:txBody>
      </p:sp>
      <p:sp>
        <p:nvSpPr>
          <p:cNvPr id="128" name="Shape 126"/>
          <p:cNvSpPr/>
          <p:nvPr/>
        </p:nvSpPr>
        <p:spPr>
          <a:xfrm>
            <a:off x="1560576" y="5486400"/>
            <a:ext cx="681736" cy="256032"/>
          </a:xfrm>
          <a:prstGeom prst="roundRect">
            <a:avLst>
              <a:gd name="adj" fmla="val 50000"/>
            </a:avLst>
          </a:prstGeom>
          <a:solidFill>
            <a:srgbClr val="F3F5F8"/>
          </a:solidFill>
          <a:ln w="12700">
            <a:solidFill>
              <a:srgbClr val="F3F5F8"/>
            </a:solidFill>
            <a:prstDash val="solid"/>
          </a:ln>
        </p:spPr>
      </p:sp>
      <p:sp>
        <p:nvSpPr>
          <p:cNvPr id="129" name="Text 127"/>
          <p:cNvSpPr txBox="1"/>
          <p:nvPr/>
        </p:nvSpPr>
        <p:spPr>
          <a:xfrm>
            <a:off x="1560576" y="5486400"/>
            <a:ext cx="6817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approve</a:t>
            </a:r>
            <a:endParaRPr lang="en-US" sz="1000" dirty="0"/>
          </a:p>
        </p:txBody>
      </p:sp>
      <p:sp>
        <p:nvSpPr>
          <p:cNvPr id="130" name="Shape 128"/>
          <p:cNvSpPr/>
          <p:nvPr/>
        </p:nvSpPr>
        <p:spPr>
          <a:xfrm>
            <a:off x="2333752" y="5486400"/>
            <a:ext cx="615696" cy="256032"/>
          </a:xfrm>
          <a:prstGeom prst="roundRect">
            <a:avLst>
              <a:gd name="adj" fmla="val 50000"/>
            </a:avLst>
          </a:prstGeom>
          <a:solidFill>
            <a:srgbClr val="F3F5F8"/>
          </a:solidFill>
          <a:ln w="12700">
            <a:solidFill>
              <a:srgbClr val="F3F5F8"/>
            </a:solidFill>
            <a:prstDash val="solid"/>
          </a:ln>
        </p:spPr>
      </p:sp>
      <p:sp>
        <p:nvSpPr>
          <p:cNvPr id="131" name="Text 129"/>
          <p:cNvSpPr txBox="1"/>
          <p:nvPr/>
        </p:nvSpPr>
        <p:spPr>
          <a:xfrm>
            <a:off x="2333752" y="5486400"/>
            <a:ext cx="6156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reject</a:t>
            </a:r>
            <a:endParaRPr lang="en-US" sz="1000" dirty="0"/>
          </a:p>
        </p:txBody>
      </p:sp>
      <p:sp>
        <p:nvSpPr>
          <p:cNvPr id="132" name="Shape 130"/>
          <p:cNvSpPr/>
          <p:nvPr/>
        </p:nvSpPr>
        <p:spPr>
          <a:xfrm>
            <a:off x="3040888" y="5486400"/>
            <a:ext cx="549656" cy="256032"/>
          </a:xfrm>
          <a:prstGeom prst="roundRect">
            <a:avLst>
              <a:gd name="adj" fmla="val 50000"/>
            </a:avLst>
          </a:prstGeom>
          <a:solidFill>
            <a:srgbClr val="F3F5F8"/>
          </a:solidFill>
          <a:ln w="12700">
            <a:solidFill>
              <a:srgbClr val="F3F5F8"/>
            </a:solidFill>
            <a:prstDash val="solid"/>
          </a:ln>
        </p:spPr>
      </p:sp>
      <p:sp>
        <p:nvSpPr>
          <p:cNvPr id="133" name="Text 131"/>
          <p:cNvSpPr txBox="1"/>
          <p:nvPr/>
        </p:nvSpPr>
        <p:spPr>
          <a:xfrm>
            <a:off x="3040888" y="5486400"/>
            <a:ext cx="5496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waive</a:t>
            </a:r>
            <a:endParaRPr lang="en-US" sz="1000" dirty="0"/>
          </a:p>
        </p:txBody>
      </p:sp>
      <p:sp>
        <p:nvSpPr>
          <p:cNvPr id="134" name="Shape 132"/>
          <p:cNvSpPr/>
          <p:nvPr/>
        </p:nvSpPr>
        <p:spPr>
          <a:xfrm>
            <a:off x="3681984" y="5486400"/>
            <a:ext cx="615696" cy="256032"/>
          </a:xfrm>
          <a:prstGeom prst="roundRect">
            <a:avLst>
              <a:gd name="adj" fmla="val 50000"/>
            </a:avLst>
          </a:prstGeom>
          <a:solidFill>
            <a:srgbClr val="F3F5F8"/>
          </a:solidFill>
          <a:ln w="12700">
            <a:solidFill>
              <a:srgbClr val="F3F5F8"/>
            </a:solidFill>
            <a:prstDash val="solid"/>
          </a:ln>
        </p:spPr>
      </p:sp>
      <p:sp>
        <p:nvSpPr>
          <p:cNvPr id="135" name="Text 133"/>
          <p:cNvSpPr txBox="1"/>
          <p:nvPr/>
        </p:nvSpPr>
        <p:spPr>
          <a:xfrm>
            <a:off x="3681984" y="5486400"/>
            <a:ext cx="6156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answer</a:t>
            </a:r>
            <a:endParaRPr lang="en-US" sz="1000" dirty="0"/>
          </a:p>
        </p:txBody>
      </p:sp>
      <p:sp>
        <p:nvSpPr>
          <p:cNvPr id="136" name="Shape 134"/>
          <p:cNvSpPr/>
          <p:nvPr/>
        </p:nvSpPr>
        <p:spPr>
          <a:xfrm>
            <a:off x="4389120" y="5486400"/>
            <a:ext cx="549656" cy="256032"/>
          </a:xfrm>
          <a:prstGeom prst="roundRect">
            <a:avLst>
              <a:gd name="adj" fmla="val 50000"/>
            </a:avLst>
          </a:prstGeom>
          <a:solidFill>
            <a:srgbClr val="F3F5F8"/>
          </a:solidFill>
          <a:ln w="12700">
            <a:solidFill>
              <a:srgbClr val="F3F5F8"/>
            </a:solidFill>
            <a:prstDash val="solid"/>
          </a:ln>
        </p:spPr>
      </p:sp>
      <p:sp>
        <p:nvSpPr>
          <p:cNvPr id="137" name="Text 135"/>
          <p:cNvSpPr txBox="1"/>
          <p:nvPr/>
        </p:nvSpPr>
        <p:spPr>
          <a:xfrm>
            <a:off x="4389120" y="5486400"/>
            <a:ext cx="5496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judge</a:t>
            </a:r>
            <a:endParaRPr lang="en-US" sz="1000" dirty="0"/>
          </a:p>
        </p:txBody>
      </p:sp>
      <p:sp>
        <p:nvSpPr>
          <p:cNvPr id="138" name="Shape 136"/>
          <p:cNvSpPr/>
          <p:nvPr/>
        </p:nvSpPr>
        <p:spPr>
          <a:xfrm>
            <a:off x="5030216" y="5486400"/>
            <a:ext cx="747776" cy="256032"/>
          </a:xfrm>
          <a:prstGeom prst="roundRect">
            <a:avLst>
              <a:gd name="adj" fmla="val 50000"/>
            </a:avLst>
          </a:prstGeom>
          <a:solidFill>
            <a:srgbClr val="F3F5F8"/>
          </a:solidFill>
          <a:ln w="12700">
            <a:solidFill>
              <a:srgbClr val="F3F5F8"/>
            </a:solidFill>
            <a:prstDash val="solid"/>
          </a:ln>
        </p:spPr>
      </p:sp>
      <p:sp>
        <p:nvSpPr>
          <p:cNvPr id="139" name="Text 137"/>
          <p:cNvSpPr txBox="1"/>
          <p:nvPr/>
        </p:nvSpPr>
        <p:spPr>
          <a:xfrm>
            <a:off x="5030216" y="5486400"/>
            <a:ext cx="7477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takeover</a:t>
            </a:r>
            <a:endParaRPr lang="en-US" sz="1000" dirty="0"/>
          </a:p>
        </p:txBody>
      </p:sp>
      <p:sp>
        <p:nvSpPr>
          <p:cNvPr id="140" name="Shape 138"/>
          <p:cNvSpPr/>
          <p:nvPr/>
        </p:nvSpPr>
        <p:spPr>
          <a:xfrm>
            <a:off x="5869432" y="5486400"/>
            <a:ext cx="1210056" cy="256032"/>
          </a:xfrm>
          <a:prstGeom prst="roundRect">
            <a:avLst>
              <a:gd name="adj" fmla="val 50000"/>
            </a:avLst>
          </a:prstGeom>
          <a:solidFill>
            <a:srgbClr val="F3F5F8"/>
          </a:solidFill>
          <a:ln w="12700">
            <a:solidFill>
              <a:srgbClr val="F3F5F8"/>
            </a:solidFill>
            <a:prstDash val="solid"/>
          </a:ln>
        </p:spPr>
      </p:sp>
      <p:sp>
        <p:nvSpPr>
          <p:cNvPr id="141" name="Text 139"/>
          <p:cNvSpPr txBox="1"/>
          <p:nvPr/>
        </p:nvSpPr>
        <p:spPr>
          <a:xfrm>
            <a:off x="5869432" y="5486400"/>
            <a:ext cx="12100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release-control</a:t>
            </a:r>
            <a:endParaRPr lang="en-US" sz="1000" dirty="0"/>
          </a:p>
        </p:txBody>
      </p:sp>
      <p:sp>
        <p:nvSpPr>
          <p:cNvPr id="142" name="Shape 140"/>
          <p:cNvSpPr/>
          <p:nvPr/>
        </p:nvSpPr>
        <p:spPr>
          <a:xfrm>
            <a:off x="7170928" y="5486400"/>
            <a:ext cx="615696" cy="256032"/>
          </a:xfrm>
          <a:prstGeom prst="roundRect">
            <a:avLst>
              <a:gd name="adj" fmla="val 50000"/>
            </a:avLst>
          </a:prstGeom>
          <a:solidFill>
            <a:srgbClr val="F3F5F8"/>
          </a:solidFill>
          <a:ln w="12700">
            <a:solidFill>
              <a:srgbClr val="F3F5F8"/>
            </a:solidFill>
            <a:prstDash val="solid"/>
          </a:ln>
        </p:spPr>
      </p:sp>
      <p:sp>
        <p:nvSpPr>
          <p:cNvPr id="143" name="Text 141"/>
          <p:cNvSpPr txBox="1"/>
          <p:nvPr/>
        </p:nvSpPr>
        <p:spPr>
          <a:xfrm>
            <a:off x="7170928" y="5486400"/>
            <a:ext cx="6156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rework</a:t>
            </a:r>
            <a:endParaRPr lang="en-US" sz="1000" dirty="0"/>
          </a:p>
        </p:txBody>
      </p:sp>
      <p:sp>
        <p:nvSpPr>
          <p:cNvPr id="144" name="Shape 142"/>
          <p:cNvSpPr/>
          <p:nvPr/>
        </p:nvSpPr>
        <p:spPr>
          <a:xfrm>
            <a:off x="7878064" y="5486400"/>
            <a:ext cx="1276096" cy="256032"/>
          </a:xfrm>
          <a:prstGeom prst="roundRect">
            <a:avLst>
              <a:gd name="adj" fmla="val 50000"/>
            </a:avLst>
          </a:prstGeom>
          <a:solidFill>
            <a:srgbClr val="F3F5F8"/>
          </a:solidFill>
          <a:ln w="12700">
            <a:solidFill>
              <a:srgbClr val="F3F5F8"/>
            </a:solidFill>
            <a:prstDash val="solid"/>
          </a:ln>
        </p:spPr>
      </p:sp>
      <p:sp>
        <p:nvSpPr>
          <p:cNvPr id="145" name="Text 143"/>
          <p:cNvSpPr txBox="1"/>
          <p:nvPr/>
        </p:nvSpPr>
        <p:spPr>
          <a:xfrm>
            <a:off x="7878064" y="5486400"/>
            <a:ext cx="12760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approvals verify</a:t>
            </a:r>
            <a:endParaRPr lang="en-US" sz="1000" dirty="0"/>
          </a:p>
        </p:txBody>
      </p:sp>
      <p:sp>
        <p:nvSpPr>
          <p:cNvPr id="146" name="Shape 144"/>
          <p:cNvSpPr/>
          <p:nvPr/>
        </p:nvSpPr>
        <p:spPr>
          <a:xfrm>
            <a:off x="9245600" y="5486400"/>
            <a:ext cx="549656" cy="256032"/>
          </a:xfrm>
          <a:prstGeom prst="roundRect">
            <a:avLst>
              <a:gd name="adj" fmla="val 50000"/>
            </a:avLst>
          </a:prstGeom>
          <a:solidFill>
            <a:srgbClr val="F3F5F8"/>
          </a:solidFill>
          <a:ln w="12700">
            <a:solidFill>
              <a:srgbClr val="F3F5F8"/>
            </a:solidFill>
            <a:prstDash val="solid"/>
          </a:ln>
        </p:spPr>
      </p:sp>
      <p:sp>
        <p:nvSpPr>
          <p:cNvPr id="147" name="Text 145"/>
          <p:cNvSpPr txBox="1"/>
          <p:nvPr/>
        </p:nvSpPr>
        <p:spPr>
          <a:xfrm>
            <a:off x="9245600" y="5486400"/>
            <a:ext cx="5496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tests</a:t>
            </a:r>
            <a:endParaRPr lang="en-US" sz="1000" dirty="0"/>
          </a:p>
        </p:txBody>
      </p:sp>
      <p:sp>
        <p:nvSpPr>
          <p:cNvPr id="148" name="Shape 146"/>
          <p:cNvSpPr/>
          <p:nvPr/>
        </p:nvSpPr>
        <p:spPr>
          <a:xfrm>
            <a:off x="9886696" y="5486400"/>
            <a:ext cx="1540256" cy="256032"/>
          </a:xfrm>
          <a:prstGeom prst="roundRect">
            <a:avLst>
              <a:gd name="adj" fmla="val 50000"/>
            </a:avLst>
          </a:prstGeom>
          <a:solidFill>
            <a:srgbClr val="F3F5F8"/>
          </a:solidFill>
          <a:ln w="12700">
            <a:solidFill>
              <a:srgbClr val="F3F5F8"/>
            </a:solidFill>
            <a:prstDash val="solid"/>
          </a:ln>
        </p:spPr>
      </p:sp>
      <p:sp>
        <p:nvSpPr>
          <p:cNvPr id="149" name="Text 147"/>
          <p:cNvSpPr txBox="1"/>
          <p:nvPr/>
        </p:nvSpPr>
        <p:spPr>
          <a:xfrm>
            <a:off x="9886696" y="5486400"/>
            <a:ext cx="15402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task executors token</a:t>
            </a:r>
            <a:endParaRPr lang="en-US" sz="1000" dirty="0"/>
          </a:p>
        </p:txBody>
      </p:sp>
      <p:sp>
        <p:nvSpPr>
          <p:cNvPr id="150" name="Shape 148"/>
          <p:cNvSpPr/>
          <p:nvPr/>
        </p:nvSpPr>
        <p:spPr>
          <a:xfrm>
            <a:off x="457200" y="5833872"/>
            <a:ext cx="945896" cy="256032"/>
          </a:xfrm>
          <a:prstGeom prst="roundRect">
            <a:avLst>
              <a:gd name="adj" fmla="val 50000"/>
            </a:avLst>
          </a:prstGeom>
          <a:solidFill>
            <a:srgbClr val="F3F5F8"/>
          </a:solidFill>
          <a:ln w="12700">
            <a:solidFill>
              <a:srgbClr val="F3F5F8"/>
            </a:solidFill>
            <a:prstDash val="solid"/>
          </a:ln>
        </p:spPr>
      </p:sp>
      <p:sp>
        <p:nvSpPr>
          <p:cNvPr id="151" name="Text 149"/>
          <p:cNvSpPr txBox="1"/>
          <p:nvPr/>
        </p:nvSpPr>
        <p:spPr>
          <a:xfrm>
            <a:off x="457200" y="5833872"/>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task export</a:t>
            </a:r>
            <a:endParaRPr lang="en-US" sz="1000" dirty="0"/>
          </a:p>
        </p:txBody>
      </p:sp>
      <p:sp>
        <p:nvSpPr>
          <p:cNvPr id="152" name="Shape 150"/>
          <p:cNvSpPr/>
          <p:nvPr/>
        </p:nvSpPr>
        <p:spPr>
          <a:xfrm>
            <a:off x="1494536" y="5833872"/>
            <a:ext cx="1342136" cy="256032"/>
          </a:xfrm>
          <a:prstGeom prst="roundRect">
            <a:avLst>
              <a:gd name="adj" fmla="val 50000"/>
            </a:avLst>
          </a:prstGeom>
          <a:solidFill>
            <a:srgbClr val="F3F5F8"/>
          </a:solidFill>
          <a:ln w="12700">
            <a:solidFill>
              <a:srgbClr val="F3F5F8"/>
            </a:solidFill>
            <a:prstDash val="solid"/>
          </a:ln>
        </p:spPr>
      </p:sp>
      <p:sp>
        <p:nvSpPr>
          <p:cNvPr id="153" name="Text 151"/>
          <p:cNvSpPr txBox="1"/>
          <p:nvPr/>
        </p:nvSpPr>
        <p:spPr>
          <a:xfrm>
            <a:off x="1494536" y="5833872"/>
            <a:ext cx="134213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task check-result</a:t>
            </a:r>
            <a:endParaRPr lang="en-US" sz="1000" dirty="0"/>
          </a:p>
        </p:txBody>
      </p:sp>
      <p:sp>
        <p:nvSpPr>
          <p:cNvPr id="154" name="Shape 152"/>
          <p:cNvSpPr/>
          <p:nvPr/>
        </p:nvSpPr>
        <p:spPr>
          <a:xfrm>
            <a:off x="2928112" y="5833872"/>
            <a:ext cx="879856" cy="256032"/>
          </a:xfrm>
          <a:prstGeom prst="roundRect">
            <a:avLst>
              <a:gd name="adj" fmla="val 50000"/>
            </a:avLst>
          </a:prstGeom>
          <a:solidFill>
            <a:srgbClr val="F3F5F8"/>
          </a:solidFill>
          <a:ln w="12700">
            <a:solidFill>
              <a:srgbClr val="F3F5F8"/>
            </a:solidFill>
            <a:prstDash val="solid"/>
          </a:ln>
        </p:spPr>
      </p:sp>
      <p:sp>
        <p:nvSpPr>
          <p:cNvPr id="155" name="Text 153"/>
          <p:cNvSpPr txBox="1"/>
          <p:nvPr/>
        </p:nvSpPr>
        <p:spPr>
          <a:xfrm>
            <a:off x="2928112" y="5833872"/>
            <a:ext cx="8798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list</a:t>
            </a:r>
            <a:endParaRPr lang="en-US" sz="1000" dirty="0"/>
          </a:p>
        </p:txBody>
      </p:sp>
      <p:sp>
        <p:nvSpPr>
          <p:cNvPr id="156" name="Shape 154"/>
          <p:cNvSpPr/>
          <p:nvPr/>
        </p:nvSpPr>
        <p:spPr>
          <a:xfrm>
            <a:off x="3899408" y="5833872"/>
            <a:ext cx="1144016" cy="256032"/>
          </a:xfrm>
          <a:prstGeom prst="roundRect">
            <a:avLst>
              <a:gd name="adj" fmla="val 50000"/>
            </a:avLst>
          </a:prstGeom>
          <a:solidFill>
            <a:srgbClr val="F3F5F8"/>
          </a:solidFill>
          <a:ln w="12700">
            <a:solidFill>
              <a:srgbClr val="F3F5F8"/>
            </a:solidFill>
            <a:prstDash val="solid"/>
          </a:ln>
        </p:spPr>
      </p:sp>
      <p:sp>
        <p:nvSpPr>
          <p:cNvPr id="157" name="Text 155"/>
          <p:cNvSpPr txBox="1"/>
          <p:nvPr/>
        </p:nvSpPr>
        <p:spPr>
          <a:xfrm>
            <a:off x="3899408" y="5833872"/>
            <a:ext cx="11440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dispatch</a:t>
            </a:r>
            <a:endParaRPr lang="en-US" sz="1000" dirty="0"/>
          </a:p>
        </p:txBody>
      </p:sp>
      <p:sp>
        <p:nvSpPr>
          <p:cNvPr id="158" name="Shape 156"/>
          <p:cNvSpPr/>
          <p:nvPr/>
        </p:nvSpPr>
        <p:spPr>
          <a:xfrm>
            <a:off x="5134864" y="5833872"/>
            <a:ext cx="1077976" cy="256032"/>
          </a:xfrm>
          <a:prstGeom prst="roundRect">
            <a:avLst>
              <a:gd name="adj" fmla="val 50000"/>
            </a:avLst>
          </a:prstGeom>
          <a:solidFill>
            <a:srgbClr val="F3F5F8"/>
          </a:solidFill>
          <a:ln w="12700">
            <a:solidFill>
              <a:srgbClr val="F3F5F8"/>
            </a:solidFill>
            <a:prstDash val="solid"/>
          </a:ln>
        </p:spPr>
      </p:sp>
      <p:sp>
        <p:nvSpPr>
          <p:cNvPr id="159" name="Text 157"/>
          <p:cNvSpPr txBox="1"/>
          <p:nvPr/>
        </p:nvSpPr>
        <p:spPr>
          <a:xfrm>
            <a:off x="5134864" y="5833872"/>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auction</a:t>
            </a:r>
            <a:endParaRPr lang="en-US" sz="1000" dirty="0"/>
          </a:p>
        </p:txBody>
      </p:sp>
      <p:sp>
        <p:nvSpPr>
          <p:cNvPr id="160" name="Shape 158"/>
          <p:cNvSpPr/>
          <p:nvPr/>
        </p:nvSpPr>
        <p:spPr>
          <a:xfrm>
            <a:off x="6304280" y="5833872"/>
            <a:ext cx="813816" cy="256032"/>
          </a:xfrm>
          <a:prstGeom prst="roundRect">
            <a:avLst>
              <a:gd name="adj" fmla="val 50000"/>
            </a:avLst>
          </a:prstGeom>
          <a:solidFill>
            <a:srgbClr val="F3F5F8"/>
          </a:solidFill>
          <a:ln w="12700">
            <a:solidFill>
              <a:srgbClr val="F3F5F8"/>
            </a:solidFill>
            <a:prstDash val="solid"/>
          </a:ln>
        </p:spPr>
      </p:sp>
      <p:sp>
        <p:nvSpPr>
          <p:cNvPr id="161" name="Text 159"/>
          <p:cNvSpPr txBox="1"/>
          <p:nvPr/>
        </p:nvSpPr>
        <p:spPr>
          <a:xfrm>
            <a:off x="6304280" y="5833872"/>
            <a:ext cx="81381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bid</a:t>
            </a:r>
            <a:endParaRPr lang="en-US" sz="1000" dirty="0"/>
          </a:p>
        </p:txBody>
      </p:sp>
      <p:sp>
        <p:nvSpPr>
          <p:cNvPr id="162" name="Shape 160"/>
          <p:cNvSpPr/>
          <p:nvPr/>
        </p:nvSpPr>
        <p:spPr>
          <a:xfrm>
            <a:off x="7209536" y="5833872"/>
            <a:ext cx="945896" cy="256032"/>
          </a:xfrm>
          <a:prstGeom prst="roundRect">
            <a:avLst>
              <a:gd name="adj" fmla="val 50000"/>
            </a:avLst>
          </a:prstGeom>
          <a:solidFill>
            <a:srgbClr val="F3F5F8"/>
          </a:solidFill>
          <a:ln w="12700">
            <a:solidFill>
              <a:srgbClr val="F3F5F8"/>
            </a:solidFill>
            <a:prstDash val="solid"/>
          </a:ln>
        </p:spPr>
      </p:sp>
      <p:sp>
        <p:nvSpPr>
          <p:cNvPr id="163" name="Text 161"/>
          <p:cNvSpPr txBox="1"/>
          <p:nvPr/>
        </p:nvSpPr>
        <p:spPr>
          <a:xfrm>
            <a:off x="7209536" y="5833872"/>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award</a:t>
            </a:r>
            <a:endParaRPr lang="en-US" sz="1000" dirty="0"/>
          </a:p>
        </p:txBody>
      </p:sp>
      <p:sp>
        <p:nvSpPr>
          <p:cNvPr id="164" name="Shape 162"/>
          <p:cNvSpPr/>
          <p:nvPr/>
        </p:nvSpPr>
        <p:spPr>
          <a:xfrm>
            <a:off x="8246872" y="5833872"/>
            <a:ext cx="945896" cy="256032"/>
          </a:xfrm>
          <a:prstGeom prst="roundRect">
            <a:avLst>
              <a:gd name="adj" fmla="val 50000"/>
            </a:avLst>
          </a:prstGeom>
          <a:solidFill>
            <a:srgbClr val="F3F5F8"/>
          </a:solidFill>
          <a:ln w="12700">
            <a:solidFill>
              <a:srgbClr val="F3F5F8"/>
            </a:solidFill>
            <a:prstDash val="solid"/>
          </a:ln>
        </p:spPr>
      </p:sp>
      <p:sp>
        <p:nvSpPr>
          <p:cNvPr id="165" name="Text 163"/>
          <p:cNvSpPr txBox="1"/>
          <p:nvPr/>
        </p:nvSpPr>
        <p:spPr>
          <a:xfrm>
            <a:off x="8246872" y="5833872"/>
            <a:ext cx="94589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claim</a:t>
            </a:r>
            <a:endParaRPr lang="en-US" sz="1000" dirty="0"/>
          </a:p>
        </p:txBody>
      </p:sp>
      <p:sp>
        <p:nvSpPr>
          <p:cNvPr id="166" name="Shape 164"/>
          <p:cNvSpPr/>
          <p:nvPr/>
        </p:nvSpPr>
        <p:spPr>
          <a:xfrm>
            <a:off x="9284208" y="5833872"/>
            <a:ext cx="1210056" cy="256032"/>
          </a:xfrm>
          <a:prstGeom prst="roundRect">
            <a:avLst>
              <a:gd name="adj" fmla="val 50000"/>
            </a:avLst>
          </a:prstGeom>
          <a:solidFill>
            <a:srgbClr val="F3F5F8"/>
          </a:solidFill>
          <a:ln w="12700">
            <a:solidFill>
              <a:srgbClr val="F3F5F8"/>
            </a:solidFill>
            <a:prstDash val="solid"/>
          </a:ln>
        </p:spPr>
      </p:sp>
      <p:sp>
        <p:nvSpPr>
          <p:cNvPr id="167" name="Text 165"/>
          <p:cNvSpPr txBox="1"/>
          <p:nvPr/>
        </p:nvSpPr>
        <p:spPr>
          <a:xfrm>
            <a:off x="9284208" y="5833872"/>
            <a:ext cx="121005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heartbeat</a:t>
            </a:r>
            <a:endParaRPr lang="en-US" sz="1000" dirty="0"/>
          </a:p>
        </p:txBody>
      </p:sp>
      <p:sp>
        <p:nvSpPr>
          <p:cNvPr id="168" name="Shape 166"/>
          <p:cNvSpPr/>
          <p:nvPr/>
        </p:nvSpPr>
        <p:spPr>
          <a:xfrm>
            <a:off x="10585704" y="5833872"/>
            <a:ext cx="1077976" cy="256032"/>
          </a:xfrm>
          <a:prstGeom prst="roundRect">
            <a:avLst>
              <a:gd name="adj" fmla="val 50000"/>
            </a:avLst>
          </a:prstGeom>
          <a:solidFill>
            <a:srgbClr val="F3F5F8"/>
          </a:solidFill>
          <a:ln w="12700">
            <a:solidFill>
              <a:srgbClr val="F3F5F8"/>
            </a:solidFill>
            <a:prstDash val="solid"/>
          </a:ln>
        </p:spPr>
      </p:sp>
      <p:sp>
        <p:nvSpPr>
          <p:cNvPr id="169" name="Text 167"/>
          <p:cNvSpPr txBox="1"/>
          <p:nvPr/>
        </p:nvSpPr>
        <p:spPr>
          <a:xfrm>
            <a:off x="10585704" y="5833872"/>
            <a:ext cx="1077976" cy="256032"/>
          </a:xfrm>
          <a:prstGeom prst="rect">
            <a:avLst/>
          </a:prstGeom>
          <a:noFill/>
          <a:ln/>
        </p:spPr>
        <p:txBody>
          <a:bodyPr wrap="square" lIns="0" tIns="0" rIns="0" bIns="0" rtlCol="0" anchor="ctr"/>
          <a:lstStyle/>
          <a:p>
            <a:pPr algn="ctr" indent="0" marL="0">
              <a:buNone/>
            </a:pPr>
            <a:r>
              <a:rPr lang="en-US" sz="1000" dirty="0">
                <a:solidFill>
                  <a:srgbClr val="1F2430"/>
                </a:solidFill>
                <a:latin typeface="Calibri" pitchFamily="34" charset="0"/>
                <a:ea typeface="Calibri" pitchFamily="34" charset="-122"/>
                <a:cs typeface="Calibri" pitchFamily="34" charset="-120"/>
              </a:rPr>
              <a:t>board release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457200" y="640080"/>
            <a:ext cx="11274552"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Why sdlc: almost nothing to run</a:t>
            </a:r>
            <a:endParaRPr lang="en-US" sz="3600" dirty="0"/>
          </a:p>
        </p:txBody>
      </p:sp>
      <p:sp>
        <p:nvSpPr>
          <p:cNvPr id="3" name="Shape 1"/>
          <p:cNvSpPr/>
          <p:nvPr/>
        </p:nvSpPr>
        <p:spPr>
          <a:xfrm>
            <a:off x="457200" y="1828800"/>
            <a:ext cx="420624" cy="420624"/>
          </a:xfrm>
          <a:prstGeom prst="ellipse">
            <a:avLst/>
          </a:prstGeom>
          <a:solidFill>
            <a:srgbClr val="F2A541"/>
          </a:solidFill>
          <a:ln w="12700">
            <a:solidFill>
              <a:srgbClr val="F2A541"/>
            </a:solidFill>
            <a:prstDash val="solid"/>
          </a:ln>
        </p:spPr>
      </p:sp>
      <p:sp>
        <p:nvSpPr>
          <p:cNvPr id="4" name="Text 2"/>
          <p:cNvSpPr txBox="1"/>
          <p:nvPr/>
        </p:nvSpPr>
        <p:spPr>
          <a:xfrm>
            <a:off x="457200" y="182880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78308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Node.js, git and the agent you already use, plus one package from the GitHub release.</a:t>
            </a:r>
            <a:endParaRPr lang="en-US" sz="1800" dirty="0"/>
          </a:p>
        </p:txBody>
      </p:sp>
      <p:sp>
        <p:nvSpPr>
          <p:cNvPr id="6" name="Shape 4"/>
          <p:cNvSpPr/>
          <p:nvPr/>
        </p:nvSpPr>
        <p:spPr>
          <a:xfrm>
            <a:off x="457200" y="2560320"/>
            <a:ext cx="420624" cy="420624"/>
          </a:xfrm>
          <a:prstGeom prst="ellipse">
            <a:avLst/>
          </a:prstGeom>
          <a:solidFill>
            <a:srgbClr val="F2A541"/>
          </a:solidFill>
          <a:ln w="12700">
            <a:solidFill>
              <a:srgbClr val="F2A541"/>
            </a:solidFill>
            <a:prstDash val="solid"/>
          </a:ln>
        </p:spPr>
      </p:sp>
      <p:sp>
        <p:nvSpPr>
          <p:cNvPr id="7" name="Text 5"/>
          <p:cNvSpPr txBox="1"/>
          <p:nvPr/>
        </p:nvSpPr>
        <p:spPr>
          <a:xfrm>
            <a:off x="457200" y="256032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097280" y="251460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No server, database, container or cloud account: the state is files in git.</a:t>
            </a:r>
            <a:endParaRPr lang="en-US" sz="1800" dirty="0"/>
          </a:p>
        </p:txBody>
      </p:sp>
      <p:sp>
        <p:nvSpPr>
          <p:cNvPr id="9" name="Shape 7"/>
          <p:cNvSpPr/>
          <p:nvPr/>
        </p:nvSpPr>
        <p:spPr>
          <a:xfrm>
            <a:off x="457200" y="3291840"/>
            <a:ext cx="420624" cy="420624"/>
          </a:xfrm>
          <a:prstGeom prst="ellipse">
            <a:avLst/>
          </a:prstGeom>
          <a:solidFill>
            <a:srgbClr val="F2A541"/>
          </a:solidFill>
          <a:ln w="12700">
            <a:solidFill>
              <a:srgbClr val="F2A541"/>
            </a:solidFill>
            <a:prstDash val="solid"/>
          </a:ln>
        </p:spPr>
      </p:sp>
      <p:sp>
        <p:nvSpPr>
          <p:cNvPr id="10" name="Text 8"/>
          <p:cNvSpPr txBox="1"/>
          <p:nvPr/>
        </p:nvSpPr>
        <p:spPr>
          <a:xfrm>
            <a:off x="457200" y="329184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097280" y="324612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Simple: sdlc init sets a project up, sdlc next names the next step and who acts.</a:t>
            </a:r>
            <a:endParaRPr lang="en-US" sz="1800" dirty="0"/>
          </a:p>
        </p:txBody>
      </p:sp>
      <p:sp>
        <p:nvSpPr>
          <p:cNvPr id="12" name="Shape 10"/>
          <p:cNvSpPr/>
          <p:nvPr/>
        </p:nvSpPr>
        <p:spPr>
          <a:xfrm>
            <a:off x="457200" y="4023360"/>
            <a:ext cx="420624" cy="420624"/>
          </a:xfrm>
          <a:prstGeom prst="ellipse">
            <a:avLst/>
          </a:prstGeom>
          <a:solidFill>
            <a:srgbClr val="F2A541"/>
          </a:solidFill>
          <a:ln w="12700">
            <a:solidFill>
              <a:srgbClr val="F2A541"/>
            </a:solidFill>
            <a:prstDash val="solid"/>
          </a:ln>
        </p:spPr>
      </p:sp>
      <p:sp>
        <p:nvSpPr>
          <p:cNvPr id="13" name="Text 11"/>
          <p:cNvSpPr txBox="1"/>
          <p:nvPr/>
        </p:nvSpPr>
        <p:spPr>
          <a:xfrm>
            <a:off x="457200" y="402336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1097280" y="397764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Console first: decisions in a person's terminal, --json for agents and CI.</a:t>
            </a:r>
            <a:endParaRPr lang="en-US" sz="1800" dirty="0"/>
          </a:p>
        </p:txBody>
      </p:sp>
      <p:sp>
        <p:nvSpPr>
          <p:cNvPr id="15" name="Shape 13"/>
          <p:cNvSpPr/>
          <p:nvPr/>
        </p:nvSpPr>
        <p:spPr>
          <a:xfrm>
            <a:off x="457200" y="4526280"/>
            <a:ext cx="11274552" cy="1005840"/>
          </a:xfrm>
          <a:prstGeom prst="roundRect">
            <a:avLst>
              <a:gd name="adj" fmla="val 9091"/>
            </a:avLst>
          </a:prstGeom>
          <a:solidFill>
            <a:srgbClr val="161A22"/>
          </a:solidFill>
          <a:ln w="12700">
            <a:solidFill>
              <a:srgbClr val="161A22"/>
            </a:solidFill>
            <a:prstDash val="solid"/>
          </a:ln>
        </p:spPr>
      </p:sp>
      <p:sp>
        <p:nvSpPr>
          <p:cNvPr id="16" name="Text 14"/>
          <p:cNvSpPr txBox="1"/>
          <p:nvPr/>
        </p:nvSpPr>
        <p:spPr>
          <a:xfrm>
            <a:off x="731520" y="4754880"/>
            <a:ext cx="10725912" cy="594360"/>
          </a:xfrm>
          <a:prstGeom prst="rect">
            <a:avLst/>
          </a:prstGeom>
          <a:noFill/>
          <a:ln/>
        </p:spPr>
        <p:txBody>
          <a:bodyPr wrap="square" lIns="0" tIns="0" rIns="0" bIns="0" rtlCol="0" anchor="t"/>
          <a:lstStyle/>
          <a:p>
            <a:pPr indent="0" marL="0">
              <a:buNone/>
            </a:pPr>
            <a:r>
              <a:rPr lang="en-US" sz="1300" dirty="0">
                <a:solidFill>
                  <a:srgbClr val="F2A541"/>
                </a:solidFill>
                <a:latin typeface="Courier New" pitchFamily="34" charset="0"/>
                <a:ea typeface="Courier New" pitchFamily="34" charset="-122"/>
                <a:cs typeface="Courier New" pitchFamily="34" charset="-120"/>
              </a:rPr>
              <a:t>$ npm install -g https://github.com/marin-ai-tech/sdlc/releases/latest/download/sdlc.tgz</a:t>
            </a:r>
            <a:endParaRPr lang="en-US" sz="1300" dirty="0"/>
          </a:p>
          <a:p>
            <a:pPr indent="0" marL="0">
              <a:buNone/>
            </a:pPr>
            <a:r>
              <a:rPr lang="en-US" sz="1300" dirty="0">
                <a:solidFill>
                  <a:srgbClr val="F2A541"/>
                </a:solidFill>
                <a:latin typeface="Courier New" pitchFamily="34" charset="0"/>
                <a:ea typeface="Courier New" pitchFamily="34" charset="-122"/>
                <a:cs typeface="Courier New" pitchFamily="34" charset="-120"/>
              </a:rPr>
              <a:t>$ sdlc init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457200" y="640080"/>
            <a:ext cx="11274552"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skipping the rules cost</a:t>
            </a:r>
            <a:endParaRPr lang="en-US" sz="3600" dirty="0"/>
          </a:p>
        </p:txBody>
      </p:sp>
      <p:sp>
        <p:nvSpPr>
          <p:cNvPr id="3" name="Shape 1"/>
          <p:cNvSpPr/>
          <p:nvPr/>
        </p:nvSpPr>
        <p:spPr>
          <a:xfrm>
            <a:off x="457200" y="1828800"/>
            <a:ext cx="420624" cy="420624"/>
          </a:xfrm>
          <a:prstGeom prst="ellipse">
            <a:avLst/>
          </a:prstGeom>
          <a:solidFill>
            <a:srgbClr val="F2A541"/>
          </a:solidFill>
          <a:ln w="12700">
            <a:solidFill>
              <a:srgbClr val="F2A541"/>
            </a:solidFill>
            <a:prstDash val="solid"/>
          </a:ln>
        </p:spPr>
      </p:sp>
      <p:sp>
        <p:nvSpPr>
          <p:cNvPr id="4" name="Text 2"/>
          <p:cNvSpPr txBox="1"/>
          <p:nvPr/>
        </p:nvSpPr>
        <p:spPr>
          <a:xfrm>
            <a:off x="457200" y="182880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78308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One release shipped six changes in one batch, with no tests first and no review before it.</a:t>
            </a:r>
            <a:endParaRPr lang="en-US" sz="1800" dirty="0"/>
          </a:p>
        </p:txBody>
      </p:sp>
      <p:sp>
        <p:nvSpPr>
          <p:cNvPr id="6" name="Shape 4"/>
          <p:cNvSpPr/>
          <p:nvPr/>
        </p:nvSpPr>
        <p:spPr>
          <a:xfrm>
            <a:off x="457200" y="2560320"/>
            <a:ext cx="420624" cy="420624"/>
          </a:xfrm>
          <a:prstGeom prst="ellipse">
            <a:avLst/>
          </a:prstGeom>
          <a:solidFill>
            <a:srgbClr val="F2A541"/>
          </a:solidFill>
          <a:ln w="12700">
            <a:solidFill>
              <a:srgbClr val="F2A541"/>
            </a:solidFill>
            <a:prstDash val="solid"/>
          </a:ln>
        </p:spPr>
      </p:sp>
      <p:sp>
        <p:nvSpPr>
          <p:cNvPr id="7" name="Text 5"/>
          <p:cNvSpPr txBox="1"/>
          <p:nvPr/>
        </p:nvSpPr>
        <p:spPr>
          <a:xfrm>
            <a:off x="457200" y="256032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097280" y="251460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The review afterwards found 18 important findings, two of them security.</a:t>
            </a:r>
            <a:endParaRPr lang="en-US" sz="1800" dirty="0"/>
          </a:p>
        </p:txBody>
      </p:sp>
      <p:sp>
        <p:nvSpPr>
          <p:cNvPr id="9" name="Shape 7"/>
          <p:cNvSpPr/>
          <p:nvPr/>
        </p:nvSpPr>
        <p:spPr>
          <a:xfrm>
            <a:off x="457200" y="3291840"/>
            <a:ext cx="420624" cy="420624"/>
          </a:xfrm>
          <a:prstGeom prst="ellipse">
            <a:avLst/>
          </a:prstGeom>
          <a:solidFill>
            <a:srgbClr val="F2A541"/>
          </a:solidFill>
          <a:ln w="12700">
            <a:solidFill>
              <a:srgbClr val="F2A541"/>
            </a:solidFill>
            <a:prstDash val="solid"/>
          </a:ln>
        </p:spPr>
      </p:sp>
      <p:sp>
        <p:nvSpPr>
          <p:cNvPr id="10" name="Text 8"/>
          <p:cNvSpPr txBox="1"/>
          <p:nvPr/>
        </p:nvSpPr>
        <p:spPr>
          <a:xfrm>
            <a:off x="457200" y="329184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097280" y="324612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The bill: a fix right after the release and three follow-up changes.</a:t>
            </a:r>
            <a:endParaRPr lang="en-US" sz="1800" dirty="0"/>
          </a:p>
        </p:txBody>
      </p:sp>
      <p:sp>
        <p:nvSpPr>
          <p:cNvPr id="12" name="Shape 10"/>
          <p:cNvSpPr/>
          <p:nvPr/>
        </p:nvSpPr>
        <p:spPr>
          <a:xfrm>
            <a:off x="457200" y="4023360"/>
            <a:ext cx="420624" cy="420624"/>
          </a:xfrm>
          <a:prstGeom prst="ellipse">
            <a:avLst/>
          </a:prstGeom>
          <a:solidFill>
            <a:srgbClr val="F2A541"/>
          </a:solidFill>
          <a:ln w="12700">
            <a:solidFill>
              <a:srgbClr val="F2A541"/>
            </a:solidFill>
            <a:prstDash val="solid"/>
          </a:ln>
        </p:spPr>
      </p:sp>
      <p:sp>
        <p:nvSpPr>
          <p:cNvPr id="13" name="Text 11"/>
          <p:cNvSpPr txBox="1"/>
          <p:nvPr/>
        </p:nvSpPr>
        <p:spPr>
          <a:xfrm>
            <a:off x="457200" y="402336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1097280" y="397764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With the gates, review finds such defects before the release, not users.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457200" y="640080"/>
            <a:ext cx="11274552"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People decide. Agents do. Git remembers.</a:t>
            </a:r>
            <a:endParaRPr lang="en-US" sz="3600" dirty="0"/>
          </a:p>
        </p:txBody>
      </p:sp>
      <p:sp>
        <p:nvSpPr>
          <p:cNvPr id="3" name="Shape 1"/>
          <p:cNvSpPr/>
          <p:nvPr/>
        </p:nvSpPr>
        <p:spPr>
          <a:xfrm>
            <a:off x="457200" y="1828800"/>
            <a:ext cx="420624" cy="420624"/>
          </a:xfrm>
          <a:prstGeom prst="ellipse">
            <a:avLst/>
          </a:prstGeom>
          <a:solidFill>
            <a:srgbClr val="F2A541"/>
          </a:solidFill>
          <a:ln w="12700">
            <a:solidFill>
              <a:srgbClr val="F2A541"/>
            </a:solidFill>
            <a:prstDash val="solid"/>
          </a:ln>
        </p:spPr>
      </p:sp>
      <p:sp>
        <p:nvSpPr>
          <p:cNvPr id="4" name="Text 2"/>
          <p:cNvSpPr txBox="1"/>
          <p:nvPr/>
        </p:nvSpPr>
        <p:spPr>
          <a:xfrm>
            <a:off x="457200" y="182880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78308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Approvals come from people in roles.yaml, bound to content, optionally signed.</a:t>
            </a:r>
            <a:endParaRPr lang="en-US" sz="1800" dirty="0"/>
          </a:p>
        </p:txBody>
      </p:sp>
      <p:sp>
        <p:nvSpPr>
          <p:cNvPr id="6" name="Shape 4"/>
          <p:cNvSpPr/>
          <p:nvPr/>
        </p:nvSpPr>
        <p:spPr>
          <a:xfrm>
            <a:off x="457200" y="2560320"/>
            <a:ext cx="420624" cy="420624"/>
          </a:xfrm>
          <a:prstGeom prst="ellipse">
            <a:avLst/>
          </a:prstGeom>
          <a:solidFill>
            <a:srgbClr val="F2A541"/>
          </a:solidFill>
          <a:ln w="12700">
            <a:solidFill>
              <a:srgbClr val="F2A541"/>
            </a:solidFill>
            <a:prstDash val="solid"/>
          </a:ln>
        </p:spPr>
      </p:sp>
      <p:sp>
        <p:nvSpPr>
          <p:cNvPr id="7" name="Text 5"/>
          <p:cNvSpPr txBox="1"/>
          <p:nvPr/>
        </p:nvSpPr>
        <p:spPr>
          <a:xfrm>
            <a:off x="457200" y="256032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097280" y="251460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Nobody pushes through their own work: authors do not approve their review or release.</a:t>
            </a:r>
            <a:endParaRPr lang="en-US" sz="1800" dirty="0"/>
          </a:p>
        </p:txBody>
      </p:sp>
      <p:sp>
        <p:nvSpPr>
          <p:cNvPr id="9" name="Shape 7"/>
          <p:cNvSpPr/>
          <p:nvPr/>
        </p:nvSpPr>
        <p:spPr>
          <a:xfrm>
            <a:off x="457200" y="3291840"/>
            <a:ext cx="420624" cy="420624"/>
          </a:xfrm>
          <a:prstGeom prst="ellipse">
            <a:avLst/>
          </a:prstGeom>
          <a:solidFill>
            <a:srgbClr val="F2A541"/>
          </a:solidFill>
          <a:ln w="12700">
            <a:solidFill>
              <a:srgbClr val="F2A541"/>
            </a:solidFill>
            <a:prstDash val="solid"/>
          </a:ln>
        </p:spPr>
      </p:sp>
      <p:sp>
        <p:nvSpPr>
          <p:cNvPr id="10" name="Text 8"/>
          <p:cNvSpPr txBox="1"/>
          <p:nvPr/>
        </p:nvSpPr>
        <p:spPr>
          <a:xfrm>
            <a:off x="457200" y="3291840"/>
            <a:ext cx="420624" cy="420624"/>
          </a:xfrm>
          <a:prstGeom prst="rect">
            <a:avLst/>
          </a:prstGeom>
          <a:noFill/>
          <a:ln/>
        </p:spPr>
        <p:txBody>
          <a:bodyPr wrap="square" lIns="0" tIns="0" rIns="0" bIns="0" rtlCol="0" anchor="ctr"/>
          <a:lstStyle/>
          <a:p>
            <a:pPr algn="ctr" indent="0" marL="0">
              <a:buNone/>
            </a:pPr>
            <a:r>
              <a:rPr lang="en-US" sz="1600" b="1" dirty="0">
                <a:solidFill>
                  <a:srgbClr val="1F2430"/>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097280" y="3246120"/>
            <a:ext cx="10634472" cy="512064"/>
          </a:xfrm>
          <a:prstGeom prst="rect">
            <a:avLst/>
          </a:prstGeom>
          <a:noFill/>
          <a:ln/>
        </p:spPr>
        <p:txBody>
          <a:bodyPr wrap="square" lIns="0" tIns="0" rIns="0" bIns="0" rtlCol="0" anchor="ctr"/>
          <a:lstStyle/>
          <a:p>
            <a:pPr indent="0" marL="0">
              <a:buNone/>
            </a:pPr>
            <a:r>
              <a:rPr lang="en-US" sz="1800" dirty="0">
                <a:solidFill>
                  <a:srgbClr val="E8EEF2"/>
                </a:solidFill>
                <a:latin typeface="Calibri" pitchFamily="34" charset="0"/>
                <a:ea typeface="Calibri" pitchFamily="34" charset="-122"/>
                <a:cs typeface="Calibri" pitchFamily="34" charset="-120"/>
              </a:rPr>
              <a:t>Everything is files in the repository: backlog, specs, evidence, decisions.</a:t>
            </a:r>
            <a:endParaRPr lang="en-US" sz="1800" dirty="0"/>
          </a:p>
        </p:txBody>
      </p:sp>
      <p:sp>
        <p:nvSpPr>
          <p:cNvPr id="12" name="Shape 10"/>
          <p:cNvSpPr/>
          <p:nvPr/>
        </p:nvSpPr>
        <p:spPr>
          <a:xfrm>
            <a:off x="457200" y="4526280"/>
            <a:ext cx="11274552" cy="1005840"/>
          </a:xfrm>
          <a:prstGeom prst="roundRect">
            <a:avLst>
              <a:gd name="adj" fmla="val 9091"/>
            </a:avLst>
          </a:prstGeom>
          <a:solidFill>
            <a:srgbClr val="161A22"/>
          </a:solidFill>
          <a:ln w="12700">
            <a:solidFill>
              <a:srgbClr val="161A22"/>
            </a:solidFill>
            <a:prstDash val="solid"/>
          </a:ln>
        </p:spPr>
      </p:sp>
      <p:sp>
        <p:nvSpPr>
          <p:cNvPr id="13" name="Text 11"/>
          <p:cNvSpPr txBox="1"/>
          <p:nvPr/>
        </p:nvSpPr>
        <p:spPr>
          <a:xfrm>
            <a:off x="731520" y="4754880"/>
            <a:ext cx="10725912" cy="594360"/>
          </a:xfrm>
          <a:prstGeom prst="rect">
            <a:avLst/>
          </a:prstGeom>
          <a:noFill/>
          <a:ln/>
        </p:spPr>
        <p:txBody>
          <a:bodyPr wrap="square" lIns="0" tIns="0" rIns="0" bIns="0" rtlCol="0" anchor="t"/>
          <a:lstStyle/>
          <a:p>
            <a:pPr indent="0" marL="0">
              <a:buNone/>
            </a:pPr>
            <a:r>
              <a:rPr lang="en-US" sz="1300" dirty="0">
                <a:solidFill>
                  <a:srgbClr val="F2A541"/>
                </a:solidFill>
                <a:latin typeface="Courier New" pitchFamily="34" charset="0"/>
                <a:ea typeface="Courier New" pitchFamily="34" charset="-122"/>
                <a:cs typeface="Courier New" pitchFamily="34" charset="-120"/>
              </a:rPr>
              <a:t>$ npx vitest run test/e2e-calculator.test.ts</a:t>
            </a:r>
            <a:endParaRPr lang="en-US" sz="1300" dirty="0"/>
          </a:p>
          <a:p>
            <a:pPr indent="0" marL="0">
              <a:buNone/>
            </a:pPr>
            <a:r>
              <a:rPr lang="en-US" sz="1300" dirty="0">
                <a:solidFill>
                  <a:srgbClr val="F2A541"/>
                </a:solidFill>
                <a:latin typeface="Courier New" pitchFamily="34" charset="0"/>
                <a:ea typeface="Courier New" pitchFamily="34" charset="-122"/>
                <a:cs typeface="Courier New" pitchFamily="34" charset="-120"/>
              </a:rPr>
              <a:t>$ npm run demo:deck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sdlc · calculator demo</dc:title>
  <dc:subject>PptxGenJS Presentation</dc:subject>
  <dc:creator>PptxGenJS</dc:creator>
  <cp:lastModifiedBy>PptxGenJS</cp:lastModifiedBy>
  <cp:revision>1</cp:revision>
  <dcterms:created xsi:type="dcterms:W3CDTF">2026-10-28T16:34:14Z</dcterms:created>
  <dcterms:modified xsi:type="dcterms:W3CDTF">2026-10-28T16:34:14Z</dcterms:modified>
</cp:coreProperties>
</file>